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5819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2F8FC"/>
          </a:solidFill>
          <a:ln/>
        </p:spPr>
      </p:sp>
      <p:sp>
        <p:nvSpPr>
          <p:cNvPr id="3" name="Shape 1"/>
          <p:cNvSpPr/>
          <p:nvPr/>
        </p:nvSpPr>
        <p:spPr>
          <a:xfrm>
            <a:off x="0" y="0"/>
            <a:ext cx="12188952" cy="4297680"/>
          </a:xfrm>
          <a:prstGeom prst="rect">
            <a:avLst/>
          </a:prstGeom>
          <a:solidFill>
            <a:srgbClr val="FFFFFF"/>
          </a:solidFill>
          <a:ln/>
        </p:spPr>
      </p:sp>
      <p:sp>
        <p:nvSpPr>
          <p:cNvPr id="4" name="Shape 2"/>
          <p:cNvSpPr/>
          <p:nvPr/>
        </p:nvSpPr>
        <p:spPr>
          <a:xfrm>
            <a:off x="10072116" y="534924"/>
            <a:ext cx="27432" cy="27432"/>
          </a:xfrm>
          <a:prstGeom prst="ellipse">
            <a:avLst/>
          </a:prstGeom>
          <a:solidFill>
            <a:srgbClr val="E7EDF3">
              <a:alpha val="90000"/>
            </a:srgbClr>
          </a:solidFill>
          <a:ln/>
        </p:spPr>
      </p:sp>
      <p:sp>
        <p:nvSpPr>
          <p:cNvPr id="5" name="Shape 3"/>
          <p:cNvSpPr/>
          <p:nvPr/>
        </p:nvSpPr>
        <p:spPr>
          <a:xfrm>
            <a:off x="10483596" y="534924"/>
            <a:ext cx="27432" cy="27432"/>
          </a:xfrm>
          <a:prstGeom prst="ellipse">
            <a:avLst/>
          </a:prstGeom>
          <a:solidFill>
            <a:srgbClr val="E7EDF3">
              <a:alpha val="90000"/>
            </a:srgbClr>
          </a:solidFill>
          <a:ln/>
        </p:spPr>
      </p:sp>
      <p:sp>
        <p:nvSpPr>
          <p:cNvPr id="6" name="Shape 4"/>
          <p:cNvSpPr/>
          <p:nvPr/>
        </p:nvSpPr>
        <p:spPr>
          <a:xfrm>
            <a:off x="10895076" y="534924"/>
            <a:ext cx="27432" cy="27432"/>
          </a:xfrm>
          <a:prstGeom prst="ellipse">
            <a:avLst/>
          </a:prstGeom>
          <a:solidFill>
            <a:srgbClr val="E7EDF3">
              <a:alpha val="90000"/>
            </a:srgbClr>
          </a:solidFill>
          <a:ln/>
        </p:spPr>
      </p:sp>
      <p:sp>
        <p:nvSpPr>
          <p:cNvPr id="7" name="Shape 5"/>
          <p:cNvSpPr/>
          <p:nvPr/>
        </p:nvSpPr>
        <p:spPr>
          <a:xfrm>
            <a:off x="11306556" y="534924"/>
            <a:ext cx="27432" cy="27432"/>
          </a:xfrm>
          <a:prstGeom prst="ellipse">
            <a:avLst/>
          </a:prstGeom>
          <a:solidFill>
            <a:srgbClr val="E7EDF3">
              <a:alpha val="90000"/>
            </a:srgbClr>
          </a:solidFill>
          <a:ln/>
        </p:spPr>
      </p:sp>
      <p:sp>
        <p:nvSpPr>
          <p:cNvPr id="8" name="Shape 6"/>
          <p:cNvSpPr/>
          <p:nvPr/>
        </p:nvSpPr>
        <p:spPr>
          <a:xfrm>
            <a:off x="11718036" y="534924"/>
            <a:ext cx="27432" cy="27432"/>
          </a:xfrm>
          <a:prstGeom prst="ellipse">
            <a:avLst/>
          </a:prstGeom>
          <a:solidFill>
            <a:srgbClr val="E7EDF3">
              <a:alpha val="90000"/>
            </a:srgbClr>
          </a:solidFill>
          <a:ln/>
        </p:spPr>
      </p:sp>
      <p:sp>
        <p:nvSpPr>
          <p:cNvPr id="9" name="Shape 7"/>
          <p:cNvSpPr/>
          <p:nvPr/>
        </p:nvSpPr>
        <p:spPr>
          <a:xfrm>
            <a:off x="10072116" y="946404"/>
            <a:ext cx="27432" cy="27432"/>
          </a:xfrm>
          <a:prstGeom prst="ellipse">
            <a:avLst/>
          </a:prstGeom>
          <a:solidFill>
            <a:srgbClr val="E7EDF3">
              <a:alpha val="90000"/>
            </a:srgbClr>
          </a:solidFill>
          <a:ln/>
        </p:spPr>
      </p:sp>
      <p:sp>
        <p:nvSpPr>
          <p:cNvPr id="10" name="Shape 8"/>
          <p:cNvSpPr/>
          <p:nvPr/>
        </p:nvSpPr>
        <p:spPr>
          <a:xfrm>
            <a:off x="10483596" y="946404"/>
            <a:ext cx="27432" cy="27432"/>
          </a:xfrm>
          <a:prstGeom prst="ellipse">
            <a:avLst/>
          </a:prstGeom>
          <a:solidFill>
            <a:srgbClr val="E7EDF3">
              <a:alpha val="90000"/>
            </a:srgbClr>
          </a:solidFill>
          <a:ln/>
        </p:spPr>
      </p:sp>
      <p:sp>
        <p:nvSpPr>
          <p:cNvPr id="11" name="Shape 9"/>
          <p:cNvSpPr/>
          <p:nvPr/>
        </p:nvSpPr>
        <p:spPr>
          <a:xfrm>
            <a:off x="10895076" y="946404"/>
            <a:ext cx="27432" cy="27432"/>
          </a:xfrm>
          <a:prstGeom prst="ellipse">
            <a:avLst/>
          </a:prstGeom>
          <a:solidFill>
            <a:srgbClr val="E7EDF3">
              <a:alpha val="90000"/>
            </a:srgbClr>
          </a:solidFill>
          <a:ln/>
        </p:spPr>
      </p:sp>
      <p:sp>
        <p:nvSpPr>
          <p:cNvPr id="12" name="Shape 10"/>
          <p:cNvSpPr/>
          <p:nvPr/>
        </p:nvSpPr>
        <p:spPr>
          <a:xfrm>
            <a:off x="11306556" y="946404"/>
            <a:ext cx="27432" cy="27432"/>
          </a:xfrm>
          <a:prstGeom prst="ellipse">
            <a:avLst/>
          </a:prstGeom>
          <a:solidFill>
            <a:srgbClr val="E7EDF3">
              <a:alpha val="90000"/>
            </a:srgbClr>
          </a:solidFill>
          <a:ln/>
        </p:spPr>
      </p:sp>
      <p:sp>
        <p:nvSpPr>
          <p:cNvPr id="13" name="Shape 11"/>
          <p:cNvSpPr/>
          <p:nvPr/>
        </p:nvSpPr>
        <p:spPr>
          <a:xfrm>
            <a:off x="11718036" y="946404"/>
            <a:ext cx="27432" cy="27432"/>
          </a:xfrm>
          <a:prstGeom prst="ellipse">
            <a:avLst/>
          </a:prstGeom>
          <a:solidFill>
            <a:srgbClr val="E7EDF3">
              <a:alpha val="90000"/>
            </a:srgbClr>
          </a:solidFill>
          <a:ln/>
        </p:spPr>
      </p:sp>
      <p:sp>
        <p:nvSpPr>
          <p:cNvPr id="14" name="Shape 12"/>
          <p:cNvSpPr/>
          <p:nvPr/>
        </p:nvSpPr>
        <p:spPr>
          <a:xfrm>
            <a:off x="10072116" y="1357884"/>
            <a:ext cx="27432" cy="27432"/>
          </a:xfrm>
          <a:prstGeom prst="ellipse">
            <a:avLst/>
          </a:prstGeom>
          <a:solidFill>
            <a:srgbClr val="E7EDF3">
              <a:alpha val="90000"/>
            </a:srgbClr>
          </a:solidFill>
          <a:ln/>
        </p:spPr>
      </p:sp>
      <p:sp>
        <p:nvSpPr>
          <p:cNvPr id="15" name="Shape 13"/>
          <p:cNvSpPr/>
          <p:nvPr/>
        </p:nvSpPr>
        <p:spPr>
          <a:xfrm>
            <a:off x="10483596" y="1357884"/>
            <a:ext cx="27432" cy="27432"/>
          </a:xfrm>
          <a:prstGeom prst="ellipse">
            <a:avLst/>
          </a:prstGeom>
          <a:solidFill>
            <a:srgbClr val="E7EDF3">
              <a:alpha val="90000"/>
            </a:srgbClr>
          </a:solidFill>
          <a:ln/>
        </p:spPr>
      </p:sp>
      <p:sp>
        <p:nvSpPr>
          <p:cNvPr id="16" name="Shape 14"/>
          <p:cNvSpPr/>
          <p:nvPr/>
        </p:nvSpPr>
        <p:spPr>
          <a:xfrm>
            <a:off x="10895076" y="1357884"/>
            <a:ext cx="27432" cy="27432"/>
          </a:xfrm>
          <a:prstGeom prst="ellipse">
            <a:avLst/>
          </a:prstGeom>
          <a:solidFill>
            <a:srgbClr val="E7EDF3">
              <a:alpha val="90000"/>
            </a:srgbClr>
          </a:solidFill>
          <a:ln/>
        </p:spPr>
      </p:sp>
      <p:sp>
        <p:nvSpPr>
          <p:cNvPr id="17" name="Shape 15"/>
          <p:cNvSpPr/>
          <p:nvPr/>
        </p:nvSpPr>
        <p:spPr>
          <a:xfrm>
            <a:off x="11306556" y="1357884"/>
            <a:ext cx="27432" cy="27432"/>
          </a:xfrm>
          <a:prstGeom prst="ellipse">
            <a:avLst/>
          </a:prstGeom>
          <a:solidFill>
            <a:srgbClr val="E7EDF3">
              <a:alpha val="90000"/>
            </a:srgbClr>
          </a:solidFill>
          <a:ln/>
        </p:spPr>
      </p:sp>
      <p:sp>
        <p:nvSpPr>
          <p:cNvPr id="18" name="Shape 16"/>
          <p:cNvSpPr/>
          <p:nvPr/>
        </p:nvSpPr>
        <p:spPr>
          <a:xfrm>
            <a:off x="11718036" y="1357884"/>
            <a:ext cx="27432" cy="27432"/>
          </a:xfrm>
          <a:prstGeom prst="ellipse">
            <a:avLst/>
          </a:prstGeom>
          <a:solidFill>
            <a:srgbClr val="E7EDF3">
              <a:alpha val="90000"/>
            </a:srgbClr>
          </a:solidFill>
          <a:ln/>
        </p:spPr>
      </p:sp>
      <p:sp>
        <p:nvSpPr>
          <p:cNvPr id="19" name="Shape 17"/>
          <p:cNvSpPr/>
          <p:nvPr/>
        </p:nvSpPr>
        <p:spPr>
          <a:xfrm>
            <a:off x="10072116" y="1769364"/>
            <a:ext cx="27432" cy="27432"/>
          </a:xfrm>
          <a:prstGeom prst="ellipse">
            <a:avLst/>
          </a:prstGeom>
          <a:solidFill>
            <a:srgbClr val="E7EDF3">
              <a:alpha val="90000"/>
            </a:srgbClr>
          </a:solidFill>
          <a:ln/>
        </p:spPr>
      </p:sp>
      <p:sp>
        <p:nvSpPr>
          <p:cNvPr id="20" name="Shape 18"/>
          <p:cNvSpPr/>
          <p:nvPr/>
        </p:nvSpPr>
        <p:spPr>
          <a:xfrm>
            <a:off x="10483596" y="1769364"/>
            <a:ext cx="27432" cy="27432"/>
          </a:xfrm>
          <a:prstGeom prst="ellipse">
            <a:avLst/>
          </a:prstGeom>
          <a:solidFill>
            <a:srgbClr val="E7EDF3">
              <a:alpha val="90000"/>
            </a:srgbClr>
          </a:solidFill>
          <a:ln/>
        </p:spPr>
      </p:sp>
      <p:sp>
        <p:nvSpPr>
          <p:cNvPr id="21" name="Shape 19"/>
          <p:cNvSpPr/>
          <p:nvPr/>
        </p:nvSpPr>
        <p:spPr>
          <a:xfrm>
            <a:off x="10895076" y="1769364"/>
            <a:ext cx="27432" cy="27432"/>
          </a:xfrm>
          <a:prstGeom prst="ellipse">
            <a:avLst/>
          </a:prstGeom>
          <a:solidFill>
            <a:srgbClr val="E7EDF3">
              <a:alpha val="90000"/>
            </a:srgbClr>
          </a:solidFill>
          <a:ln/>
        </p:spPr>
      </p:sp>
      <p:sp>
        <p:nvSpPr>
          <p:cNvPr id="22" name="Shape 20"/>
          <p:cNvSpPr/>
          <p:nvPr/>
        </p:nvSpPr>
        <p:spPr>
          <a:xfrm>
            <a:off x="11306556" y="1769364"/>
            <a:ext cx="27432" cy="27432"/>
          </a:xfrm>
          <a:prstGeom prst="ellipse">
            <a:avLst/>
          </a:prstGeom>
          <a:solidFill>
            <a:srgbClr val="E7EDF3">
              <a:alpha val="90000"/>
            </a:srgbClr>
          </a:solidFill>
          <a:ln/>
        </p:spPr>
      </p:sp>
      <p:sp>
        <p:nvSpPr>
          <p:cNvPr id="23" name="Shape 21"/>
          <p:cNvSpPr/>
          <p:nvPr/>
        </p:nvSpPr>
        <p:spPr>
          <a:xfrm>
            <a:off x="11718036" y="1769364"/>
            <a:ext cx="27432" cy="27432"/>
          </a:xfrm>
          <a:prstGeom prst="ellipse">
            <a:avLst/>
          </a:prstGeom>
          <a:solidFill>
            <a:srgbClr val="E7EDF3">
              <a:alpha val="90000"/>
            </a:srgbClr>
          </a:solidFill>
          <a:ln/>
        </p:spPr>
      </p:sp>
      <p:sp>
        <p:nvSpPr>
          <p:cNvPr id="24" name="Shape 22"/>
          <p:cNvSpPr/>
          <p:nvPr/>
        </p:nvSpPr>
        <p:spPr>
          <a:xfrm>
            <a:off x="10072116" y="2180844"/>
            <a:ext cx="27432" cy="27432"/>
          </a:xfrm>
          <a:prstGeom prst="ellipse">
            <a:avLst/>
          </a:prstGeom>
          <a:solidFill>
            <a:srgbClr val="E7EDF3">
              <a:alpha val="90000"/>
            </a:srgbClr>
          </a:solidFill>
          <a:ln/>
        </p:spPr>
      </p:sp>
      <p:sp>
        <p:nvSpPr>
          <p:cNvPr id="25" name="Shape 23"/>
          <p:cNvSpPr/>
          <p:nvPr/>
        </p:nvSpPr>
        <p:spPr>
          <a:xfrm>
            <a:off x="10483596" y="2180844"/>
            <a:ext cx="27432" cy="27432"/>
          </a:xfrm>
          <a:prstGeom prst="ellipse">
            <a:avLst/>
          </a:prstGeom>
          <a:solidFill>
            <a:srgbClr val="E7EDF3">
              <a:alpha val="90000"/>
            </a:srgbClr>
          </a:solidFill>
          <a:ln/>
        </p:spPr>
      </p:sp>
      <p:sp>
        <p:nvSpPr>
          <p:cNvPr id="26" name="Shape 24"/>
          <p:cNvSpPr/>
          <p:nvPr/>
        </p:nvSpPr>
        <p:spPr>
          <a:xfrm>
            <a:off x="10895076" y="2180844"/>
            <a:ext cx="27432" cy="27432"/>
          </a:xfrm>
          <a:prstGeom prst="ellipse">
            <a:avLst/>
          </a:prstGeom>
          <a:solidFill>
            <a:srgbClr val="E7EDF3">
              <a:alpha val="90000"/>
            </a:srgbClr>
          </a:solidFill>
          <a:ln/>
        </p:spPr>
      </p:sp>
      <p:sp>
        <p:nvSpPr>
          <p:cNvPr id="27" name="Shape 25"/>
          <p:cNvSpPr/>
          <p:nvPr/>
        </p:nvSpPr>
        <p:spPr>
          <a:xfrm>
            <a:off x="11306556" y="2180844"/>
            <a:ext cx="27432" cy="27432"/>
          </a:xfrm>
          <a:prstGeom prst="ellipse">
            <a:avLst/>
          </a:prstGeom>
          <a:solidFill>
            <a:srgbClr val="E7EDF3">
              <a:alpha val="90000"/>
            </a:srgbClr>
          </a:solidFill>
          <a:ln/>
        </p:spPr>
      </p:sp>
      <p:sp>
        <p:nvSpPr>
          <p:cNvPr id="28" name="Shape 26"/>
          <p:cNvSpPr/>
          <p:nvPr/>
        </p:nvSpPr>
        <p:spPr>
          <a:xfrm>
            <a:off x="11718036" y="2180844"/>
            <a:ext cx="27432" cy="27432"/>
          </a:xfrm>
          <a:prstGeom prst="ellipse">
            <a:avLst/>
          </a:prstGeom>
          <a:solidFill>
            <a:srgbClr val="E7EDF3">
              <a:alpha val="90000"/>
            </a:srgbClr>
          </a:solidFill>
          <a:ln/>
        </p:spPr>
      </p:sp>
      <p:sp>
        <p:nvSpPr>
          <p:cNvPr id="29" name="Shape 27"/>
          <p:cNvSpPr/>
          <p:nvPr/>
        </p:nvSpPr>
        <p:spPr>
          <a:xfrm>
            <a:off x="443484" y="4741164"/>
            <a:ext cx="27432" cy="27432"/>
          </a:xfrm>
          <a:prstGeom prst="ellipse">
            <a:avLst/>
          </a:prstGeom>
          <a:solidFill>
            <a:srgbClr val="E7EDF3">
              <a:alpha val="90000"/>
            </a:srgbClr>
          </a:solidFill>
          <a:ln/>
        </p:spPr>
      </p:sp>
      <p:sp>
        <p:nvSpPr>
          <p:cNvPr id="30" name="Shape 28"/>
          <p:cNvSpPr/>
          <p:nvPr/>
        </p:nvSpPr>
        <p:spPr>
          <a:xfrm>
            <a:off x="854964" y="4741164"/>
            <a:ext cx="27432" cy="27432"/>
          </a:xfrm>
          <a:prstGeom prst="ellipse">
            <a:avLst/>
          </a:prstGeom>
          <a:solidFill>
            <a:srgbClr val="E7EDF3">
              <a:alpha val="90000"/>
            </a:srgbClr>
          </a:solidFill>
          <a:ln/>
        </p:spPr>
      </p:sp>
      <p:sp>
        <p:nvSpPr>
          <p:cNvPr id="31" name="Shape 29"/>
          <p:cNvSpPr/>
          <p:nvPr/>
        </p:nvSpPr>
        <p:spPr>
          <a:xfrm>
            <a:off x="1266444" y="4741164"/>
            <a:ext cx="27432" cy="27432"/>
          </a:xfrm>
          <a:prstGeom prst="ellipse">
            <a:avLst/>
          </a:prstGeom>
          <a:solidFill>
            <a:srgbClr val="E7EDF3">
              <a:alpha val="90000"/>
            </a:srgbClr>
          </a:solidFill>
          <a:ln/>
        </p:spPr>
      </p:sp>
      <p:sp>
        <p:nvSpPr>
          <p:cNvPr id="32" name="Shape 30"/>
          <p:cNvSpPr/>
          <p:nvPr/>
        </p:nvSpPr>
        <p:spPr>
          <a:xfrm>
            <a:off x="1677924" y="4741164"/>
            <a:ext cx="27432" cy="27432"/>
          </a:xfrm>
          <a:prstGeom prst="ellipse">
            <a:avLst/>
          </a:prstGeom>
          <a:solidFill>
            <a:srgbClr val="E7EDF3">
              <a:alpha val="90000"/>
            </a:srgbClr>
          </a:solidFill>
          <a:ln/>
        </p:spPr>
      </p:sp>
      <p:sp>
        <p:nvSpPr>
          <p:cNvPr id="33" name="Shape 31"/>
          <p:cNvSpPr/>
          <p:nvPr/>
        </p:nvSpPr>
        <p:spPr>
          <a:xfrm>
            <a:off x="2089404" y="4741164"/>
            <a:ext cx="27432" cy="27432"/>
          </a:xfrm>
          <a:prstGeom prst="ellipse">
            <a:avLst/>
          </a:prstGeom>
          <a:solidFill>
            <a:srgbClr val="E7EDF3">
              <a:alpha val="90000"/>
            </a:srgbClr>
          </a:solidFill>
          <a:ln/>
        </p:spPr>
      </p:sp>
      <p:sp>
        <p:nvSpPr>
          <p:cNvPr id="34" name="Shape 32"/>
          <p:cNvSpPr/>
          <p:nvPr/>
        </p:nvSpPr>
        <p:spPr>
          <a:xfrm>
            <a:off x="443484" y="5152644"/>
            <a:ext cx="27432" cy="27432"/>
          </a:xfrm>
          <a:prstGeom prst="ellipse">
            <a:avLst/>
          </a:prstGeom>
          <a:solidFill>
            <a:srgbClr val="E7EDF3">
              <a:alpha val="90000"/>
            </a:srgbClr>
          </a:solidFill>
          <a:ln/>
        </p:spPr>
      </p:sp>
      <p:sp>
        <p:nvSpPr>
          <p:cNvPr id="35" name="Shape 33"/>
          <p:cNvSpPr/>
          <p:nvPr/>
        </p:nvSpPr>
        <p:spPr>
          <a:xfrm>
            <a:off x="854964" y="5152644"/>
            <a:ext cx="27432" cy="27432"/>
          </a:xfrm>
          <a:prstGeom prst="ellipse">
            <a:avLst/>
          </a:prstGeom>
          <a:solidFill>
            <a:srgbClr val="E7EDF3">
              <a:alpha val="90000"/>
            </a:srgbClr>
          </a:solidFill>
          <a:ln/>
        </p:spPr>
      </p:sp>
      <p:sp>
        <p:nvSpPr>
          <p:cNvPr id="36" name="Shape 34"/>
          <p:cNvSpPr/>
          <p:nvPr/>
        </p:nvSpPr>
        <p:spPr>
          <a:xfrm>
            <a:off x="1266444" y="5152644"/>
            <a:ext cx="27432" cy="27432"/>
          </a:xfrm>
          <a:prstGeom prst="ellipse">
            <a:avLst/>
          </a:prstGeom>
          <a:solidFill>
            <a:srgbClr val="E7EDF3">
              <a:alpha val="90000"/>
            </a:srgbClr>
          </a:solidFill>
          <a:ln/>
        </p:spPr>
      </p:sp>
      <p:sp>
        <p:nvSpPr>
          <p:cNvPr id="37" name="Shape 35"/>
          <p:cNvSpPr/>
          <p:nvPr/>
        </p:nvSpPr>
        <p:spPr>
          <a:xfrm>
            <a:off x="1677924" y="5152644"/>
            <a:ext cx="27432" cy="27432"/>
          </a:xfrm>
          <a:prstGeom prst="ellipse">
            <a:avLst/>
          </a:prstGeom>
          <a:solidFill>
            <a:srgbClr val="E7EDF3">
              <a:alpha val="90000"/>
            </a:srgbClr>
          </a:solidFill>
          <a:ln/>
        </p:spPr>
      </p:sp>
      <p:sp>
        <p:nvSpPr>
          <p:cNvPr id="38" name="Shape 36"/>
          <p:cNvSpPr/>
          <p:nvPr/>
        </p:nvSpPr>
        <p:spPr>
          <a:xfrm>
            <a:off x="2089404" y="5152644"/>
            <a:ext cx="27432" cy="27432"/>
          </a:xfrm>
          <a:prstGeom prst="ellipse">
            <a:avLst/>
          </a:prstGeom>
          <a:solidFill>
            <a:srgbClr val="E7EDF3">
              <a:alpha val="90000"/>
            </a:srgbClr>
          </a:solidFill>
          <a:ln/>
        </p:spPr>
      </p:sp>
      <p:sp>
        <p:nvSpPr>
          <p:cNvPr id="39" name="Shape 37"/>
          <p:cNvSpPr/>
          <p:nvPr/>
        </p:nvSpPr>
        <p:spPr>
          <a:xfrm>
            <a:off x="443484" y="5564124"/>
            <a:ext cx="27432" cy="27432"/>
          </a:xfrm>
          <a:prstGeom prst="ellipse">
            <a:avLst/>
          </a:prstGeom>
          <a:solidFill>
            <a:srgbClr val="E7EDF3">
              <a:alpha val="90000"/>
            </a:srgbClr>
          </a:solidFill>
          <a:ln/>
        </p:spPr>
      </p:sp>
      <p:sp>
        <p:nvSpPr>
          <p:cNvPr id="40" name="Shape 38"/>
          <p:cNvSpPr/>
          <p:nvPr/>
        </p:nvSpPr>
        <p:spPr>
          <a:xfrm>
            <a:off x="854964" y="5564124"/>
            <a:ext cx="27432" cy="27432"/>
          </a:xfrm>
          <a:prstGeom prst="ellipse">
            <a:avLst/>
          </a:prstGeom>
          <a:solidFill>
            <a:srgbClr val="E7EDF3">
              <a:alpha val="90000"/>
            </a:srgbClr>
          </a:solidFill>
          <a:ln/>
        </p:spPr>
      </p:sp>
      <p:sp>
        <p:nvSpPr>
          <p:cNvPr id="41" name="Shape 39"/>
          <p:cNvSpPr/>
          <p:nvPr/>
        </p:nvSpPr>
        <p:spPr>
          <a:xfrm>
            <a:off x="1266444" y="5564124"/>
            <a:ext cx="27432" cy="27432"/>
          </a:xfrm>
          <a:prstGeom prst="ellipse">
            <a:avLst/>
          </a:prstGeom>
          <a:solidFill>
            <a:srgbClr val="E7EDF3">
              <a:alpha val="90000"/>
            </a:srgbClr>
          </a:solidFill>
          <a:ln/>
        </p:spPr>
      </p:sp>
      <p:sp>
        <p:nvSpPr>
          <p:cNvPr id="42" name="Shape 40"/>
          <p:cNvSpPr/>
          <p:nvPr/>
        </p:nvSpPr>
        <p:spPr>
          <a:xfrm>
            <a:off x="1677924" y="5564124"/>
            <a:ext cx="27432" cy="27432"/>
          </a:xfrm>
          <a:prstGeom prst="ellipse">
            <a:avLst/>
          </a:prstGeom>
          <a:solidFill>
            <a:srgbClr val="E7EDF3">
              <a:alpha val="90000"/>
            </a:srgbClr>
          </a:solidFill>
          <a:ln/>
        </p:spPr>
      </p:sp>
      <p:sp>
        <p:nvSpPr>
          <p:cNvPr id="43" name="Shape 41"/>
          <p:cNvSpPr/>
          <p:nvPr/>
        </p:nvSpPr>
        <p:spPr>
          <a:xfrm>
            <a:off x="2089404" y="5564124"/>
            <a:ext cx="27432" cy="27432"/>
          </a:xfrm>
          <a:prstGeom prst="ellipse">
            <a:avLst/>
          </a:prstGeom>
          <a:solidFill>
            <a:srgbClr val="E7EDF3">
              <a:alpha val="90000"/>
            </a:srgbClr>
          </a:solidFill>
          <a:ln/>
        </p:spPr>
      </p:sp>
      <p:sp>
        <p:nvSpPr>
          <p:cNvPr id="44" name="Shape 42"/>
          <p:cNvSpPr/>
          <p:nvPr/>
        </p:nvSpPr>
        <p:spPr>
          <a:xfrm>
            <a:off x="443484" y="5975604"/>
            <a:ext cx="27432" cy="27432"/>
          </a:xfrm>
          <a:prstGeom prst="ellipse">
            <a:avLst/>
          </a:prstGeom>
          <a:solidFill>
            <a:srgbClr val="E7EDF3">
              <a:alpha val="90000"/>
            </a:srgbClr>
          </a:solidFill>
          <a:ln/>
        </p:spPr>
      </p:sp>
      <p:sp>
        <p:nvSpPr>
          <p:cNvPr id="45" name="Shape 43"/>
          <p:cNvSpPr/>
          <p:nvPr/>
        </p:nvSpPr>
        <p:spPr>
          <a:xfrm>
            <a:off x="854964" y="5975604"/>
            <a:ext cx="27432" cy="27432"/>
          </a:xfrm>
          <a:prstGeom prst="ellipse">
            <a:avLst/>
          </a:prstGeom>
          <a:solidFill>
            <a:srgbClr val="E7EDF3">
              <a:alpha val="90000"/>
            </a:srgbClr>
          </a:solidFill>
          <a:ln/>
        </p:spPr>
      </p:sp>
      <p:sp>
        <p:nvSpPr>
          <p:cNvPr id="46" name="Shape 44"/>
          <p:cNvSpPr/>
          <p:nvPr/>
        </p:nvSpPr>
        <p:spPr>
          <a:xfrm>
            <a:off x="1266444" y="5975604"/>
            <a:ext cx="27432" cy="27432"/>
          </a:xfrm>
          <a:prstGeom prst="ellipse">
            <a:avLst/>
          </a:prstGeom>
          <a:solidFill>
            <a:srgbClr val="E7EDF3">
              <a:alpha val="90000"/>
            </a:srgbClr>
          </a:solidFill>
          <a:ln/>
        </p:spPr>
      </p:sp>
      <p:sp>
        <p:nvSpPr>
          <p:cNvPr id="47" name="Shape 45"/>
          <p:cNvSpPr/>
          <p:nvPr/>
        </p:nvSpPr>
        <p:spPr>
          <a:xfrm>
            <a:off x="1677924" y="5975604"/>
            <a:ext cx="27432" cy="27432"/>
          </a:xfrm>
          <a:prstGeom prst="ellipse">
            <a:avLst/>
          </a:prstGeom>
          <a:solidFill>
            <a:srgbClr val="E7EDF3">
              <a:alpha val="90000"/>
            </a:srgbClr>
          </a:solidFill>
          <a:ln/>
        </p:spPr>
      </p:sp>
      <p:sp>
        <p:nvSpPr>
          <p:cNvPr id="48" name="Shape 46"/>
          <p:cNvSpPr/>
          <p:nvPr/>
        </p:nvSpPr>
        <p:spPr>
          <a:xfrm>
            <a:off x="2089404" y="5975604"/>
            <a:ext cx="27432" cy="27432"/>
          </a:xfrm>
          <a:prstGeom prst="ellipse">
            <a:avLst/>
          </a:prstGeom>
          <a:solidFill>
            <a:srgbClr val="E7EDF3">
              <a:alpha val="90000"/>
            </a:srgbClr>
          </a:solidFill>
          <a:ln/>
        </p:spPr>
      </p:sp>
      <p:sp>
        <p:nvSpPr>
          <p:cNvPr id="49" name="Shape 47"/>
          <p:cNvSpPr/>
          <p:nvPr/>
        </p:nvSpPr>
        <p:spPr>
          <a:xfrm>
            <a:off x="443484" y="6387084"/>
            <a:ext cx="27432" cy="27432"/>
          </a:xfrm>
          <a:prstGeom prst="ellipse">
            <a:avLst/>
          </a:prstGeom>
          <a:solidFill>
            <a:srgbClr val="E7EDF3">
              <a:alpha val="90000"/>
            </a:srgbClr>
          </a:solidFill>
          <a:ln/>
        </p:spPr>
      </p:sp>
      <p:sp>
        <p:nvSpPr>
          <p:cNvPr id="50" name="Shape 48"/>
          <p:cNvSpPr/>
          <p:nvPr/>
        </p:nvSpPr>
        <p:spPr>
          <a:xfrm>
            <a:off x="854964" y="6387084"/>
            <a:ext cx="27432" cy="27432"/>
          </a:xfrm>
          <a:prstGeom prst="ellipse">
            <a:avLst/>
          </a:prstGeom>
          <a:solidFill>
            <a:srgbClr val="E7EDF3">
              <a:alpha val="90000"/>
            </a:srgbClr>
          </a:solidFill>
          <a:ln/>
        </p:spPr>
      </p:sp>
      <p:sp>
        <p:nvSpPr>
          <p:cNvPr id="51" name="Shape 49"/>
          <p:cNvSpPr/>
          <p:nvPr/>
        </p:nvSpPr>
        <p:spPr>
          <a:xfrm>
            <a:off x="1266444" y="6387084"/>
            <a:ext cx="27432" cy="27432"/>
          </a:xfrm>
          <a:prstGeom prst="ellipse">
            <a:avLst/>
          </a:prstGeom>
          <a:solidFill>
            <a:srgbClr val="E7EDF3">
              <a:alpha val="90000"/>
            </a:srgbClr>
          </a:solidFill>
          <a:ln/>
        </p:spPr>
      </p:sp>
      <p:sp>
        <p:nvSpPr>
          <p:cNvPr id="52" name="Shape 50"/>
          <p:cNvSpPr/>
          <p:nvPr/>
        </p:nvSpPr>
        <p:spPr>
          <a:xfrm>
            <a:off x="1677924" y="6387084"/>
            <a:ext cx="27432" cy="27432"/>
          </a:xfrm>
          <a:prstGeom prst="ellipse">
            <a:avLst/>
          </a:prstGeom>
          <a:solidFill>
            <a:srgbClr val="E7EDF3">
              <a:alpha val="90000"/>
            </a:srgbClr>
          </a:solidFill>
          <a:ln/>
        </p:spPr>
      </p:sp>
      <p:sp>
        <p:nvSpPr>
          <p:cNvPr id="53" name="Shape 51"/>
          <p:cNvSpPr/>
          <p:nvPr/>
        </p:nvSpPr>
        <p:spPr>
          <a:xfrm>
            <a:off x="2089404" y="6387084"/>
            <a:ext cx="27432" cy="27432"/>
          </a:xfrm>
          <a:prstGeom prst="ellipse">
            <a:avLst/>
          </a:prstGeom>
          <a:solidFill>
            <a:srgbClr val="E7EDF3">
              <a:alpha val="90000"/>
            </a:srgbClr>
          </a:solidFill>
          <a:ln/>
        </p:spPr>
      </p:sp>
      <p:sp>
        <p:nvSpPr>
          <p:cNvPr id="54" name="Shape 52"/>
          <p:cNvSpPr/>
          <p:nvPr/>
        </p:nvSpPr>
        <p:spPr>
          <a:xfrm rot="-240000">
            <a:off x="914400" y="1828800"/>
            <a:ext cx="10360152" cy="0"/>
          </a:xfrm>
          <a:prstGeom prst="line">
            <a:avLst/>
          </a:prstGeom>
          <a:noFill/>
          <a:ln w="19050">
            <a:solidFill>
              <a:srgbClr val="5FC6D9"/>
            </a:solidFill>
            <a:prstDash val="dash"/>
          </a:ln>
        </p:spPr>
      </p:sp>
      <p:sp>
        <p:nvSpPr>
          <p:cNvPr id="55" name="Shape 53"/>
          <p:cNvSpPr/>
          <p:nvPr/>
        </p:nvSpPr>
        <p:spPr>
          <a:xfrm>
            <a:off x="9445752" y="1417320"/>
            <a:ext cx="566928" cy="566928"/>
          </a:xfrm>
          <a:prstGeom prst="ellipse">
            <a:avLst/>
          </a:prstGeom>
          <a:solidFill>
            <a:srgbClr val="1E9E8C"/>
          </a:solidFill>
          <a:ln/>
          <a:effectLst>
            <a:outerShdw blurRad="101600" dist="25400" dir="5400000" algn="bl" rotWithShape="0">
              <a:srgbClr val="1E9E8C">
                <a:alpha val="30000"/>
              </a:srgbClr>
            </a:outerShdw>
          </a:effectLst>
        </p:spPr>
      </p:sp>
      <p:pic>
        <p:nvPicPr>
          <p:cNvPr id="56" name="Image 0" descr="/home/claude/flightstream/icons/plane.png"/>
          <p:cNvPicPr>
            <a:picLocks noChangeAspect="1"/>
          </p:cNvPicPr>
          <p:nvPr/>
        </p:nvPicPr>
        <p:blipFill>
          <a:blip r:embed="rId3"/>
          <a:stretch>
            <a:fillRect/>
          </a:stretch>
        </p:blipFill>
        <p:spPr>
          <a:xfrm rot="-240000">
            <a:off x="9555480" y="1527048"/>
            <a:ext cx="347472" cy="347472"/>
          </a:xfrm>
          <a:prstGeom prst="rect">
            <a:avLst/>
          </a:prstGeom>
        </p:spPr>
      </p:pic>
      <p:sp>
        <p:nvSpPr>
          <p:cNvPr id="57" name="Text 54"/>
          <p:cNvSpPr/>
          <p:nvPr/>
        </p:nvSpPr>
        <p:spPr>
          <a:xfrm>
            <a:off x="822960" y="2468880"/>
            <a:ext cx="10543032" cy="1188720"/>
          </a:xfrm>
          <a:prstGeom prst="rect">
            <a:avLst/>
          </a:prstGeom>
          <a:noFill/>
          <a:ln/>
        </p:spPr>
        <p:txBody>
          <a:bodyPr wrap="square" rtlCol="0" anchor="ctr"/>
          <a:lstStyle/>
          <a:p>
            <a:pPr marL="0" indent="0">
              <a:buNone/>
            </a:pPr>
            <a:r>
              <a:rPr lang="en-US" sz="6000" b="1" kern="0" spc="100" dirty="0">
                <a:solidFill>
                  <a:srgbClr val="17324D"/>
                </a:solidFill>
                <a:latin typeface="Calibri" pitchFamily="34" charset="0"/>
                <a:ea typeface="Calibri" pitchFamily="34" charset="-122"/>
                <a:cs typeface="Calibri" pitchFamily="34" charset="-120"/>
              </a:rPr>
              <a:t>FLIGHTSTREAM</a:t>
            </a:r>
            <a:endParaRPr lang="en-US" sz="6000" dirty="0"/>
          </a:p>
        </p:txBody>
      </p:sp>
      <p:sp>
        <p:nvSpPr>
          <p:cNvPr id="58" name="Text 55"/>
          <p:cNvSpPr/>
          <p:nvPr/>
        </p:nvSpPr>
        <p:spPr>
          <a:xfrm>
            <a:off x="822960" y="3520440"/>
            <a:ext cx="10543032" cy="502920"/>
          </a:xfrm>
          <a:prstGeom prst="rect">
            <a:avLst/>
          </a:prstGeom>
          <a:noFill/>
          <a:ln/>
        </p:spPr>
        <p:txBody>
          <a:bodyPr wrap="square" rtlCol="0" anchor="ctr"/>
          <a:lstStyle/>
          <a:p>
            <a:pPr marL="0" indent="0">
              <a:buNone/>
            </a:pPr>
            <a:r>
              <a:rPr lang="en-US" sz="2000" dirty="0">
                <a:solidFill>
                  <a:srgbClr val="3A5878"/>
                </a:solidFill>
                <a:latin typeface="Calibri" pitchFamily="34" charset="0"/>
                <a:ea typeface="Calibri" pitchFamily="34" charset="-122"/>
                <a:cs typeface="Calibri" pitchFamily="34" charset="-120"/>
              </a:rPr>
              <a:t>Real-Time Flight Data Streaming &amp; Analytics</a:t>
            </a:r>
            <a:endParaRPr lang="en-US" sz="2000" dirty="0"/>
          </a:p>
        </p:txBody>
      </p:sp>
      <p:sp>
        <p:nvSpPr>
          <p:cNvPr id="59" name="Shape 56"/>
          <p:cNvSpPr/>
          <p:nvPr/>
        </p:nvSpPr>
        <p:spPr>
          <a:xfrm>
            <a:off x="822960" y="4617720"/>
            <a:ext cx="1589532" cy="502920"/>
          </a:xfrm>
          <a:prstGeom prst="roundRect">
            <a:avLst>
              <a:gd name="adj" fmla="val 16364"/>
            </a:avLst>
          </a:prstGeom>
          <a:solidFill>
            <a:srgbClr val="3E8ED0"/>
          </a:solidFill>
          <a:ln/>
        </p:spPr>
      </p:sp>
      <p:sp>
        <p:nvSpPr>
          <p:cNvPr id="60" name="Text 57"/>
          <p:cNvSpPr/>
          <p:nvPr/>
        </p:nvSpPr>
        <p:spPr>
          <a:xfrm>
            <a:off x="822960" y="4617720"/>
            <a:ext cx="1589532"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OpenSky Network</a:t>
            </a:r>
            <a:endParaRPr lang="en-US" sz="1100" dirty="0"/>
          </a:p>
        </p:txBody>
      </p:sp>
      <p:sp>
        <p:nvSpPr>
          <p:cNvPr id="61" name="Shape 58"/>
          <p:cNvSpPr/>
          <p:nvPr/>
        </p:nvSpPr>
        <p:spPr>
          <a:xfrm>
            <a:off x="2394204" y="4800600"/>
            <a:ext cx="237744" cy="128016"/>
          </a:xfrm>
          <a:prstGeom prst="rightArrow">
            <a:avLst/>
          </a:prstGeom>
          <a:solidFill>
            <a:srgbClr val="8A97A8"/>
          </a:solidFill>
          <a:ln/>
        </p:spPr>
      </p:sp>
      <p:sp>
        <p:nvSpPr>
          <p:cNvPr id="62" name="Shape 59"/>
          <p:cNvSpPr/>
          <p:nvPr/>
        </p:nvSpPr>
        <p:spPr>
          <a:xfrm>
            <a:off x="2613660" y="4617720"/>
            <a:ext cx="1589532" cy="502920"/>
          </a:xfrm>
          <a:prstGeom prst="roundRect">
            <a:avLst>
              <a:gd name="adj" fmla="val 16364"/>
            </a:avLst>
          </a:prstGeom>
          <a:solidFill>
            <a:srgbClr val="1D6FB8"/>
          </a:solidFill>
          <a:ln/>
        </p:spPr>
      </p:sp>
      <p:sp>
        <p:nvSpPr>
          <p:cNvPr id="63" name="Text 60"/>
          <p:cNvSpPr/>
          <p:nvPr/>
        </p:nvSpPr>
        <p:spPr>
          <a:xfrm>
            <a:off x="2613660" y="4617720"/>
            <a:ext cx="1589532"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Kafka</a:t>
            </a:r>
            <a:endParaRPr lang="en-US" sz="1100" dirty="0"/>
          </a:p>
        </p:txBody>
      </p:sp>
      <p:sp>
        <p:nvSpPr>
          <p:cNvPr id="64" name="Shape 61"/>
          <p:cNvSpPr/>
          <p:nvPr/>
        </p:nvSpPr>
        <p:spPr>
          <a:xfrm>
            <a:off x="4184904" y="4800600"/>
            <a:ext cx="237744" cy="128016"/>
          </a:xfrm>
          <a:prstGeom prst="rightArrow">
            <a:avLst/>
          </a:prstGeom>
          <a:solidFill>
            <a:srgbClr val="8A97A8"/>
          </a:solidFill>
          <a:ln/>
        </p:spPr>
      </p:sp>
      <p:sp>
        <p:nvSpPr>
          <p:cNvPr id="65" name="Shape 62"/>
          <p:cNvSpPr/>
          <p:nvPr/>
        </p:nvSpPr>
        <p:spPr>
          <a:xfrm>
            <a:off x="4404360" y="4617720"/>
            <a:ext cx="1589532" cy="502920"/>
          </a:xfrm>
          <a:prstGeom prst="roundRect">
            <a:avLst>
              <a:gd name="adj" fmla="val 16364"/>
            </a:avLst>
          </a:prstGeom>
          <a:solidFill>
            <a:srgbClr val="3E8ED0"/>
          </a:solidFill>
          <a:ln/>
        </p:spPr>
      </p:sp>
      <p:sp>
        <p:nvSpPr>
          <p:cNvPr id="66" name="Text 63"/>
          <p:cNvSpPr/>
          <p:nvPr/>
        </p:nvSpPr>
        <p:spPr>
          <a:xfrm>
            <a:off x="4404360" y="4617720"/>
            <a:ext cx="1589532"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Spark</a:t>
            </a:r>
            <a:endParaRPr lang="en-US" sz="1100" dirty="0"/>
          </a:p>
        </p:txBody>
      </p:sp>
      <p:sp>
        <p:nvSpPr>
          <p:cNvPr id="67" name="Shape 64"/>
          <p:cNvSpPr/>
          <p:nvPr/>
        </p:nvSpPr>
        <p:spPr>
          <a:xfrm>
            <a:off x="5975604" y="4800600"/>
            <a:ext cx="237744" cy="128016"/>
          </a:xfrm>
          <a:prstGeom prst="rightArrow">
            <a:avLst/>
          </a:prstGeom>
          <a:solidFill>
            <a:srgbClr val="8A97A8"/>
          </a:solidFill>
          <a:ln/>
        </p:spPr>
      </p:sp>
      <p:sp>
        <p:nvSpPr>
          <p:cNvPr id="68" name="Shape 65"/>
          <p:cNvSpPr/>
          <p:nvPr/>
        </p:nvSpPr>
        <p:spPr>
          <a:xfrm>
            <a:off x="6195060" y="4617720"/>
            <a:ext cx="1589532" cy="502920"/>
          </a:xfrm>
          <a:prstGeom prst="roundRect">
            <a:avLst>
              <a:gd name="adj" fmla="val 16364"/>
            </a:avLst>
          </a:prstGeom>
          <a:solidFill>
            <a:srgbClr val="1D6FB8"/>
          </a:solidFill>
          <a:ln/>
        </p:spPr>
      </p:sp>
      <p:sp>
        <p:nvSpPr>
          <p:cNvPr id="69" name="Text 66"/>
          <p:cNvSpPr/>
          <p:nvPr/>
        </p:nvSpPr>
        <p:spPr>
          <a:xfrm>
            <a:off x="6195060" y="4617720"/>
            <a:ext cx="1589532"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ML</a:t>
            </a:r>
            <a:endParaRPr lang="en-US" sz="1100" dirty="0"/>
          </a:p>
        </p:txBody>
      </p:sp>
      <p:sp>
        <p:nvSpPr>
          <p:cNvPr id="70" name="Shape 67"/>
          <p:cNvSpPr/>
          <p:nvPr/>
        </p:nvSpPr>
        <p:spPr>
          <a:xfrm>
            <a:off x="7766304" y="4800600"/>
            <a:ext cx="237744" cy="128016"/>
          </a:xfrm>
          <a:prstGeom prst="rightArrow">
            <a:avLst/>
          </a:prstGeom>
          <a:solidFill>
            <a:srgbClr val="8A97A8"/>
          </a:solidFill>
          <a:ln/>
        </p:spPr>
      </p:sp>
      <p:sp>
        <p:nvSpPr>
          <p:cNvPr id="71" name="Shape 68"/>
          <p:cNvSpPr/>
          <p:nvPr/>
        </p:nvSpPr>
        <p:spPr>
          <a:xfrm>
            <a:off x="7985760" y="4617720"/>
            <a:ext cx="1589532" cy="502920"/>
          </a:xfrm>
          <a:prstGeom prst="roundRect">
            <a:avLst>
              <a:gd name="adj" fmla="val 16364"/>
            </a:avLst>
          </a:prstGeom>
          <a:solidFill>
            <a:srgbClr val="3E8ED0"/>
          </a:solidFill>
          <a:ln/>
        </p:spPr>
      </p:sp>
      <p:sp>
        <p:nvSpPr>
          <p:cNvPr id="72" name="Text 69"/>
          <p:cNvSpPr/>
          <p:nvPr/>
        </p:nvSpPr>
        <p:spPr>
          <a:xfrm>
            <a:off x="7985760" y="4617720"/>
            <a:ext cx="1589532"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PostgreSQL</a:t>
            </a:r>
            <a:endParaRPr lang="en-US" sz="1100" dirty="0"/>
          </a:p>
        </p:txBody>
      </p:sp>
      <p:sp>
        <p:nvSpPr>
          <p:cNvPr id="73" name="Shape 70"/>
          <p:cNvSpPr/>
          <p:nvPr/>
        </p:nvSpPr>
        <p:spPr>
          <a:xfrm>
            <a:off x="9557004" y="4800600"/>
            <a:ext cx="237744" cy="128016"/>
          </a:xfrm>
          <a:prstGeom prst="rightArrow">
            <a:avLst/>
          </a:prstGeom>
          <a:solidFill>
            <a:srgbClr val="8A97A8"/>
          </a:solidFill>
          <a:ln/>
        </p:spPr>
      </p:sp>
      <p:sp>
        <p:nvSpPr>
          <p:cNvPr id="74" name="Shape 71"/>
          <p:cNvSpPr/>
          <p:nvPr/>
        </p:nvSpPr>
        <p:spPr>
          <a:xfrm>
            <a:off x="9776460" y="4617720"/>
            <a:ext cx="1589532" cy="502920"/>
          </a:xfrm>
          <a:prstGeom prst="roundRect">
            <a:avLst>
              <a:gd name="adj" fmla="val 16364"/>
            </a:avLst>
          </a:prstGeom>
          <a:solidFill>
            <a:srgbClr val="1D6FB8"/>
          </a:solidFill>
          <a:ln/>
        </p:spPr>
      </p:sp>
      <p:sp>
        <p:nvSpPr>
          <p:cNvPr id="75" name="Text 72"/>
          <p:cNvSpPr/>
          <p:nvPr/>
        </p:nvSpPr>
        <p:spPr>
          <a:xfrm>
            <a:off x="9776460" y="4617720"/>
            <a:ext cx="1589532"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Power BI</a:t>
            </a:r>
            <a:endParaRPr lang="en-US" sz="1100" dirty="0"/>
          </a:p>
        </p:txBody>
      </p:sp>
      <p:sp>
        <p:nvSpPr>
          <p:cNvPr id="76" name="Text 73"/>
          <p:cNvSpPr/>
          <p:nvPr/>
        </p:nvSpPr>
        <p:spPr>
          <a:xfrm>
            <a:off x="822960" y="5532120"/>
            <a:ext cx="7315200" cy="365760"/>
          </a:xfrm>
          <a:prstGeom prst="rect">
            <a:avLst/>
          </a:prstGeom>
          <a:noFill/>
          <a:ln/>
        </p:spPr>
        <p:txBody>
          <a:bodyPr wrap="square" rtlCol="0" anchor="ctr"/>
          <a:lstStyle/>
          <a:p>
            <a:pPr marL="0" indent="0">
              <a:buNone/>
            </a:pPr>
            <a:r>
              <a:rPr lang="en-US" sz="1300" i="1" dirty="0">
                <a:solidFill>
                  <a:srgbClr val="8A97A8"/>
                </a:solidFill>
                <a:latin typeface="Calibri" pitchFamily="34" charset="0"/>
                <a:ea typeface="Calibri" pitchFamily="34" charset="-122"/>
                <a:cs typeface="Calibri" pitchFamily="34" charset="-120"/>
              </a:rPr>
              <a:t>University Advanced Big Data Project</a:t>
            </a:r>
            <a:endParaRPr lang="en-US" sz="1300" dirty="0"/>
          </a:p>
        </p:txBody>
      </p:sp>
      <p:sp>
        <p:nvSpPr>
          <p:cNvPr id="77" name="Text 74"/>
          <p:cNvSpPr/>
          <p:nvPr/>
        </p:nvSpPr>
        <p:spPr>
          <a:xfrm>
            <a:off x="11274552" y="6473952"/>
            <a:ext cx="731520" cy="274320"/>
          </a:xfrm>
          <a:prstGeom prst="rect">
            <a:avLst/>
          </a:prstGeom>
          <a:noFill/>
          <a:ln/>
        </p:spPr>
        <p:txBody>
          <a:bodyPr wrap="square" rtlCol="0" anchor="ctr"/>
          <a:lstStyle/>
          <a:p>
            <a:pPr marL="0" indent="0" algn="r">
              <a:buNone/>
            </a:pPr>
            <a:r>
              <a:rPr lang="en-US" sz="900" dirty="0">
                <a:solidFill>
                  <a:srgbClr val="8A97A8"/>
                </a:solidFill>
                <a:latin typeface="Calibri" pitchFamily="34" charset="0"/>
                <a:ea typeface="Calibri" pitchFamily="34" charset="-122"/>
                <a:cs typeface="Calibri" pitchFamily="34" charset="-120"/>
              </a:rPr>
              <a:t>1 / 10</a:t>
            </a:r>
            <a:endParaRPr lang="en-US" sz="900" dirty="0"/>
          </a:p>
        </p:txBody>
      </p:sp>
      <p:sp>
        <p:nvSpPr>
          <p:cNvPr id="78" name="Text 75"/>
          <p:cNvSpPr/>
          <p:nvPr/>
        </p:nvSpPr>
        <p:spPr>
          <a:xfrm>
            <a:off x="457200" y="6473952"/>
            <a:ext cx="2743200" cy="274320"/>
          </a:xfrm>
          <a:prstGeom prst="rect">
            <a:avLst/>
          </a:prstGeom>
          <a:noFill/>
          <a:ln/>
        </p:spPr>
        <p:txBody>
          <a:bodyPr wrap="square" rtlCol="0" anchor="ctr"/>
          <a:lstStyle/>
          <a:p>
            <a:pPr marL="0" indent="0">
              <a:buNone/>
            </a:pPr>
            <a:r>
              <a:rPr lang="en-US" sz="900" kern="0" spc="200" dirty="0">
                <a:solidFill>
                  <a:srgbClr val="8A97A8"/>
                </a:solidFill>
                <a:latin typeface="Calibri" pitchFamily="34" charset="0"/>
                <a:ea typeface="Calibri" pitchFamily="34" charset="-122"/>
                <a:cs typeface="Calibri" pitchFamily="34" charset="-120"/>
              </a:rPr>
              <a:t>FLIGHTSTREAM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rtlCol="0" anchor="ctr"/>
          <a:lstStyle/>
          <a:p>
            <a:pPr marL="0" indent="0">
              <a:buNone/>
            </a:pPr>
            <a:r>
              <a:rPr lang="en-US" sz="1100" b="1" kern="0" spc="150" dirty="0">
                <a:solidFill>
                  <a:srgbClr val="1E9E8C"/>
                </a:solidFill>
                <a:latin typeface="Calibri" pitchFamily="34" charset="0"/>
                <a:ea typeface="Calibri" pitchFamily="34" charset="-122"/>
                <a:cs typeface="Calibri" pitchFamily="34" charset="-120"/>
              </a:rPr>
              <a:t>PROJECT OVERVIEW</a:t>
            </a:r>
            <a:endParaRPr lang="en-US" sz="1100" dirty="0"/>
          </a:p>
        </p:txBody>
      </p:sp>
      <p:sp>
        <p:nvSpPr>
          <p:cNvPr id="3" name="Text 1"/>
          <p:cNvSpPr/>
          <p:nvPr/>
        </p:nvSpPr>
        <p:spPr>
          <a:xfrm>
            <a:off x="548640" y="365760"/>
            <a:ext cx="11091672" cy="640080"/>
          </a:xfrm>
          <a:prstGeom prst="rect">
            <a:avLst/>
          </a:prstGeom>
          <a:noFill/>
          <a:ln/>
        </p:spPr>
        <p:txBody>
          <a:bodyPr wrap="square" rtlCol="0" anchor="ctr"/>
          <a:lstStyle/>
          <a:p>
            <a:pPr marL="0" indent="0" algn="l">
              <a:buNone/>
            </a:pPr>
            <a:r>
              <a:rPr lang="en-US" sz="3000" b="1" dirty="0">
                <a:solidFill>
                  <a:srgbClr val="17324D"/>
                </a:solidFill>
                <a:latin typeface="Calibri" pitchFamily="34" charset="0"/>
                <a:ea typeface="Calibri" pitchFamily="34" charset="-122"/>
                <a:cs typeface="Calibri" pitchFamily="34" charset="-120"/>
              </a:rPr>
              <a:t>What is FlightStream?</a:t>
            </a:r>
            <a:endParaRPr lang="en-US" sz="3000" dirty="0"/>
          </a:p>
        </p:txBody>
      </p:sp>
      <p:sp>
        <p:nvSpPr>
          <p:cNvPr id="4" name="Text 2"/>
          <p:cNvSpPr/>
          <p:nvPr/>
        </p:nvSpPr>
        <p:spPr>
          <a:xfrm>
            <a:off x="548640" y="1051560"/>
            <a:ext cx="5120640" cy="1554480"/>
          </a:xfrm>
          <a:prstGeom prst="rect">
            <a:avLst/>
          </a:prstGeom>
          <a:noFill/>
          <a:ln/>
        </p:spPr>
        <p:txBody>
          <a:bodyPr wrap="square" rtlCol="0" anchor="t"/>
          <a:lstStyle/>
          <a:p>
            <a:pPr marL="0" indent="0">
              <a:lnSpc>
                <a:spcPct val="120000"/>
              </a:lnSpc>
              <a:buNone/>
            </a:pPr>
            <a:r>
              <a:rPr lang="en-US" sz="1500" dirty="0">
                <a:solidFill>
                  <a:srgbClr val="3A5878"/>
                </a:solidFill>
                <a:latin typeface="Calibri" pitchFamily="34" charset="0"/>
                <a:ea typeface="Calibri" pitchFamily="34" charset="-122"/>
                <a:cs typeface="Calibri" pitchFamily="34" charset="-120"/>
              </a:rPr>
              <a:t>An end-to-end Big Data pipeline that collects live aircraft data, streams it through Kafka, processes it with Spark, applies machine learning, stores the results in PostgreSQL, and visualizes them in Power BI.</a:t>
            </a:r>
            <a:endParaRPr lang="en-US" sz="1500" dirty="0"/>
          </a:p>
        </p:txBody>
      </p:sp>
      <p:sp>
        <p:nvSpPr>
          <p:cNvPr id="5" name="Shape 3"/>
          <p:cNvSpPr/>
          <p:nvPr/>
        </p:nvSpPr>
        <p:spPr>
          <a:xfrm>
            <a:off x="6675120" y="868680"/>
            <a:ext cx="4663440" cy="516636"/>
          </a:xfrm>
          <a:prstGeom prst="roundRect">
            <a:avLst>
              <a:gd name="adj" fmla="val 17699"/>
            </a:avLst>
          </a:prstGeom>
          <a:solidFill>
            <a:srgbClr val="3E8ED0"/>
          </a:solidFill>
          <a:ln/>
          <a:effectLst>
            <a:outerShdw blurRad="63500" dist="25400" dir="5400000" algn="bl" rotWithShape="0">
              <a:srgbClr val="17324D">
                <a:alpha val="18000"/>
              </a:srgbClr>
            </a:outerShdw>
          </a:effectLst>
        </p:spPr>
      </p:sp>
      <p:pic>
        <p:nvPicPr>
          <p:cNvPr id="6" name="Image 0" descr="/home/claude/flightstream/icons/satellite.png"/>
          <p:cNvPicPr>
            <a:picLocks noChangeAspect="1"/>
          </p:cNvPicPr>
          <p:nvPr/>
        </p:nvPicPr>
        <p:blipFill>
          <a:blip r:embed="rId3"/>
          <a:stretch>
            <a:fillRect/>
          </a:stretch>
        </p:blipFill>
        <p:spPr>
          <a:xfrm>
            <a:off x="6784848" y="980694"/>
            <a:ext cx="292608" cy="292608"/>
          </a:xfrm>
          <a:prstGeom prst="rect">
            <a:avLst/>
          </a:prstGeom>
        </p:spPr>
      </p:pic>
      <p:sp>
        <p:nvSpPr>
          <p:cNvPr id="7" name="Text 4"/>
          <p:cNvSpPr/>
          <p:nvPr/>
        </p:nvSpPr>
        <p:spPr>
          <a:xfrm>
            <a:off x="7132320" y="868680"/>
            <a:ext cx="4096512" cy="516636"/>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OpenSky</a:t>
            </a:r>
            <a:endParaRPr lang="en-US" sz="1250" dirty="0"/>
          </a:p>
        </p:txBody>
      </p:sp>
      <p:sp>
        <p:nvSpPr>
          <p:cNvPr id="8" name="Shape 5"/>
          <p:cNvSpPr/>
          <p:nvPr/>
        </p:nvSpPr>
        <p:spPr>
          <a:xfrm>
            <a:off x="8933688" y="1389888"/>
            <a:ext cx="146304" cy="59436"/>
          </a:xfrm>
          <a:prstGeom prst="downArrow">
            <a:avLst/>
          </a:prstGeom>
          <a:solidFill>
            <a:srgbClr val="8A97A8"/>
          </a:solidFill>
          <a:ln/>
        </p:spPr>
      </p:sp>
      <p:sp>
        <p:nvSpPr>
          <p:cNvPr id="9" name="Shape 6"/>
          <p:cNvSpPr/>
          <p:nvPr/>
        </p:nvSpPr>
        <p:spPr>
          <a:xfrm>
            <a:off x="6675120" y="1453896"/>
            <a:ext cx="4663440" cy="516636"/>
          </a:xfrm>
          <a:prstGeom prst="roundRect">
            <a:avLst>
              <a:gd name="adj" fmla="val 17699"/>
            </a:avLst>
          </a:prstGeom>
          <a:solidFill>
            <a:srgbClr val="1D6FB8"/>
          </a:solidFill>
          <a:ln/>
          <a:effectLst>
            <a:outerShdw blurRad="63500" dist="25400" dir="5400000" algn="bl" rotWithShape="0">
              <a:srgbClr val="17324D">
                <a:alpha val="18000"/>
              </a:srgbClr>
            </a:outerShdw>
          </a:effectLst>
        </p:spPr>
      </p:sp>
      <p:pic>
        <p:nvPicPr>
          <p:cNvPr id="10" name="Image 1" descr="/home/claude/flightstream/icons/python.png"/>
          <p:cNvPicPr>
            <a:picLocks noChangeAspect="1"/>
          </p:cNvPicPr>
          <p:nvPr/>
        </p:nvPicPr>
        <p:blipFill>
          <a:blip r:embed="rId4"/>
          <a:stretch>
            <a:fillRect/>
          </a:stretch>
        </p:blipFill>
        <p:spPr>
          <a:xfrm>
            <a:off x="6784848" y="1565910"/>
            <a:ext cx="292608" cy="292608"/>
          </a:xfrm>
          <a:prstGeom prst="rect">
            <a:avLst/>
          </a:prstGeom>
        </p:spPr>
      </p:pic>
      <p:sp>
        <p:nvSpPr>
          <p:cNvPr id="11" name="Text 7"/>
          <p:cNvSpPr/>
          <p:nvPr/>
        </p:nvSpPr>
        <p:spPr>
          <a:xfrm>
            <a:off x="7132320" y="1453896"/>
            <a:ext cx="4096512" cy="516636"/>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Python</a:t>
            </a:r>
            <a:endParaRPr lang="en-US" sz="1250" dirty="0"/>
          </a:p>
        </p:txBody>
      </p:sp>
      <p:sp>
        <p:nvSpPr>
          <p:cNvPr id="12" name="Shape 8"/>
          <p:cNvSpPr/>
          <p:nvPr/>
        </p:nvSpPr>
        <p:spPr>
          <a:xfrm>
            <a:off x="8933688" y="1975104"/>
            <a:ext cx="146304" cy="59436"/>
          </a:xfrm>
          <a:prstGeom prst="downArrow">
            <a:avLst/>
          </a:prstGeom>
          <a:solidFill>
            <a:srgbClr val="8A97A8"/>
          </a:solidFill>
          <a:ln/>
        </p:spPr>
      </p:sp>
      <p:sp>
        <p:nvSpPr>
          <p:cNvPr id="13" name="Shape 9"/>
          <p:cNvSpPr/>
          <p:nvPr/>
        </p:nvSpPr>
        <p:spPr>
          <a:xfrm>
            <a:off x="6675120" y="2039112"/>
            <a:ext cx="4663440" cy="516636"/>
          </a:xfrm>
          <a:prstGeom prst="roundRect">
            <a:avLst>
              <a:gd name="adj" fmla="val 17699"/>
            </a:avLst>
          </a:prstGeom>
          <a:solidFill>
            <a:srgbClr val="3A5878"/>
          </a:solidFill>
          <a:ln/>
          <a:effectLst>
            <a:outerShdw blurRad="63500" dist="25400" dir="5400000" algn="bl" rotWithShape="0">
              <a:srgbClr val="17324D">
                <a:alpha val="18000"/>
              </a:srgbClr>
            </a:outerShdw>
          </a:effectLst>
        </p:spPr>
      </p:sp>
      <p:pic>
        <p:nvPicPr>
          <p:cNvPr id="14" name="Image 2" descr="/home/claude/flightstream/icons/kafka.png"/>
          <p:cNvPicPr>
            <a:picLocks noChangeAspect="1"/>
          </p:cNvPicPr>
          <p:nvPr/>
        </p:nvPicPr>
        <p:blipFill>
          <a:blip r:embed="rId5"/>
          <a:stretch>
            <a:fillRect/>
          </a:stretch>
        </p:blipFill>
        <p:spPr>
          <a:xfrm>
            <a:off x="6784848" y="2151126"/>
            <a:ext cx="292608" cy="292608"/>
          </a:xfrm>
          <a:prstGeom prst="rect">
            <a:avLst/>
          </a:prstGeom>
        </p:spPr>
      </p:pic>
      <p:sp>
        <p:nvSpPr>
          <p:cNvPr id="15" name="Text 10"/>
          <p:cNvSpPr/>
          <p:nvPr/>
        </p:nvSpPr>
        <p:spPr>
          <a:xfrm>
            <a:off x="7132320" y="2039112"/>
            <a:ext cx="4096512" cy="516636"/>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Kafka</a:t>
            </a:r>
            <a:endParaRPr lang="en-US" sz="1250" dirty="0"/>
          </a:p>
        </p:txBody>
      </p:sp>
      <p:sp>
        <p:nvSpPr>
          <p:cNvPr id="16" name="Shape 11"/>
          <p:cNvSpPr/>
          <p:nvPr/>
        </p:nvSpPr>
        <p:spPr>
          <a:xfrm>
            <a:off x="8933688" y="2560320"/>
            <a:ext cx="146304" cy="59436"/>
          </a:xfrm>
          <a:prstGeom prst="downArrow">
            <a:avLst/>
          </a:prstGeom>
          <a:solidFill>
            <a:srgbClr val="8A97A8"/>
          </a:solidFill>
          <a:ln/>
        </p:spPr>
      </p:sp>
      <p:sp>
        <p:nvSpPr>
          <p:cNvPr id="17" name="Shape 12"/>
          <p:cNvSpPr/>
          <p:nvPr/>
        </p:nvSpPr>
        <p:spPr>
          <a:xfrm>
            <a:off x="6675120" y="2624328"/>
            <a:ext cx="4663440" cy="516636"/>
          </a:xfrm>
          <a:prstGeom prst="roundRect">
            <a:avLst>
              <a:gd name="adj" fmla="val 17699"/>
            </a:avLst>
          </a:prstGeom>
          <a:solidFill>
            <a:srgbClr val="1E9E8C"/>
          </a:solidFill>
          <a:ln/>
          <a:effectLst>
            <a:outerShdw blurRad="63500" dist="25400" dir="5400000" algn="bl" rotWithShape="0">
              <a:srgbClr val="17324D">
                <a:alpha val="18000"/>
              </a:srgbClr>
            </a:outerShdw>
          </a:effectLst>
        </p:spPr>
      </p:sp>
      <p:pic>
        <p:nvPicPr>
          <p:cNvPr id="18" name="Image 3" descr="/home/claude/flightstream/icons/spark.png"/>
          <p:cNvPicPr>
            <a:picLocks noChangeAspect="1"/>
          </p:cNvPicPr>
          <p:nvPr/>
        </p:nvPicPr>
        <p:blipFill>
          <a:blip r:embed="rId6"/>
          <a:stretch>
            <a:fillRect/>
          </a:stretch>
        </p:blipFill>
        <p:spPr>
          <a:xfrm>
            <a:off x="6784848" y="2736342"/>
            <a:ext cx="292608" cy="292608"/>
          </a:xfrm>
          <a:prstGeom prst="rect">
            <a:avLst/>
          </a:prstGeom>
        </p:spPr>
      </p:pic>
      <p:sp>
        <p:nvSpPr>
          <p:cNvPr id="19" name="Text 13"/>
          <p:cNvSpPr/>
          <p:nvPr/>
        </p:nvSpPr>
        <p:spPr>
          <a:xfrm>
            <a:off x="7132320" y="2624328"/>
            <a:ext cx="4096512" cy="516636"/>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Spark</a:t>
            </a:r>
            <a:endParaRPr lang="en-US" sz="1250" dirty="0"/>
          </a:p>
        </p:txBody>
      </p:sp>
      <p:sp>
        <p:nvSpPr>
          <p:cNvPr id="20" name="Shape 14"/>
          <p:cNvSpPr/>
          <p:nvPr/>
        </p:nvSpPr>
        <p:spPr>
          <a:xfrm>
            <a:off x="8933688" y="3145536"/>
            <a:ext cx="146304" cy="59436"/>
          </a:xfrm>
          <a:prstGeom prst="downArrow">
            <a:avLst/>
          </a:prstGeom>
          <a:solidFill>
            <a:srgbClr val="8A97A8"/>
          </a:solidFill>
          <a:ln/>
        </p:spPr>
      </p:sp>
      <p:sp>
        <p:nvSpPr>
          <p:cNvPr id="21" name="Shape 15"/>
          <p:cNvSpPr/>
          <p:nvPr/>
        </p:nvSpPr>
        <p:spPr>
          <a:xfrm>
            <a:off x="6675120" y="3209544"/>
            <a:ext cx="4663440" cy="516636"/>
          </a:xfrm>
          <a:prstGeom prst="roundRect">
            <a:avLst>
              <a:gd name="adj" fmla="val 17699"/>
            </a:avLst>
          </a:prstGeom>
          <a:solidFill>
            <a:srgbClr val="1E9E8C"/>
          </a:solidFill>
          <a:ln/>
          <a:effectLst>
            <a:outerShdw blurRad="63500" dist="25400" dir="5400000" algn="bl" rotWithShape="0">
              <a:srgbClr val="17324D">
                <a:alpha val="18000"/>
              </a:srgbClr>
            </a:outerShdw>
          </a:effectLst>
        </p:spPr>
      </p:sp>
      <p:pic>
        <p:nvPicPr>
          <p:cNvPr id="22" name="Image 4" descr="/home/claude/flightstream/icons/cluster.png"/>
          <p:cNvPicPr>
            <a:picLocks noChangeAspect="1"/>
          </p:cNvPicPr>
          <p:nvPr/>
        </p:nvPicPr>
        <p:blipFill>
          <a:blip r:embed="rId7"/>
          <a:stretch>
            <a:fillRect/>
          </a:stretch>
        </p:blipFill>
        <p:spPr>
          <a:xfrm>
            <a:off x="6784848" y="3321558"/>
            <a:ext cx="292608" cy="292608"/>
          </a:xfrm>
          <a:prstGeom prst="rect">
            <a:avLst/>
          </a:prstGeom>
        </p:spPr>
      </p:pic>
      <p:sp>
        <p:nvSpPr>
          <p:cNvPr id="23" name="Text 16"/>
          <p:cNvSpPr/>
          <p:nvPr/>
        </p:nvSpPr>
        <p:spPr>
          <a:xfrm>
            <a:off x="7132320" y="3209544"/>
            <a:ext cx="4096512" cy="516636"/>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K-Means</a:t>
            </a:r>
            <a:endParaRPr lang="en-US" sz="1250" dirty="0"/>
          </a:p>
        </p:txBody>
      </p:sp>
      <p:sp>
        <p:nvSpPr>
          <p:cNvPr id="24" name="Shape 17"/>
          <p:cNvSpPr/>
          <p:nvPr/>
        </p:nvSpPr>
        <p:spPr>
          <a:xfrm>
            <a:off x="8933688" y="3730752"/>
            <a:ext cx="146304" cy="59436"/>
          </a:xfrm>
          <a:prstGeom prst="downArrow">
            <a:avLst/>
          </a:prstGeom>
          <a:solidFill>
            <a:srgbClr val="8A97A8"/>
          </a:solidFill>
          <a:ln/>
        </p:spPr>
      </p:sp>
      <p:sp>
        <p:nvSpPr>
          <p:cNvPr id="25" name="Shape 18"/>
          <p:cNvSpPr/>
          <p:nvPr/>
        </p:nvSpPr>
        <p:spPr>
          <a:xfrm>
            <a:off x="6675120" y="3794760"/>
            <a:ext cx="4663440" cy="516636"/>
          </a:xfrm>
          <a:prstGeom prst="roundRect">
            <a:avLst>
              <a:gd name="adj" fmla="val 17699"/>
            </a:avLst>
          </a:prstGeom>
          <a:solidFill>
            <a:srgbClr val="3A5878"/>
          </a:solidFill>
          <a:ln/>
          <a:effectLst>
            <a:outerShdw blurRad="63500" dist="25400" dir="5400000" algn="bl" rotWithShape="0">
              <a:srgbClr val="17324D">
                <a:alpha val="18000"/>
              </a:srgbClr>
            </a:outerShdw>
          </a:effectLst>
        </p:spPr>
      </p:sp>
      <p:pic>
        <p:nvPicPr>
          <p:cNvPr id="26" name="Image 5" descr="/home/claude/flightstream/icons/postgres.png"/>
          <p:cNvPicPr>
            <a:picLocks noChangeAspect="1"/>
          </p:cNvPicPr>
          <p:nvPr/>
        </p:nvPicPr>
        <p:blipFill>
          <a:blip r:embed="rId8"/>
          <a:stretch>
            <a:fillRect/>
          </a:stretch>
        </p:blipFill>
        <p:spPr>
          <a:xfrm>
            <a:off x="6784848" y="3906774"/>
            <a:ext cx="292608" cy="292608"/>
          </a:xfrm>
          <a:prstGeom prst="rect">
            <a:avLst/>
          </a:prstGeom>
        </p:spPr>
      </p:pic>
      <p:sp>
        <p:nvSpPr>
          <p:cNvPr id="27" name="Text 19"/>
          <p:cNvSpPr/>
          <p:nvPr/>
        </p:nvSpPr>
        <p:spPr>
          <a:xfrm>
            <a:off x="7132320" y="3794760"/>
            <a:ext cx="4096512" cy="516636"/>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PostgreSQL</a:t>
            </a:r>
            <a:endParaRPr lang="en-US" sz="1250" dirty="0"/>
          </a:p>
        </p:txBody>
      </p:sp>
      <p:sp>
        <p:nvSpPr>
          <p:cNvPr id="28" name="Shape 20"/>
          <p:cNvSpPr/>
          <p:nvPr/>
        </p:nvSpPr>
        <p:spPr>
          <a:xfrm>
            <a:off x="8933688" y="4315968"/>
            <a:ext cx="146304" cy="59436"/>
          </a:xfrm>
          <a:prstGeom prst="downArrow">
            <a:avLst/>
          </a:prstGeom>
          <a:solidFill>
            <a:srgbClr val="8A97A8"/>
          </a:solidFill>
          <a:ln/>
        </p:spPr>
      </p:sp>
      <p:sp>
        <p:nvSpPr>
          <p:cNvPr id="29" name="Shape 21"/>
          <p:cNvSpPr/>
          <p:nvPr/>
        </p:nvSpPr>
        <p:spPr>
          <a:xfrm>
            <a:off x="6675120" y="4379976"/>
            <a:ext cx="4663440" cy="516636"/>
          </a:xfrm>
          <a:prstGeom prst="roundRect">
            <a:avLst>
              <a:gd name="adj" fmla="val 17699"/>
            </a:avLst>
          </a:prstGeom>
          <a:solidFill>
            <a:srgbClr val="3E8ED0"/>
          </a:solidFill>
          <a:ln/>
          <a:effectLst>
            <a:outerShdw blurRad="63500" dist="25400" dir="5400000" algn="bl" rotWithShape="0">
              <a:srgbClr val="17324D">
                <a:alpha val="18000"/>
              </a:srgbClr>
            </a:outerShdw>
          </a:effectLst>
        </p:spPr>
      </p:sp>
      <p:pic>
        <p:nvPicPr>
          <p:cNvPr id="30" name="Image 6" descr="/home/claude/flightstream/icons/powerbi.png"/>
          <p:cNvPicPr>
            <a:picLocks noChangeAspect="1"/>
          </p:cNvPicPr>
          <p:nvPr/>
        </p:nvPicPr>
        <p:blipFill>
          <a:blip r:embed="rId9"/>
          <a:stretch>
            <a:fillRect/>
          </a:stretch>
        </p:blipFill>
        <p:spPr>
          <a:xfrm>
            <a:off x="6784848" y="4491990"/>
            <a:ext cx="292608" cy="292608"/>
          </a:xfrm>
          <a:prstGeom prst="rect">
            <a:avLst/>
          </a:prstGeom>
        </p:spPr>
      </p:pic>
      <p:sp>
        <p:nvSpPr>
          <p:cNvPr id="31" name="Text 22"/>
          <p:cNvSpPr/>
          <p:nvPr/>
        </p:nvSpPr>
        <p:spPr>
          <a:xfrm>
            <a:off x="7132320" y="4379976"/>
            <a:ext cx="4096512" cy="516636"/>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Power BI</a:t>
            </a:r>
            <a:endParaRPr lang="en-US" sz="1250" dirty="0"/>
          </a:p>
        </p:txBody>
      </p:sp>
      <p:sp>
        <p:nvSpPr>
          <p:cNvPr id="32" name="Shape 23"/>
          <p:cNvSpPr/>
          <p:nvPr/>
        </p:nvSpPr>
        <p:spPr>
          <a:xfrm>
            <a:off x="548640" y="5440680"/>
            <a:ext cx="11091672" cy="868680"/>
          </a:xfrm>
          <a:prstGeom prst="roundRect">
            <a:avLst>
              <a:gd name="adj" fmla="val 12632"/>
            </a:avLst>
          </a:prstGeom>
          <a:solidFill>
            <a:srgbClr val="EAF6F5"/>
          </a:solidFill>
          <a:ln w="15875">
            <a:solidFill>
              <a:srgbClr val="1E9E8C"/>
            </a:solidFill>
            <a:prstDash val="solid"/>
          </a:ln>
          <a:effectLst>
            <a:outerShdw blurRad="76200" dist="25400" dir="5400000" algn="bl" rotWithShape="0">
              <a:srgbClr val="1E9E8C">
                <a:alpha val="15000"/>
              </a:srgbClr>
            </a:outerShdw>
          </a:effectLst>
        </p:spPr>
      </p:sp>
      <p:pic>
        <p:nvPicPr>
          <p:cNvPr id="33" name="Image 7" descr="/home/claude/flightstream/icons/plane.png"/>
          <p:cNvPicPr>
            <a:picLocks noChangeAspect="1"/>
          </p:cNvPicPr>
          <p:nvPr/>
        </p:nvPicPr>
        <p:blipFill>
          <a:blip r:embed="rId10"/>
          <a:stretch>
            <a:fillRect/>
          </a:stretch>
        </p:blipFill>
        <p:spPr>
          <a:xfrm rot="-2400000">
            <a:off x="749808" y="5701284"/>
            <a:ext cx="347472" cy="347472"/>
          </a:xfrm>
          <a:prstGeom prst="rect">
            <a:avLst/>
          </a:prstGeom>
        </p:spPr>
      </p:pic>
      <p:sp>
        <p:nvSpPr>
          <p:cNvPr id="34" name="Shape 24"/>
          <p:cNvSpPr/>
          <p:nvPr/>
        </p:nvSpPr>
        <p:spPr>
          <a:xfrm>
            <a:off x="694944" y="5618988"/>
            <a:ext cx="512064" cy="512064"/>
          </a:xfrm>
          <a:prstGeom prst="ellipse">
            <a:avLst/>
          </a:prstGeom>
          <a:solidFill>
            <a:srgbClr val="1E9E8C"/>
          </a:solidFill>
          <a:ln/>
        </p:spPr>
      </p:sp>
      <p:pic>
        <p:nvPicPr>
          <p:cNvPr id="35" name="Image 8" descr="/home/claude/flightstream/icons/plane.png"/>
          <p:cNvPicPr>
            <a:picLocks noChangeAspect="1"/>
          </p:cNvPicPr>
          <p:nvPr/>
        </p:nvPicPr>
        <p:blipFill>
          <a:blip r:embed="rId10"/>
          <a:stretch>
            <a:fillRect/>
          </a:stretch>
        </p:blipFill>
        <p:spPr>
          <a:xfrm rot="-2400000">
            <a:off x="822960" y="5737860"/>
            <a:ext cx="274320" cy="274320"/>
          </a:xfrm>
          <a:prstGeom prst="rect">
            <a:avLst/>
          </a:prstGeom>
        </p:spPr>
      </p:pic>
      <p:sp>
        <p:nvSpPr>
          <p:cNvPr id="36" name="Text 25"/>
          <p:cNvSpPr/>
          <p:nvPr/>
        </p:nvSpPr>
        <p:spPr>
          <a:xfrm>
            <a:off x="1417320" y="5532120"/>
            <a:ext cx="9994392" cy="256032"/>
          </a:xfrm>
          <a:prstGeom prst="rect">
            <a:avLst/>
          </a:prstGeom>
          <a:noFill/>
          <a:ln/>
        </p:spPr>
        <p:txBody>
          <a:bodyPr wrap="square" rtlCol="0" anchor="ctr"/>
          <a:lstStyle/>
          <a:p>
            <a:pPr marL="0" indent="0">
              <a:buNone/>
            </a:pPr>
            <a:r>
              <a:rPr lang="en-US" sz="1150" b="1" kern="0" spc="50" dirty="0">
                <a:solidFill>
                  <a:srgbClr val="1E9E8C"/>
                </a:solidFill>
                <a:latin typeface="Calibri" pitchFamily="34" charset="0"/>
                <a:ea typeface="Calibri" pitchFamily="34" charset="-122"/>
                <a:cs typeface="Calibri" pitchFamily="34" charset="-120"/>
              </a:rPr>
              <a:t>FLIGHTSTREAM FLASHBACK</a:t>
            </a:r>
            <a:endParaRPr lang="en-US" sz="1150" dirty="0"/>
          </a:p>
        </p:txBody>
      </p:sp>
      <p:sp>
        <p:nvSpPr>
          <p:cNvPr id="37" name="Text 26"/>
          <p:cNvSpPr/>
          <p:nvPr/>
        </p:nvSpPr>
        <p:spPr>
          <a:xfrm>
            <a:off x="1417320" y="5769864"/>
            <a:ext cx="9994392" cy="484632"/>
          </a:xfrm>
          <a:prstGeom prst="rect">
            <a:avLst/>
          </a:prstGeom>
          <a:noFill/>
          <a:ln/>
        </p:spPr>
        <p:txBody>
          <a:bodyPr wrap="square" rtlCol="0" anchor="t"/>
          <a:lstStyle/>
          <a:p>
            <a:pPr marL="0" indent="0">
              <a:lnSpc>
                <a:spcPct val="105000"/>
              </a:lnSpc>
              <a:buNone/>
            </a:pPr>
            <a:r>
              <a:rPr lang="en-US" sz="1350" i="1" dirty="0">
                <a:solidFill>
                  <a:srgbClr val="17324D"/>
                </a:solidFill>
                <a:latin typeface="Calibri" pitchFamily="34" charset="0"/>
                <a:ea typeface="Calibri" pitchFamily="34" charset="-122"/>
                <a:cs typeface="Calibri" pitchFamily="34" charset="-120"/>
              </a:rPr>
              <a:t>I collect flight data, process it, analyze it, store it, and visualize it.</a:t>
            </a:r>
            <a:endParaRPr lang="en-US" sz="1350" dirty="0"/>
          </a:p>
        </p:txBody>
      </p:sp>
      <p:sp>
        <p:nvSpPr>
          <p:cNvPr id="38" name="Text 27"/>
          <p:cNvSpPr/>
          <p:nvPr/>
        </p:nvSpPr>
        <p:spPr>
          <a:xfrm>
            <a:off x="11274552" y="6473952"/>
            <a:ext cx="731520" cy="274320"/>
          </a:xfrm>
          <a:prstGeom prst="rect">
            <a:avLst/>
          </a:prstGeom>
          <a:noFill/>
          <a:ln/>
        </p:spPr>
        <p:txBody>
          <a:bodyPr wrap="square" rtlCol="0" anchor="ctr"/>
          <a:lstStyle/>
          <a:p>
            <a:pPr marL="0" indent="0" algn="r">
              <a:buNone/>
            </a:pPr>
            <a:r>
              <a:rPr lang="en-US" sz="900" dirty="0">
                <a:solidFill>
                  <a:srgbClr val="8A97A8"/>
                </a:solidFill>
                <a:latin typeface="Calibri" pitchFamily="34" charset="0"/>
                <a:ea typeface="Calibri" pitchFamily="34" charset="-122"/>
                <a:cs typeface="Calibri" pitchFamily="34" charset="-120"/>
              </a:rPr>
              <a:t>2 / 10</a:t>
            </a:r>
            <a:endParaRPr lang="en-US" sz="900" dirty="0"/>
          </a:p>
        </p:txBody>
      </p:sp>
      <p:sp>
        <p:nvSpPr>
          <p:cNvPr id="39" name="Text 28"/>
          <p:cNvSpPr/>
          <p:nvPr/>
        </p:nvSpPr>
        <p:spPr>
          <a:xfrm>
            <a:off x="457200" y="6473952"/>
            <a:ext cx="2743200" cy="274320"/>
          </a:xfrm>
          <a:prstGeom prst="rect">
            <a:avLst/>
          </a:prstGeom>
          <a:noFill/>
          <a:ln/>
        </p:spPr>
        <p:txBody>
          <a:bodyPr wrap="square" rtlCol="0" anchor="ctr"/>
          <a:lstStyle/>
          <a:p>
            <a:pPr marL="0" indent="0">
              <a:buNone/>
            </a:pPr>
            <a:r>
              <a:rPr lang="en-US" sz="900" kern="0" spc="200" dirty="0">
                <a:solidFill>
                  <a:srgbClr val="8A97A8"/>
                </a:solidFill>
                <a:latin typeface="Calibri" pitchFamily="34" charset="0"/>
                <a:ea typeface="Calibri" pitchFamily="34" charset="-122"/>
                <a:cs typeface="Calibri" pitchFamily="34" charset="-120"/>
              </a:rPr>
              <a:t>FLIGHTSTREAM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rtlCol="0" anchor="ctr"/>
          <a:lstStyle/>
          <a:p>
            <a:pPr marL="0" indent="0">
              <a:buNone/>
            </a:pPr>
            <a:r>
              <a:rPr lang="en-US" sz="1100" b="1" kern="0" spc="150" dirty="0">
                <a:solidFill>
                  <a:srgbClr val="1E9E8C"/>
                </a:solidFill>
                <a:latin typeface="Calibri" pitchFamily="34" charset="0"/>
                <a:ea typeface="Calibri" pitchFamily="34" charset="-122"/>
                <a:cs typeface="Calibri" pitchFamily="34" charset="-120"/>
              </a:rPr>
              <a:t>MOTIVATION &amp; SOURCE</a:t>
            </a:r>
            <a:endParaRPr lang="en-US" sz="1100" dirty="0"/>
          </a:p>
        </p:txBody>
      </p:sp>
      <p:sp>
        <p:nvSpPr>
          <p:cNvPr id="3" name="Text 1"/>
          <p:cNvSpPr/>
          <p:nvPr/>
        </p:nvSpPr>
        <p:spPr>
          <a:xfrm>
            <a:off x="548640" y="365760"/>
            <a:ext cx="11091672" cy="640080"/>
          </a:xfrm>
          <a:prstGeom prst="rect">
            <a:avLst/>
          </a:prstGeom>
          <a:noFill/>
          <a:ln/>
        </p:spPr>
        <p:txBody>
          <a:bodyPr wrap="square" rtlCol="0" anchor="ctr"/>
          <a:lstStyle/>
          <a:p>
            <a:pPr marL="0" indent="0" algn="l">
              <a:buNone/>
            </a:pPr>
            <a:r>
              <a:rPr lang="en-US" sz="3000" b="1" dirty="0">
                <a:solidFill>
                  <a:srgbClr val="17324D"/>
                </a:solidFill>
                <a:latin typeface="Calibri" pitchFamily="34" charset="0"/>
                <a:ea typeface="Calibri" pitchFamily="34" charset="-122"/>
                <a:cs typeface="Calibri" pitchFamily="34" charset="-120"/>
              </a:rPr>
              <a:t>Why Flight Data?</a:t>
            </a:r>
            <a:endParaRPr lang="en-US" sz="3000" dirty="0"/>
          </a:p>
        </p:txBody>
      </p:sp>
      <p:sp>
        <p:nvSpPr>
          <p:cNvPr id="4" name="Shape 2"/>
          <p:cNvSpPr/>
          <p:nvPr/>
        </p:nvSpPr>
        <p:spPr>
          <a:xfrm>
            <a:off x="548640" y="1097280"/>
            <a:ext cx="73152" cy="457200"/>
          </a:xfrm>
          <a:prstGeom prst="roundRect">
            <a:avLst/>
          </a:prstGeom>
          <a:solidFill>
            <a:srgbClr val="5FC6D9"/>
          </a:solidFill>
          <a:ln/>
        </p:spPr>
      </p:sp>
      <p:sp>
        <p:nvSpPr>
          <p:cNvPr id="5" name="Text 3"/>
          <p:cNvSpPr/>
          <p:nvPr/>
        </p:nvSpPr>
        <p:spPr>
          <a:xfrm>
            <a:off x="777240" y="1097280"/>
            <a:ext cx="4937760" cy="457200"/>
          </a:xfrm>
          <a:prstGeom prst="rect">
            <a:avLst/>
          </a:prstGeom>
          <a:noFill/>
          <a:ln/>
        </p:spPr>
        <p:txBody>
          <a:bodyPr wrap="square" rtlCol="0" anchor="ctr"/>
          <a:lstStyle/>
          <a:p>
            <a:pPr marL="0" indent="0">
              <a:buNone/>
            </a:pPr>
            <a:r>
              <a:rPr lang="en-US" sz="1350" dirty="0">
                <a:solidFill>
                  <a:srgbClr val="3A5878"/>
                </a:solidFill>
                <a:latin typeface="Calibri" pitchFamily="34" charset="0"/>
                <a:ea typeface="Calibri" pitchFamily="34" charset="-122"/>
                <a:cs typeface="Calibri" pitchFamily="34" charset="-120"/>
              </a:rPr>
              <a:t>Changes continuously — a natural fit for streaming</a:t>
            </a:r>
            <a:endParaRPr lang="en-US" sz="1350" dirty="0"/>
          </a:p>
        </p:txBody>
      </p:sp>
      <p:sp>
        <p:nvSpPr>
          <p:cNvPr id="6" name="Shape 4"/>
          <p:cNvSpPr/>
          <p:nvPr/>
        </p:nvSpPr>
        <p:spPr>
          <a:xfrm>
            <a:off x="548640" y="1664208"/>
            <a:ext cx="73152" cy="457200"/>
          </a:xfrm>
          <a:prstGeom prst="roundRect">
            <a:avLst/>
          </a:prstGeom>
          <a:solidFill>
            <a:srgbClr val="5FC6D9"/>
          </a:solidFill>
          <a:ln/>
        </p:spPr>
      </p:sp>
      <p:sp>
        <p:nvSpPr>
          <p:cNvPr id="7" name="Text 5"/>
          <p:cNvSpPr/>
          <p:nvPr/>
        </p:nvSpPr>
        <p:spPr>
          <a:xfrm>
            <a:off x="777240" y="1664208"/>
            <a:ext cx="4937760" cy="457200"/>
          </a:xfrm>
          <a:prstGeom prst="rect">
            <a:avLst/>
          </a:prstGeom>
          <a:noFill/>
          <a:ln/>
        </p:spPr>
        <p:txBody>
          <a:bodyPr wrap="square" rtlCol="0" anchor="ctr"/>
          <a:lstStyle/>
          <a:p>
            <a:pPr marL="0" indent="0">
              <a:buNone/>
            </a:pPr>
            <a:r>
              <a:rPr lang="en-US" sz="1350" dirty="0">
                <a:solidFill>
                  <a:srgbClr val="3A5878"/>
                </a:solidFill>
                <a:latin typeface="Calibri" pitchFamily="34" charset="0"/>
                <a:ea typeface="Calibri" pitchFamily="34" charset="-122"/>
                <a:cs typeface="Calibri" pitchFamily="34" charset="-120"/>
              </a:rPr>
              <a:t>Rich numerical features (position, altitude, speed)</a:t>
            </a:r>
            <a:endParaRPr lang="en-US" sz="1350" dirty="0"/>
          </a:p>
        </p:txBody>
      </p:sp>
      <p:sp>
        <p:nvSpPr>
          <p:cNvPr id="8" name="Shape 6"/>
          <p:cNvSpPr/>
          <p:nvPr/>
        </p:nvSpPr>
        <p:spPr>
          <a:xfrm>
            <a:off x="548640" y="2231136"/>
            <a:ext cx="73152" cy="457200"/>
          </a:xfrm>
          <a:prstGeom prst="roundRect">
            <a:avLst/>
          </a:prstGeom>
          <a:solidFill>
            <a:srgbClr val="5FC6D9"/>
          </a:solidFill>
          <a:ln/>
        </p:spPr>
      </p:sp>
      <p:sp>
        <p:nvSpPr>
          <p:cNvPr id="9" name="Text 7"/>
          <p:cNvSpPr/>
          <p:nvPr/>
        </p:nvSpPr>
        <p:spPr>
          <a:xfrm>
            <a:off x="777240" y="2231136"/>
            <a:ext cx="4937760" cy="457200"/>
          </a:xfrm>
          <a:prstGeom prst="rect">
            <a:avLst/>
          </a:prstGeom>
          <a:noFill/>
          <a:ln/>
        </p:spPr>
        <p:txBody>
          <a:bodyPr wrap="square" rtlCol="0" anchor="ctr"/>
          <a:lstStyle/>
          <a:p>
            <a:pPr marL="0" indent="0">
              <a:buNone/>
            </a:pPr>
            <a:r>
              <a:rPr lang="en-US" sz="1350" dirty="0">
                <a:solidFill>
                  <a:srgbClr val="3A5878"/>
                </a:solidFill>
                <a:latin typeface="Calibri" pitchFamily="34" charset="0"/>
                <a:ea typeface="Calibri" pitchFamily="34" charset="-122"/>
                <a:cs typeface="Calibri" pitchFamily="34" charset="-120"/>
              </a:rPr>
              <a:t>A real-world example of Big Data processing at scale</a:t>
            </a:r>
            <a:endParaRPr lang="en-US" sz="1350" dirty="0"/>
          </a:p>
        </p:txBody>
      </p:sp>
      <p:sp>
        <p:nvSpPr>
          <p:cNvPr id="10" name="Shape 8"/>
          <p:cNvSpPr/>
          <p:nvPr/>
        </p:nvSpPr>
        <p:spPr>
          <a:xfrm>
            <a:off x="548640" y="2971800"/>
            <a:ext cx="5120640" cy="1417320"/>
          </a:xfrm>
          <a:prstGeom prst="roundRect">
            <a:avLst>
              <a:gd name="adj" fmla="val 7742"/>
            </a:avLst>
          </a:prstGeom>
          <a:solidFill>
            <a:srgbClr val="F2F8FC"/>
          </a:solidFill>
          <a:ln w="12700">
            <a:solidFill>
              <a:srgbClr val="E7EDF3"/>
            </a:solidFill>
            <a:prstDash val="solid"/>
          </a:ln>
        </p:spPr>
      </p:sp>
      <p:sp>
        <p:nvSpPr>
          <p:cNvPr id="11" name="Shape 9"/>
          <p:cNvSpPr/>
          <p:nvPr/>
        </p:nvSpPr>
        <p:spPr>
          <a:xfrm>
            <a:off x="777240" y="3200400"/>
            <a:ext cx="512064" cy="512064"/>
          </a:xfrm>
          <a:prstGeom prst="ellipse">
            <a:avLst/>
          </a:prstGeom>
          <a:solidFill>
            <a:srgbClr val="3E8ED0"/>
          </a:solidFill>
          <a:ln/>
        </p:spPr>
      </p:sp>
      <p:pic>
        <p:nvPicPr>
          <p:cNvPr id="12" name="Image 0" descr="/home/claude/flightstream/icons/satellite.png"/>
          <p:cNvPicPr>
            <a:picLocks noChangeAspect="1"/>
          </p:cNvPicPr>
          <p:nvPr/>
        </p:nvPicPr>
        <p:blipFill>
          <a:blip r:embed="rId3"/>
          <a:stretch>
            <a:fillRect/>
          </a:stretch>
        </p:blipFill>
        <p:spPr>
          <a:xfrm>
            <a:off x="896112" y="3319272"/>
            <a:ext cx="274320" cy="274320"/>
          </a:xfrm>
          <a:prstGeom prst="rect">
            <a:avLst/>
          </a:prstGeom>
        </p:spPr>
      </p:pic>
      <p:sp>
        <p:nvSpPr>
          <p:cNvPr id="13" name="Text 10"/>
          <p:cNvSpPr/>
          <p:nvPr/>
        </p:nvSpPr>
        <p:spPr>
          <a:xfrm>
            <a:off x="1417320" y="3200400"/>
            <a:ext cx="4114800" cy="548640"/>
          </a:xfrm>
          <a:prstGeom prst="rect">
            <a:avLst/>
          </a:prstGeom>
          <a:noFill/>
          <a:ln/>
        </p:spPr>
        <p:txBody>
          <a:bodyPr wrap="square" rtlCol="0" anchor="t"/>
          <a:lstStyle/>
          <a:p>
            <a:pPr marL="0" indent="0">
              <a:buNone/>
            </a:pPr>
            <a:r>
              <a:rPr lang="en-US" sz="1400" b="1" dirty="0">
                <a:solidFill>
                  <a:srgbClr val="17324D"/>
                </a:solidFill>
                <a:latin typeface="Calibri" pitchFamily="34" charset="0"/>
                <a:ea typeface="Calibri" pitchFamily="34" charset="-122"/>
                <a:cs typeface="Calibri" pitchFamily="34" charset="-120"/>
              </a:rPr>
              <a:t>OpenSky Network
</a:t>
            </a:r>
            <a:r>
              <a:rPr lang="en-US" sz="1200" dirty="0">
                <a:solidFill>
                  <a:srgbClr val="3A5878"/>
                </a:solidFill>
                <a:latin typeface="Calibri" pitchFamily="34" charset="0"/>
                <a:ea typeface="Calibri" pitchFamily="34" charset="-122"/>
                <a:cs typeface="Calibri" pitchFamily="34" charset="-120"/>
              </a:rPr>
              <a:t>Source of live aircraft state data</a:t>
            </a:r>
            <a:endParaRPr lang="en-US" sz="1400" dirty="0"/>
          </a:p>
        </p:txBody>
      </p:sp>
      <p:sp>
        <p:nvSpPr>
          <p:cNvPr id="14" name="Text 11"/>
          <p:cNvSpPr/>
          <p:nvPr/>
        </p:nvSpPr>
        <p:spPr>
          <a:xfrm>
            <a:off x="777240" y="3886200"/>
            <a:ext cx="4663440" cy="365760"/>
          </a:xfrm>
          <a:prstGeom prst="rect">
            <a:avLst/>
          </a:prstGeom>
          <a:noFill/>
          <a:ln/>
        </p:spPr>
        <p:txBody>
          <a:bodyPr wrap="square" rtlCol="0" anchor="ctr"/>
          <a:lstStyle/>
          <a:p>
            <a:pPr marL="0" indent="0">
              <a:buNone/>
            </a:pPr>
            <a:r>
              <a:rPr lang="en-US" sz="1100" dirty="0">
                <a:solidFill>
                  <a:srgbClr val="1D6FB8"/>
                </a:solidFill>
                <a:latin typeface="Consolas" pitchFamily="34" charset="0"/>
                <a:ea typeface="Consolas" pitchFamily="34" charset="-122"/>
                <a:cs typeface="Consolas" pitchFamily="34" charset="-120"/>
              </a:rPr>
              <a:t>/states/all   •   OAuth2 authentication   •   polls ~every 120s</a:t>
            </a:r>
            <a:endParaRPr lang="en-US" sz="1100" dirty="0"/>
          </a:p>
        </p:txBody>
      </p:sp>
      <p:sp>
        <p:nvSpPr>
          <p:cNvPr id="15" name="Shape 12"/>
          <p:cNvSpPr/>
          <p:nvPr/>
        </p:nvSpPr>
        <p:spPr>
          <a:xfrm>
            <a:off x="548640" y="4572000"/>
            <a:ext cx="1737360" cy="457200"/>
          </a:xfrm>
          <a:prstGeom prst="roundRect">
            <a:avLst>
              <a:gd name="adj" fmla="val 20000"/>
            </a:avLst>
          </a:prstGeom>
          <a:solidFill>
            <a:srgbClr val="3E8ED0"/>
          </a:solidFill>
          <a:ln/>
          <a:effectLst>
            <a:outerShdw blurRad="63500" dist="25400" dir="5400000" algn="bl" rotWithShape="0">
              <a:srgbClr val="17324D">
                <a:alpha val="18000"/>
              </a:srgbClr>
            </a:outerShdw>
          </a:effectLst>
        </p:spPr>
      </p:sp>
      <p:pic>
        <p:nvPicPr>
          <p:cNvPr id="16" name="Image 1" descr="/home/claude/flightstream/icons/satellite.png"/>
          <p:cNvPicPr>
            <a:picLocks noChangeAspect="1"/>
          </p:cNvPicPr>
          <p:nvPr/>
        </p:nvPicPr>
        <p:blipFill>
          <a:blip r:embed="rId3"/>
          <a:stretch>
            <a:fillRect/>
          </a:stretch>
        </p:blipFill>
        <p:spPr>
          <a:xfrm>
            <a:off x="658368" y="4654296"/>
            <a:ext cx="292608" cy="292608"/>
          </a:xfrm>
          <a:prstGeom prst="rect">
            <a:avLst/>
          </a:prstGeom>
        </p:spPr>
      </p:pic>
      <p:sp>
        <p:nvSpPr>
          <p:cNvPr id="17" name="Text 13"/>
          <p:cNvSpPr/>
          <p:nvPr/>
        </p:nvSpPr>
        <p:spPr>
          <a:xfrm>
            <a:off x="1005840" y="4572000"/>
            <a:ext cx="1170432"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OpenSky</a:t>
            </a:r>
            <a:endParaRPr lang="en-US" sz="1250" dirty="0"/>
          </a:p>
        </p:txBody>
      </p:sp>
      <p:sp>
        <p:nvSpPr>
          <p:cNvPr id="18" name="Shape 14"/>
          <p:cNvSpPr/>
          <p:nvPr/>
        </p:nvSpPr>
        <p:spPr>
          <a:xfrm>
            <a:off x="2331720" y="4727448"/>
            <a:ext cx="320040" cy="146304"/>
          </a:xfrm>
          <a:prstGeom prst="rightArrow">
            <a:avLst/>
          </a:prstGeom>
          <a:solidFill>
            <a:srgbClr val="8A97A8"/>
          </a:solidFill>
          <a:ln/>
        </p:spPr>
      </p:sp>
      <p:sp>
        <p:nvSpPr>
          <p:cNvPr id="19" name="Shape 15"/>
          <p:cNvSpPr/>
          <p:nvPr/>
        </p:nvSpPr>
        <p:spPr>
          <a:xfrm>
            <a:off x="2697480" y="4572000"/>
            <a:ext cx="1828800" cy="457200"/>
          </a:xfrm>
          <a:prstGeom prst="roundRect">
            <a:avLst>
              <a:gd name="adj" fmla="val 20000"/>
            </a:avLst>
          </a:prstGeom>
          <a:solidFill>
            <a:srgbClr val="8A97A8"/>
          </a:solidFill>
          <a:ln/>
          <a:effectLst>
            <a:outerShdw blurRad="63500" dist="25400" dir="5400000" algn="bl" rotWithShape="0">
              <a:srgbClr val="17324D">
                <a:alpha val="18000"/>
              </a:srgbClr>
            </a:outerShdw>
          </a:effectLst>
        </p:spPr>
      </p:sp>
      <p:sp>
        <p:nvSpPr>
          <p:cNvPr id="20" name="Text 16"/>
          <p:cNvSpPr/>
          <p:nvPr/>
        </p:nvSpPr>
        <p:spPr>
          <a:xfrm>
            <a:off x="2807208" y="4572000"/>
            <a:ext cx="1609344"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Live states</a:t>
            </a:r>
            <a:endParaRPr lang="en-US" sz="1250" dirty="0"/>
          </a:p>
        </p:txBody>
      </p:sp>
      <p:sp>
        <p:nvSpPr>
          <p:cNvPr id="21" name="Shape 17"/>
          <p:cNvSpPr/>
          <p:nvPr/>
        </p:nvSpPr>
        <p:spPr>
          <a:xfrm>
            <a:off x="4526280" y="4727448"/>
            <a:ext cx="320040" cy="146304"/>
          </a:xfrm>
          <a:prstGeom prst="rightArrow">
            <a:avLst/>
          </a:prstGeom>
          <a:solidFill>
            <a:srgbClr val="8A97A8"/>
          </a:solidFill>
          <a:ln/>
        </p:spPr>
      </p:sp>
      <p:sp>
        <p:nvSpPr>
          <p:cNvPr id="22" name="Shape 18"/>
          <p:cNvSpPr/>
          <p:nvPr/>
        </p:nvSpPr>
        <p:spPr>
          <a:xfrm>
            <a:off x="4892040" y="4572000"/>
            <a:ext cx="1463040" cy="457200"/>
          </a:xfrm>
          <a:prstGeom prst="roundRect">
            <a:avLst>
              <a:gd name="adj" fmla="val 20000"/>
            </a:avLst>
          </a:prstGeom>
          <a:solidFill>
            <a:srgbClr val="1D6FB8"/>
          </a:solidFill>
          <a:ln/>
          <a:effectLst>
            <a:outerShdw blurRad="63500" dist="25400" dir="5400000" algn="bl" rotWithShape="0">
              <a:srgbClr val="17324D">
                <a:alpha val="18000"/>
              </a:srgbClr>
            </a:outerShdw>
          </a:effectLst>
        </p:spPr>
      </p:sp>
      <p:pic>
        <p:nvPicPr>
          <p:cNvPr id="23" name="Image 2" descr="/home/claude/flightstream/icons/python.png"/>
          <p:cNvPicPr>
            <a:picLocks noChangeAspect="1"/>
          </p:cNvPicPr>
          <p:nvPr/>
        </p:nvPicPr>
        <p:blipFill>
          <a:blip r:embed="rId4"/>
          <a:stretch>
            <a:fillRect/>
          </a:stretch>
        </p:blipFill>
        <p:spPr>
          <a:xfrm>
            <a:off x="5001768" y="4654296"/>
            <a:ext cx="292608" cy="292608"/>
          </a:xfrm>
          <a:prstGeom prst="rect">
            <a:avLst/>
          </a:prstGeom>
        </p:spPr>
      </p:pic>
      <p:sp>
        <p:nvSpPr>
          <p:cNvPr id="24" name="Text 19"/>
          <p:cNvSpPr/>
          <p:nvPr/>
        </p:nvSpPr>
        <p:spPr>
          <a:xfrm>
            <a:off x="5349240" y="4572000"/>
            <a:ext cx="896112"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Python</a:t>
            </a:r>
            <a:endParaRPr lang="en-US" sz="1250" dirty="0"/>
          </a:p>
        </p:txBody>
      </p:sp>
      <p:sp>
        <p:nvSpPr>
          <p:cNvPr id="25" name="Shape 20"/>
          <p:cNvSpPr/>
          <p:nvPr/>
        </p:nvSpPr>
        <p:spPr>
          <a:xfrm>
            <a:off x="6675120" y="1005840"/>
            <a:ext cx="4663440" cy="3383280"/>
          </a:xfrm>
          <a:prstGeom prst="roundRect">
            <a:avLst>
              <a:gd name="adj" fmla="val 2703"/>
            </a:avLst>
          </a:prstGeom>
          <a:solidFill>
            <a:srgbClr val="F2F8FC"/>
          </a:solidFill>
          <a:ln w="12700">
            <a:solidFill>
              <a:srgbClr val="E7EDF3"/>
            </a:solidFill>
            <a:prstDash val="solid"/>
          </a:ln>
        </p:spPr>
      </p:sp>
      <p:sp>
        <p:nvSpPr>
          <p:cNvPr id="26" name="Text 21"/>
          <p:cNvSpPr/>
          <p:nvPr/>
        </p:nvSpPr>
        <p:spPr>
          <a:xfrm>
            <a:off x="6903720" y="1188720"/>
            <a:ext cx="4206240" cy="274320"/>
          </a:xfrm>
          <a:prstGeom prst="rect">
            <a:avLst/>
          </a:prstGeom>
          <a:noFill/>
          <a:ln/>
        </p:spPr>
        <p:txBody>
          <a:bodyPr wrap="square" rtlCol="0" anchor="ctr"/>
          <a:lstStyle/>
          <a:p>
            <a:pPr marL="0" indent="0">
              <a:buNone/>
            </a:pPr>
            <a:r>
              <a:rPr lang="en-US" sz="1200" b="1" dirty="0">
                <a:solidFill>
                  <a:srgbClr val="3A5878"/>
                </a:solidFill>
                <a:latin typeface="Calibri" pitchFamily="34" charset="0"/>
                <a:ea typeface="Calibri" pitchFamily="34" charset="-122"/>
                <a:cs typeface="Calibri" pitchFamily="34" charset="-120"/>
              </a:rPr>
              <a:t>📍 CODE LOCATION</a:t>
            </a:r>
            <a:endParaRPr lang="en-US" sz="1200" dirty="0"/>
          </a:p>
        </p:txBody>
      </p:sp>
      <p:sp>
        <p:nvSpPr>
          <p:cNvPr id="27" name="Shape 22"/>
          <p:cNvSpPr/>
          <p:nvPr/>
        </p:nvSpPr>
        <p:spPr>
          <a:xfrm>
            <a:off x="6903720" y="1536192"/>
            <a:ext cx="4206240" cy="384048"/>
          </a:xfrm>
          <a:prstGeom prst="roundRect">
            <a:avLst>
              <a:gd name="adj" fmla="val 14286"/>
            </a:avLst>
          </a:prstGeom>
          <a:solidFill>
            <a:srgbClr val="FFFFFF"/>
          </a:solidFill>
          <a:ln w="12700">
            <a:solidFill>
              <a:srgbClr val="E7EDF3"/>
            </a:solidFill>
            <a:prstDash val="solid"/>
          </a:ln>
        </p:spPr>
      </p:sp>
      <p:sp>
        <p:nvSpPr>
          <p:cNvPr id="28" name="Text 23"/>
          <p:cNvSpPr/>
          <p:nvPr/>
        </p:nvSpPr>
        <p:spPr>
          <a:xfrm>
            <a:off x="7040880" y="1536192"/>
            <a:ext cx="3931920" cy="384048"/>
          </a:xfrm>
          <a:prstGeom prst="rect">
            <a:avLst/>
          </a:prstGeom>
          <a:noFill/>
          <a:ln/>
        </p:spPr>
        <p:txBody>
          <a:bodyPr wrap="square" rtlCol="0" anchor="ctr"/>
          <a:lstStyle/>
          <a:p>
            <a:pPr marL="0" indent="0">
              <a:buNone/>
            </a:pPr>
            <a:r>
              <a:rPr lang="en-US" sz="1300" dirty="0">
                <a:solidFill>
                  <a:srgbClr val="17324D"/>
                </a:solidFill>
                <a:latin typeface="Consolas" pitchFamily="34" charset="0"/>
                <a:ea typeface="Consolas" pitchFamily="34" charset="-122"/>
                <a:cs typeface="Consolas" pitchFamily="34" charset="-120"/>
              </a:rPr>
              <a:t>api/</a:t>
            </a:r>
            <a:endParaRPr lang="en-US" sz="1300" dirty="0"/>
          </a:p>
        </p:txBody>
      </p:sp>
      <p:sp>
        <p:nvSpPr>
          <p:cNvPr id="29" name="Text 24"/>
          <p:cNvSpPr/>
          <p:nvPr/>
        </p:nvSpPr>
        <p:spPr>
          <a:xfrm>
            <a:off x="6903720" y="2103120"/>
            <a:ext cx="4206240" cy="274320"/>
          </a:xfrm>
          <a:prstGeom prst="rect">
            <a:avLst/>
          </a:prstGeom>
          <a:noFill/>
          <a:ln/>
        </p:spPr>
        <p:txBody>
          <a:bodyPr wrap="square" rtlCol="0" anchor="ctr"/>
          <a:lstStyle/>
          <a:p>
            <a:pPr marL="0" indent="0">
              <a:buNone/>
            </a:pPr>
            <a:r>
              <a:rPr lang="en-US" sz="1200" b="1" dirty="0">
                <a:solidFill>
                  <a:srgbClr val="1D6FB8"/>
                </a:solidFill>
                <a:latin typeface="Calibri" pitchFamily="34" charset="0"/>
                <a:ea typeface="Calibri" pitchFamily="34" charset="-122"/>
                <a:cs typeface="Calibri" pitchFamily="34" charset="-120"/>
              </a:rPr>
              <a:t>🧠 IN PLAIN ENGLISH</a:t>
            </a:r>
            <a:endParaRPr lang="en-US" sz="1200" dirty="0"/>
          </a:p>
        </p:txBody>
      </p:sp>
      <p:sp>
        <p:nvSpPr>
          <p:cNvPr id="30" name="Text 25"/>
          <p:cNvSpPr/>
          <p:nvPr/>
        </p:nvSpPr>
        <p:spPr>
          <a:xfrm>
            <a:off x="6903720" y="2423160"/>
            <a:ext cx="4206240" cy="1737360"/>
          </a:xfrm>
          <a:prstGeom prst="rect">
            <a:avLst/>
          </a:prstGeom>
          <a:noFill/>
          <a:ln/>
        </p:spPr>
        <p:txBody>
          <a:bodyPr wrap="square" rtlCol="0" anchor="t"/>
          <a:lstStyle/>
          <a:p>
            <a:pPr marL="0" indent="0">
              <a:lnSpc>
                <a:spcPct val="115000"/>
              </a:lnSpc>
              <a:buNone/>
            </a:pPr>
            <a:r>
              <a:rPr lang="en-US" sz="1350" dirty="0">
                <a:solidFill>
                  <a:srgbClr val="17324D"/>
                </a:solidFill>
                <a:latin typeface="Calibri" pitchFamily="34" charset="0"/>
                <a:ea typeface="Calibri" pitchFamily="34" charset="-122"/>
                <a:cs typeface="Calibri" pitchFamily="34" charset="-120"/>
              </a:rPr>
              <a:t>OpenSky is where my live flight data comes from. Python requests the data and prepares it for the rest of the pipeline.</a:t>
            </a:r>
            <a:endParaRPr lang="en-US" sz="1350" dirty="0"/>
          </a:p>
        </p:txBody>
      </p:sp>
      <p:sp>
        <p:nvSpPr>
          <p:cNvPr id="31" name="Shape 26"/>
          <p:cNvSpPr/>
          <p:nvPr/>
        </p:nvSpPr>
        <p:spPr>
          <a:xfrm>
            <a:off x="548640" y="5440680"/>
            <a:ext cx="11091672" cy="868680"/>
          </a:xfrm>
          <a:prstGeom prst="roundRect">
            <a:avLst>
              <a:gd name="adj" fmla="val 12632"/>
            </a:avLst>
          </a:prstGeom>
          <a:solidFill>
            <a:srgbClr val="EAF6F5"/>
          </a:solidFill>
          <a:ln w="15875">
            <a:solidFill>
              <a:srgbClr val="1E9E8C"/>
            </a:solidFill>
            <a:prstDash val="solid"/>
          </a:ln>
          <a:effectLst>
            <a:outerShdw blurRad="76200" dist="25400" dir="5400000" algn="bl" rotWithShape="0">
              <a:srgbClr val="1E9E8C">
                <a:alpha val="15000"/>
              </a:srgbClr>
            </a:outerShdw>
          </a:effectLst>
        </p:spPr>
      </p:sp>
      <p:pic>
        <p:nvPicPr>
          <p:cNvPr id="32" name="Image 3" descr="/home/claude/flightstream/icons/plane.png"/>
          <p:cNvPicPr>
            <a:picLocks noChangeAspect="1"/>
          </p:cNvPicPr>
          <p:nvPr/>
        </p:nvPicPr>
        <p:blipFill>
          <a:blip r:embed="rId5"/>
          <a:stretch>
            <a:fillRect/>
          </a:stretch>
        </p:blipFill>
        <p:spPr>
          <a:xfrm rot="-2400000">
            <a:off x="749808" y="5701284"/>
            <a:ext cx="347472" cy="347472"/>
          </a:xfrm>
          <a:prstGeom prst="rect">
            <a:avLst/>
          </a:prstGeom>
        </p:spPr>
      </p:pic>
      <p:sp>
        <p:nvSpPr>
          <p:cNvPr id="33" name="Shape 27"/>
          <p:cNvSpPr/>
          <p:nvPr/>
        </p:nvSpPr>
        <p:spPr>
          <a:xfrm>
            <a:off x="694944" y="5618988"/>
            <a:ext cx="512064" cy="512064"/>
          </a:xfrm>
          <a:prstGeom prst="ellipse">
            <a:avLst/>
          </a:prstGeom>
          <a:solidFill>
            <a:srgbClr val="1E9E8C"/>
          </a:solidFill>
          <a:ln/>
        </p:spPr>
      </p:sp>
      <p:pic>
        <p:nvPicPr>
          <p:cNvPr id="34" name="Image 4" descr="/home/claude/flightstream/icons/plane.png"/>
          <p:cNvPicPr>
            <a:picLocks noChangeAspect="1"/>
          </p:cNvPicPr>
          <p:nvPr/>
        </p:nvPicPr>
        <p:blipFill>
          <a:blip r:embed="rId5"/>
          <a:stretch>
            <a:fillRect/>
          </a:stretch>
        </p:blipFill>
        <p:spPr>
          <a:xfrm rot="-2400000">
            <a:off x="822960" y="5737860"/>
            <a:ext cx="274320" cy="274320"/>
          </a:xfrm>
          <a:prstGeom prst="rect">
            <a:avLst/>
          </a:prstGeom>
        </p:spPr>
      </p:pic>
      <p:sp>
        <p:nvSpPr>
          <p:cNvPr id="35" name="Text 28"/>
          <p:cNvSpPr/>
          <p:nvPr/>
        </p:nvSpPr>
        <p:spPr>
          <a:xfrm>
            <a:off x="1417320" y="5532120"/>
            <a:ext cx="9994392" cy="256032"/>
          </a:xfrm>
          <a:prstGeom prst="rect">
            <a:avLst/>
          </a:prstGeom>
          <a:noFill/>
          <a:ln/>
        </p:spPr>
        <p:txBody>
          <a:bodyPr wrap="square" rtlCol="0" anchor="ctr"/>
          <a:lstStyle/>
          <a:p>
            <a:pPr marL="0" indent="0">
              <a:buNone/>
            </a:pPr>
            <a:r>
              <a:rPr lang="en-US" sz="1150" b="1" kern="0" spc="50" dirty="0">
                <a:solidFill>
                  <a:srgbClr val="1E9E8C"/>
                </a:solidFill>
                <a:latin typeface="Calibri" pitchFamily="34" charset="0"/>
                <a:ea typeface="Calibri" pitchFamily="34" charset="-122"/>
                <a:cs typeface="Calibri" pitchFamily="34" charset="-120"/>
              </a:rPr>
              <a:t>FLIGHTSTREAM FLASHBACK</a:t>
            </a:r>
            <a:endParaRPr lang="en-US" sz="1150" dirty="0"/>
          </a:p>
        </p:txBody>
      </p:sp>
      <p:sp>
        <p:nvSpPr>
          <p:cNvPr id="36" name="Text 29"/>
          <p:cNvSpPr/>
          <p:nvPr/>
        </p:nvSpPr>
        <p:spPr>
          <a:xfrm>
            <a:off x="1417320" y="5769864"/>
            <a:ext cx="9994392" cy="484632"/>
          </a:xfrm>
          <a:prstGeom prst="rect">
            <a:avLst/>
          </a:prstGeom>
          <a:noFill/>
          <a:ln/>
        </p:spPr>
        <p:txBody>
          <a:bodyPr wrap="square" rtlCol="0" anchor="t"/>
          <a:lstStyle/>
          <a:p>
            <a:pPr marL="0" indent="0">
              <a:lnSpc>
                <a:spcPct val="105000"/>
              </a:lnSpc>
              <a:buNone/>
            </a:pPr>
            <a:r>
              <a:rPr lang="en-US" sz="1350" i="1" dirty="0">
                <a:solidFill>
                  <a:srgbClr val="17324D"/>
                </a:solidFill>
                <a:latin typeface="Calibri" pitchFamily="34" charset="0"/>
                <a:ea typeface="Calibri" pitchFamily="34" charset="-122"/>
                <a:cs typeface="Calibri" pitchFamily="34" charset="-120"/>
              </a:rPr>
              <a:t>OpenSky gives me the data. Python prepares it.</a:t>
            </a:r>
            <a:endParaRPr lang="en-US" sz="1350" dirty="0"/>
          </a:p>
        </p:txBody>
      </p:sp>
      <p:sp>
        <p:nvSpPr>
          <p:cNvPr id="37" name="Text 30"/>
          <p:cNvSpPr/>
          <p:nvPr/>
        </p:nvSpPr>
        <p:spPr>
          <a:xfrm>
            <a:off x="11274552" y="6473952"/>
            <a:ext cx="731520" cy="274320"/>
          </a:xfrm>
          <a:prstGeom prst="rect">
            <a:avLst/>
          </a:prstGeom>
          <a:noFill/>
          <a:ln/>
        </p:spPr>
        <p:txBody>
          <a:bodyPr wrap="square" rtlCol="0" anchor="ctr"/>
          <a:lstStyle/>
          <a:p>
            <a:pPr marL="0" indent="0" algn="r">
              <a:buNone/>
            </a:pPr>
            <a:r>
              <a:rPr lang="en-US" sz="900" dirty="0">
                <a:solidFill>
                  <a:srgbClr val="8A97A8"/>
                </a:solidFill>
                <a:latin typeface="Calibri" pitchFamily="34" charset="0"/>
                <a:ea typeface="Calibri" pitchFamily="34" charset="-122"/>
                <a:cs typeface="Calibri" pitchFamily="34" charset="-120"/>
              </a:rPr>
              <a:t>3 / 10</a:t>
            </a:r>
            <a:endParaRPr lang="en-US" sz="900" dirty="0"/>
          </a:p>
        </p:txBody>
      </p:sp>
      <p:sp>
        <p:nvSpPr>
          <p:cNvPr id="38" name="Text 31"/>
          <p:cNvSpPr/>
          <p:nvPr/>
        </p:nvSpPr>
        <p:spPr>
          <a:xfrm>
            <a:off x="457200" y="6473952"/>
            <a:ext cx="2743200" cy="274320"/>
          </a:xfrm>
          <a:prstGeom prst="rect">
            <a:avLst/>
          </a:prstGeom>
          <a:noFill/>
          <a:ln/>
        </p:spPr>
        <p:txBody>
          <a:bodyPr wrap="square" rtlCol="0" anchor="ctr"/>
          <a:lstStyle/>
          <a:p>
            <a:pPr marL="0" indent="0">
              <a:buNone/>
            </a:pPr>
            <a:r>
              <a:rPr lang="en-US" sz="900" kern="0" spc="200" dirty="0">
                <a:solidFill>
                  <a:srgbClr val="8A97A8"/>
                </a:solidFill>
                <a:latin typeface="Calibri" pitchFamily="34" charset="0"/>
                <a:ea typeface="Calibri" pitchFamily="34" charset="-122"/>
                <a:cs typeface="Calibri" pitchFamily="34" charset="-120"/>
              </a:rPr>
              <a:t>FLIGHTSTREAM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rtlCol="0" anchor="ctr"/>
          <a:lstStyle/>
          <a:p>
            <a:pPr marL="0" indent="0">
              <a:buNone/>
            </a:pPr>
            <a:r>
              <a:rPr lang="en-US" sz="1100" b="1" kern="0" spc="150" dirty="0">
                <a:solidFill>
                  <a:srgbClr val="1E9E8C"/>
                </a:solidFill>
                <a:latin typeface="Calibri" pitchFamily="34" charset="0"/>
                <a:ea typeface="Calibri" pitchFamily="34" charset="-122"/>
                <a:cs typeface="Calibri" pitchFamily="34" charset="-120"/>
              </a:rPr>
              <a:t>INGESTION &amp; STREAMING LAYER</a:t>
            </a:r>
            <a:endParaRPr lang="en-US" sz="1100" dirty="0"/>
          </a:p>
        </p:txBody>
      </p:sp>
      <p:sp>
        <p:nvSpPr>
          <p:cNvPr id="3" name="Text 1"/>
          <p:cNvSpPr/>
          <p:nvPr/>
        </p:nvSpPr>
        <p:spPr>
          <a:xfrm>
            <a:off x="548640" y="365760"/>
            <a:ext cx="11091672" cy="640080"/>
          </a:xfrm>
          <a:prstGeom prst="rect">
            <a:avLst/>
          </a:prstGeom>
          <a:noFill/>
          <a:ln/>
        </p:spPr>
        <p:txBody>
          <a:bodyPr wrap="square" rtlCol="0" anchor="ctr"/>
          <a:lstStyle/>
          <a:p>
            <a:pPr marL="0" indent="0" algn="l">
              <a:buNone/>
            </a:pPr>
            <a:r>
              <a:rPr lang="en-US" sz="3000" b="1" dirty="0">
                <a:solidFill>
                  <a:srgbClr val="17324D"/>
                </a:solidFill>
                <a:latin typeface="Calibri" pitchFamily="34" charset="0"/>
                <a:ea typeface="Calibri" pitchFamily="34" charset="-122"/>
                <a:cs typeface="Calibri" pitchFamily="34" charset="-120"/>
              </a:rPr>
              <a:t>Python Producer → Kafka</a:t>
            </a:r>
            <a:endParaRPr lang="en-US" sz="3000" dirty="0"/>
          </a:p>
        </p:txBody>
      </p:sp>
      <p:sp>
        <p:nvSpPr>
          <p:cNvPr id="4" name="Shape 2"/>
          <p:cNvSpPr/>
          <p:nvPr/>
        </p:nvSpPr>
        <p:spPr>
          <a:xfrm>
            <a:off x="548640" y="1051560"/>
            <a:ext cx="5212080" cy="1417320"/>
          </a:xfrm>
          <a:prstGeom prst="roundRect">
            <a:avLst>
              <a:gd name="adj" fmla="val 6452"/>
            </a:avLst>
          </a:prstGeom>
          <a:solidFill>
            <a:srgbClr val="F2F8FC"/>
          </a:solidFill>
          <a:ln w="12700">
            <a:solidFill>
              <a:srgbClr val="E7EDF3"/>
            </a:solidFill>
            <a:prstDash val="solid"/>
          </a:ln>
        </p:spPr>
      </p:sp>
      <p:sp>
        <p:nvSpPr>
          <p:cNvPr id="5" name="Shape 3"/>
          <p:cNvSpPr/>
          <p:nvPr/>
        </p:nvSpPr>
        <p:spPr>
          <a:xfrm>
            <a:off x="731520" y="1170432"/>
            <a:ext cx="402336" cy="402336"/>
          </a:xfrm>
          <a:prstGeom prst="ellipse">
            <a:avLst/>
          </a:prstGeom>
          <a:solidFill>
            <a:srgbClr val="1D6FB8"/>
          </a:solidFill>
          <a:ln/>
        </p:spPr>
      </p:sp>
      <p:pic>
        <p:nvPicPr>
          <p:cNvPr id="6" name="Image 0" descr="/home/claude/flightstream/icons/python.png"/>
          <p:cNvPicPr>
            <a:picLocks noChangeAspect="1"/>
          </p:cNvPicPr>
          <p:nvPr/>
        </p:nvPicPr>
        <p:blipFill>
          <a:blip r:embed="rId3"/>
          <a:stretch>
            <a:fillRect/>
          </a:stretch>
        </p:blipFill>
        <p:spPr>
          <a:xfrm>
            <a:off x="832104" y="1271016"/>
            <a:ext cx="201168" cy="201168"/>
          </a:xfrm>
          <a:prstGeom prst="rect">
            <a:avLst/>
          </a:prstGeom>
        </p:spPr>
      </p:pic>
      <p:sp>
        <p:nvSpPr>
          <p:cNvPr id="7" name="Text 4"/>
          <p:cNvSpPr/>
          <p:nvPr/>
        </p:nvSpPr>
        <p:spPr>
          <a:xfrm>
            <a:off x="1243584" y="1170432"/>
            <a:ext cx="4389120" cy="402336"/>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Python Producer</a:t>
            </a:r>
            <a:endParaRPr lang="en-US" sz="1400" dirty="0"/>
          </a:p>
        </p:txBody>
      </p:sp>
      <p:sp>
        <p:nvSpPr>
          <p:cNvPr id="8" name="Text 5"/>
          <p:cNvSpPr/>
          <p:nvPr/>
        </p:nvSpPr>
        <p:spPr>
          <a:xfrm>
            <a:off x="731520" y="1645920"/>
            <a:ext cx="4846320" cy="758952"/>
          </a:xfrm>
          <a:prstGeom prst="rect">
            <a:avLst/>
          </a:prstGeom>
          <a:noFill/>
          <a:ln/>
        </p:spPr>
        <p:txBody>
          <a:bodyPr wrap="square" rtlCol="0" anchor="ctr"/>
          <a:lstStyle/>
          <a:p>
            <a:pPr marL="0" indent="0">
              <a:lnSpc>
                <a:spcPct val="115000"/>
              </a:lnSpc>
              <a:buNone/>
            </a:pPr>
            <a:r>
              <a:rPr lang="en-US" sz="1200" dirty="0">
                <a:solidFill>
                  <a:srgbClr val="3A5878"/>
                </a:solidFill>
                <a:latin typeface="Calibri" pitchFamily="34" charset="0"/>
                <a:ea typeface="Calibri" pitchFamily="34" charset="-122"/>
                <a:cs typeface="Calibri" pitchFamily="34" charset="-120"/>
              </a:rPr>
              <a:t>Receives OpenSky data  →  normalizes records  →  converts to JSON  →  sends to Kafka</a:t>
            </a:r>
            <a:endParaRPr lang="en-US" sz="1200" dirty="0"/>
          </a:p>
        </p:txBody>
      </p:sp>
      <p:sp>
        <p:nvSpPr>
          <p:cNvPr id="9" name="Shape 6"/>
          <p:cNvSpPr/>
          <p:nvPr/>
        </p:nvSpPr>
        <p:spPr>
          <a:xfrm>
            <a:off x="548640" y="2606040"/>
            <a:ext cx="5212080" cy="914400"/>
          </a:xfrm>
          <a:prstGeom prst="roundRect">
            <a:avLst>
              <a:gd name="adj" fmla="val 10000"/>
            </a:avLst>
          </a:prstGeom>
          <a:solidFill>
            <a:srgbClr val="F2F8FC"/>
          </a:solidFill>
          <a:ln w="12700">
            <a:solidFill>
              <a:srgbClr val="E7EDF3"/>
            </a:solidFill>
            <a:prstDash val="solid"/>
          </a:ln>
        </p:spPr>
      </p:sp>
      <p:sp>
        <p:nvSpPr>
          <p:cNvPr id="10" name="Shape 7"/>
          <p:cNvSpPr/>
          <p:nvPr/>
        </p:nvSpPr>
        <p:spPr>
          <a:xfrm>
            <a:off x="731520" y="2724912"/>
            <a:ext cx="402336" cy="402336"/>
          </a:xfrm>
          <a:prstGeom prst="ellipse">
            <a:avLst/>
          </a:prstGeom>
          <a:solidFill>
            <a:srgbClr val="3A5878"/>
          </a:solidFill>
          <a:ln/>
        </p:spPr>
      </p:sp>
      <p:pic>
        <p:nvPicPr>
          <p:cNvPr id="11" name="Image 1" descr="/home/claude/flightstream/icons/kafka.png"/>
          <p:cNvPicPr>
            <a:picLocks noChangeAspect="1"/>
          </p:cNvPicPr>
          <p:nvPr/>
        </p:nvPicPr>
        <p:blipFill>
          <a:blip r:embed="rId4"/>
          <a:stretch>
            <a:fillRect/>
          </a:stretch>
        </p:blipFill>
        <p:spPr>
          <a:xfrm>
            <a:off x="832104" y="2825496"/>
            <a:ext cx="201168" cy="201168"/>
          </a:xfrm>
          <a:prstGeom prst="rect">
            <a:avLst/>
          </a:prstGeom>
        </p:spPr>
      </p:pic>
      <p:sp>
        <p:nvSpPr>
          <p:cNvPr id="12" name="Text 8"/>
          <p:cNvSpPr/>
          <p:nvPr/>
        </p:nvSpPr>
        <p:spPr>
          <a:xfrm>
            <a:off x="1243584" y="2724912"/>
            <a:ext cx="4389120" cy="402336"/>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Kafka</a:t>
            </a:r>
            <a:endParaRPr lang="en-US" sz="1400" dirty="0"/>
          </a:p>
        </p:txBody>
      </p:sp>
      <p:sp>
        <p:nvSpPr>
          <p:cNvPr id="13" name="Text 9"/>
          <p:cNvSpPr/>
          <p:nvPr/>
        </p:nvSpPr>
        <p:spPr>
          <a:xfrm>
            <a:off x="731520" y="3063240"/>
            <a:ext cx="4846320" cy="365760"/>
          </a:xfrm>
          <a:prstGeom prst="rect">
            <a:avLst/>
          </a:prstGeom>
          <a:noFill/>
          <a:ln/>
        </p:spPr>
        <p:txBody>
          <a:bodyPr wrap="square" rtlCol="0" anchor="ctr"/>
          <a:lstStyle/>
          <a:p>
            <a:pPr marL="0" indent="0">
              <a:buNone/>
            </a:pPr>
            <a:r>
              <a:rPr lang="en-US" sz="1200" dirty="0">
                <a:solidFill>
                  <a:srgbClr val="3A5878"/>
                </a:solidFill>
                <a:latin typeface="Calibri" pitchFamily="34" charset="0"/>
                <a:ea typeface="Calibri" pitchFamily="34" charset="-122"/>
                <a:cs typeface="Calibri" pitchFamily="34" charset="-120"/>
              </a:rPr>
              <a:t>Holds the streaming records   •   topic = </a:t>
            </a:r>
            <a:r>
              <a:rPr lang="en-US" sz="1200" dirty="0">
                <a:solidFill>
                  <a:srgbClr val="1D6FB8"/>
                </a:solidFill>
                <a:latin typeface="Consolas" pitchFamily="34" charset="0"/>
                <a:ea typeface="Consolas" pitchFamily="34" charset="-122"/>
                <a:cs typeface="Consolas" pitchFamily="34" charset="-120"/>
              </a:rPr>
              <a:t>flight_states</a:t>
            </a:r>
            <a:endParaRPr lang="en-US" sz="1200" dirty="0"/>
          </a:p>
        </p:txBody>
      </p:sp>
      <p:sp>
        <p:nvSpPr>
          <p:cNvPr id="14" name="Shape 10"/>
          <p:cNvSpPr/>
          <p:nvPr/>
        </p:nvSpPr>
        <p:spPr>
          <a:xfrm>
            <a:off x="548640" y="3703320"/>
            <a:ext cx="1417320" cy="438912"/>
          </a:xfrm>
          <a:prstGeom prst="roundRect">
            <a:avLst>
              <a:gd name="adj" fmla="val 20833"/>
            </a:avLst>
          </a:prstGeom>
          <a:solidFill>
            <a:srgbClr val="3E8ED0"/>
          </a:solidFill>
          <a:ln/>
          <a:effectLst>
            <a:outerShdw blurRad="63500" dist="25400" dir="5400000" algn="bl" rotWithShape="0">
              <a:srgbClr val="17324D">
                <a:alpha val="18000"/>
              </a:srgbClr>
            </a:outerShdw>
          </a:effectLst>
        </p:spPr>
      </p:sp>
      <p:pic>
        <p:nvPicPr>
          <p:cNvPr id="15" name="Image 2" descr="/home/claude/flightstream/icons/satellite.png"/>
          <p:cNvPicPr>
            <a:picLocks noChangeAspect="1"/>
          </p:cNvPicPr>
          <p:nvPr/>
        </p:nvPicPr>
        <p:blipFill>
          <a:blip r:embed="rId5"/>
          <a:stretch>
            <a:fillRect/>
          </a:stretch>
        </p:blipFill>
        <p:spPr>
          <a:xfrm>
            <a:off x="658368" y="3776472"/>
            <a:ext cx="292608" cy="292608"/>
          </a:xfrm>
          <a:prstGeom prst="rect">
            <a:avLst/>
          </a:prstGeom>
        </p:spPr>
      </p:pic>
      <p:sp>
        <p:nvSpPr>
          <p:cNvPr id="16" name="Text 11"/>
          <p:cNvSpPr/>
          <p:nvPr/>
        </p:nvSpPr>
        <p:spPr>
          <a:xfrm>
            <a:off x="1005840" y="3703320"/>
            <a:ext cx="850392" cy="438912"/>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OpenSky</a:t>
            </a:r>
            <a:endParaRPr lang="en-US" sz="1250" dirty="0"/>
          </a:p>
        </p:txBody>
      </p:sp>
      <p:sp>
        <p:nvSpPr>
          <p:cNvPr id="17" name="Shape 12"/>
          <p:cNvSpPr/>
          <p:nvPr/>
        </p:nvSpPr>
        <p:spPr>
          <a:xfrm>
            <a:off x="2011680" y="3849624"/>
            <a:ext cx="256032" cy="146304"/>
          </a:xfrm>
          <a:prstGeom prst="rightArrow">
            <a:avLst/>
          </a:prstGeom>
          <a:solidFill>
            <a:srgbClr val="8A97A8"/>
          </a:solidFill>
          <a:ln/>
        </p:spPr>
      </p:sp>
      <p:sp>
        <p:nvSpPr>
          <p:cNvPr id="18" name="Shape 13"/>
          <p:cNvSpPr/>
          <p:nvPr/>
        </p:nvSpPr>
        <p:spPr>
          <a:xfrm>
            <a:off x="2313432" y="3703320"/>
            <a:ext cx="1645920" cy="438912"/>
          </a:xfrm>
          <a:prstGeom prst="roundRect">
            <a:avLst>
              <a:gd name="adj" fmla="val 20833"/>
            </a:avLst>
          </a:prstGeom>
          <a:solidFill>
            <a:srgbClr val="1D6FB8"/>
          </a:solidFill>
          <a:ln/>
          <a:effectLst>
            <a:outerShdw blurRad="63500" dist="25400" dir="5400000" algn="bl" rotWithShape="0">
              <a:srgbClr val="17324D">
                <a:alpha val="18000"/>
              </a:srgbClr>
            </a:outerShdw>
          </a:effectLst>
        </p:spPr>
      </p:sp>
      <p:pic>
        <p:nvPicPr>
          <p:cNvPr id="19" name="Image 3" descr="/home/claude/flightstream/icons/python.png"/>
          <p:cNvPicPr>
            <a:picLocks noChangeAspect="1"/>
          </p:cNvPicPr>
          <p:nvPr/>
        </p:nvPicPr>
        <p:blipFill>
          <a:blip r:embed="rId3"/>
          <a:stretch>
            <a:fillRect/>
          </a:stretch>
        </p:blipFill>
        <p:spPr>
          <a:xfrm>
            <a:off x="2423160" y="3776472"/>
            <a:ext cx="292608" cy="292608"/>
          </a:xfrm>
          <a:prstGeom prst="rect">
            <a:avLst/>
          </a:prstGeom>
        </p:spPr>
      </p:pic>
      <p:sp>
        <p:nvSpPr>
          <p:cNvPr id="20" name="Text 14"/>
          <p:cNvSpPr/>
          <p:nvPr/>
        </p:nvSpPr>
        <p:spPr>
          <a:xfrm>
            <a:off x="2770632" y="3703320"/>
            <a:ext cx="1078992" cy="438912"/>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Producer</a:t>
            </a:r>
            <a:endParaRPr lang="en-US" sz="1250" dirty="0"/>
          </a:p>
        </p:txBody>
      </p:sp>
      <p:sp>
        <p:nvSpPr>
          <p:cNvPr id="21" name="Shape 15"/>
          <p:cNvSpPr/>
          <p:nvPr/>
        </p:nvSpPr>
        <p:spPr>
          <a:xfrm>
            <a:off x="4005072" y="3849624"/>
            <a:ext cx="256032" cy="146304"/>
          </a:xfrm>
          <a:prstGeom prst="rightArrow">
            <a:avLst/>
          </a:prstGeom>
          <a:solidFill>
            <a:srgbClr val="8A97A8"/>
          </a:solidFill>
          <a:ln/>
        </p:spPr>
      </p:sp>
      <p:sp>
        <p:nvSpPr>
          <p:cNvPr id="22" name="Shape 16"/>
          <p:cNvSpPr/>
          <p:nvPr/>
        </p:nvSpPr>
        <p:spPr>
          <a:xfrm>
            <a:off x="4306824" y="3703320"/>
            <a:ext cx="1463040" cy="438912"/>
          </a:xfrm>
          <a:prstGeom prst="roundRect">
            <a:avLst>
              <a:gd name="adj" fmla="val 20833"/>
            </a:avLst>
          </a:prstGeom>
          <a:solidFill>
            <a:srgbClr val="3A5878"/>
          </a:solidFill>
          <a:ln/>
          <a:effectLst>
            <a:outerShdw blurRad="63500" dist="25400" dir="5400000" algn="bl" rotWithShape="0">
              <a:srgbClr val="17324D">
                <a:alpha val="18000"/>
              </a:srgbClr>
            </a:outerShdw>
          </a:effectLst>
        </p:spPr>
      </p:sp>
      <p:pic>
        <p:nvPicPr>
          <p:cNvPr id="23" name="Image 4" descr="/home/claude/flightstream/icons/kafka.png"/>
          <p:cNvPicPr>
            <a:picLocks noChangeAspect="1"/>
          </p:cNvPicPr>
          <p:nvPr/>
        </p:nvPicPr>
        <p:blipFill>
          <a:blip r:embed="rId4"/>
          <a:stretch>
            <a:fillRect/>
          </a:stretch>
        </p:blipFill>
        <p:spPr>
          <a:xfrm>
            <a:off x="4416552" y="3776472"/>
            <a:ext cx="292608" cy="292608"/>
          </a:xfrm>
          <a:prstGeom prst="rect">
            <a:avLst/>
          </a:prstGeom>
        </p:spPr>
      </p:pic>
      <p:sp>
        <p:nvSpPr>
          <p:cNvPr id="24" name="Text 17"/>
          <p:cNvSpPr/>
          <p:nvPr/>
        </p:nvSpPr>
        <p:spPr>
          <a:xfrm>
            <a:off x="4764024" y="3703320"/>
            <a:ext cx="896112" cy="438912"/>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Kafka</a:t>
            </a:r>
            <a:endParaRPr lang="en-US" sz="1250" dirty="0"/>
          </a:p>
        </p:txBody>
      </p:sp>
      <p:sp>
        <p:nvSpPr>
          <p:cNvPr id="25" name="Text 18"/>
          <p:cNvSpPr/>
          <p:nvPr/>
        </p:nvSpPr>
        <p:spPr>
          <a:xfrm>
            <a:off x="548640" y="4297680"/>
            <a:ext cx="5212080" cy="640080"/>
          </a:xfrm>
          <a:prstGeom prst="rect">
            <a:avLst/>
          </a:prstGeom>
          <a:noFill/>
          <a:ln/>
        </p:spPr>
        <p:txBody>
          <a:bodyPr wrap="square" rtlCol="0" anchor="t"/>
          <a:lstStyle/>
          <a:p>
            <a:pPr marL="0" indent="0">
              <a:lnSpc>
                <a:spcPct val="115000"/>
              </a:lnSpc>
              <a:buNone/>
            </a:pPr>
            <a:r>
              <a:rPr lang="en-US" sz="1150" b="1" dirty="0">
                <a:solidFill>
                  <a:srgbClr val="1D6FB8"/>
                </a:solidFill>
                <a:latin typeface="Consolas" pitchFamily="34" charset="0"/>
                <a:ea typeface="Consolas" pitchFamily="34" charset="-122"/>
                <a:cs typeface="Consolas" pitchFamily="34" charset="-120"/>
              </a:rPr>
              <a:t>state_to_record(...)</a:t>
            </a:r>
            <a:r>
              <a:rPr lang="en-US" sz="1150" dirty="0">
                <a:solidFill>
                  <a:srgbClr val="3A5878"/>
                </a:solidFill>
                <a:latin typeface="Calibri" pitchFamily="34" charset="0"/>
                <a:ea typeface="Calibri" pitchFamily="34" charset="-122"/>
                <a:cs typeface="Calibri" pitchFamily="34" charset="-120"/>
              </a:rPr>
              <a:t>  normalizes each raw OpenSky state into a consistent flight record before it is sent to Kafka.</a:t>
            </a:r>
            <a:endParaRPr lang="en-US" sz="1150" dirty="0"/>
          </a:p>
        </p:txBody>
      </p:sp>
      <p:sp>
        <p:nvSpPr>
          <p:cNvPr id="26" name="Shape 19"/>
          <p:cNvSpPr/>
          <p:nvPr/>
        </p:nvSpPr>
        <p:spPr>
          <a:xfrm>
            <a:off x="6400800" y="960120"/>
            <a:ext cx="5257800" cy="310896"/>
          </a:xfrm>
          <a:prstGeom prst="roundRect">
            <a:avLst>
              <a:gd name="adj" fmla="val 17647"/>
            </a:avLst>
          </a:prstGeom>
          <a:solidFill>
            <a:srgbClr val="E7EDF3"/>
          </a:solidFill>
          <a:ln/>
        </p:spPr>
      </p:sp>
      <p:sp>
        <p:nvSpPr>
          <p:cNvPr id="27" name="Text 20"/>
          <p:cNvSpPr/>
          <p:nvPr/>
        </p:nvSpPr>
        <p:spPr>
          <a:xfrm>
            <a:off x="6510528" y="960120"/>
            <a:ext cx="5038344" cy="310896"/>
          </a:xfrm>
          <a:prstGeom prst="rect">
            <a:avLst/>
          </a:prstGeom>
          <a:noFill/>
          <a:ln/>
        </p:spPr>
        <p:txBody>
          <a:bodyPr wrap="square" rtlCol="0" anchor="ctr"/>
          <a:lstStyle/>
          <a:p>
            <a:pPr marL="0" indent="0">
              <a:buNone/>
            </a:pPr>
            <a:r>
              <a:rPr lang="en-US" sz="1150" b="1" dirty="0">
                <a:solidFill>
                  <a:srgbClr val="3A5878"/>
                </a:solidFill>
                <a:latin typeface="Calibri" pitchFamily="34" charset="0"/>
                <a:ea typeface="Calibri" pitchFamily="34" charset="-122"/>
                <a:cs typeface="Calibri" pitchFamily="34" charset="-120"/>
              </a:rPr>
              <a:t>📍 FILE   </a:t>
            </a:r>
            <a:r>
              <a:rPr lang="en-US" sz="1150" dirty="0">
                <a:solidFill>
                  <a:srgbClr val="17324D"/>
                </a:solidFill>
                <a:latin typeface="Consolas" pitchFamily="34" charset="0"/>
                <a:ea typeface="Consolas" pitchFamily="34" charset="-122"/>
                <a:cs typeface="Consolas" pitchFamily="34" charset="-120"/>
              </a:rPr>
              <a:t>producer/producer.py</a:t>
            </a:r>
            <a:endParaRPr lang="en-US" sz="1150" dirty="0"/>
          </a:p>
        </p:txBody>
      </p:sp>
      <p:sp>
        <p:nvSpPr>
          <p:cNvPr id="28" name="Shape 21"/>
          <p:cNvSpPr/>
          <p:nvPr/>
        </p:nvSpPr>
        <p:spPr>
          <a:xfrm>
            <a:off x="6400800" y="1380744"/>
            <a:ext cx="5257800" cy="1691640"/>
          </a:xfrm>
          <a:prstGeom prst="roundRect">
            <a:avLst>
              <a:gd name="adj" fmla="val 4324"/>
            </a:avLst>
          </a:prstGeom>
          <a:solidFill>
            <a:srgbClr val="0F2233"/>
          </a:solidFill>
          <a:ln/>
          <a:effectLst>
            <a:outerShdw blurRad="101600" dist="38100" dir="5400000" algn="bl" rotWithShape="0">
              <a:srgbClr val="17324D">
                <a:alpha val="25000"/>
              </a:srgbClr>
            </a:outerShdw>
          </a:effectLst>
        </p:spPr>
      </p:sp>
      <p:sp>
        <p:nvSpPr>
          <p:cNvPr id="29" name="Text 22"/>
          <p:cNvSpPr/>
          <p:nvPr/>
        </p:nvSpPr>
        <p:spPr>
          <a:xfrm>
            <a:off x="6601968" y="1490472"/>
            <a:ext cx="4855464" cy="1472184"/>
          </a:xfrm>
          <a:prstGeom prst="rect">
            <a:avLst/>
          </a:prstGeom>
          <a:noFill/>
          <a:ln/>
        </p:spPr>
        <p:txBody>
          <a:bodyPr wrap="square" rtlCol="0" anchor="t"/>
          <a:lstStyle/>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producer = KafkaProducer(</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bootstrap_servers=BROKER)</a:t>
            </a:r>
            <a:endParaRPr lang="en-US" sz="1100" dirty="0"/>
          </a:p>
          <a:p>
            <a:pPr marL="0" indent="0">
              <a:lnSpc>
                <a:spcPct val="115000"/>
              </a:lnSpc>
              <a:buNone/>
            </a:pP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record = state_to_record(state)</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payload = json.dumps(record).encode()</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producer.send("flight_states", value=payload)</a:t>
            </a:r>
            <a:endParaRPr lang="en-US" sz="1100" dirty="0"/>
          </a:p>
        </p:txBody>
      </p:sp>
      <p:sp>
        <p:nvSpPr>
          <p:cNvPr id="30" name="Shape 23"/>
          <p:cNvSpPr/>
          <p:nvPr/>
        </p:nvSpPr>
        <p:spPr>
          <a:xfrm>
            <a:off x="6400800" y="3200400"/>
            <a:ext cx="5257800" cy="822960"/>
          </a:xfrm>
          <a:prstGeom prst="roundRect">
            <a:avLst>
              <a:gd name="adj" fmla="val 8889"/>
            </a:avLst>
          </a:prstGeom>
          <a:solidFill>
            <a:srgbClr val="F2F8FC"/>
          </a:solidFill>
          <a:ln w="12700">
            <a:solidFill>
              <a:srgbClr val="E7EDF3"/>
            </a:solidFill>
            <a:prstDash val="solid"/>
          </a:ln>
        </p:spPr>
      </p:sp>
      <p:sp>
        <p:nvSpPr>
          <p:cNvPr id="31" name="Text 24"/>
          <p:cNvSpPr/>
          <p:nvPr/>
        </p:nvSpPr>
        <p:spPr>
          <a:xfrm>
            <a:off x="6565392" y="3273552"/>
            <a:ext cx="4928616" cy="676656"/>
          </a:xfrm>
          <a:prstGeom prst="rect">
            <a:avLst/>
          </a:prstGeom>
          <a:noFill/>
          <a:ln/>
        </p:spPr>
        <p:txBody>
          <a:bodyPr wrap="square" rtlCol="0" anchor="t"/>
          <a:lstStyle/>
          <a:p>
            <a:pPr marL="0" indent="0">
              <a:lnSpc>
                <a:spcPct val="105000"/>
              </a:lnSpc>
              <a:buNone/>
            </a:pPr>
            <a:r>
              <a:rPr lang="en-US" sz="1100" b="1" dirty="0">
                <a:solidFill>
                  <a:srgbClr val="1D6FB8"/>
                </a:solidFill>
                <a:latin typeface="Calibri" pitchFamily="34" charset="0"/>
                <a:ea typeface="Calibri" pitchFamily="34" charset="-122"/>
                <a:cs typeface="Calibri" pitchFamily="34" charset="-120"/>
              </a:rPr>
              <a:t>🧠 IN PLAIN ENGLISH
</a:t>
            </a:r>
            <a:r>
              <a:rPr lang="en-US" sz="1250" dirty="0">
                <a:solidFill>
                  <a:srgbClr val="17324D"/>
                </a:solidFill>
                <a:latin typeface="Calibri" pitchFamily="34" charset="0"/>
                <a:ea typeface="Calibri" pitchFamily="34" charset="-122"/>
                <a:cs typeface="Calibri" pitchFamily="34" charset="-120"/>
              </a:rPr>
              <a:t>This connects the Python producer to Kafka and sends each normalized flight record to the flight_states topic.</a:t>
            </a:r>
            <a:endParaRPr lang="en-US" sz="1100" dirty="0"/>
          </a:p>
        </p:txBody>
      </p:sp>
      <p:sp>
        <p:nvSpPr>
          <p:cNvPr id="32" name="Shape 25"/>
          <p:cNvSpPr/>
          <p:nvPr/>
        </p:nvSpPr>
        <p:spPr>
          <a:xfrm>
            <a:off x="548640" y="5440680"/>
            <a:ext cx="11091672" cy="868680"/>
          </a:xfrm>
          <a:prstGeom prst="roundRect">
            <a:avLst>
              <a:gd name="adj" fmla="val 12632"/>
            </a:avLst>
          </a:prstGeom>
          <a:solidFill>
            <a:srgbClr val="EAF6F5"/>
          </a:solidFill>
          <a:ln w="15875">
            <a:solidFill>
              <a:srgbClr val="1E9E8C"/>
            </a:solidFill>
            <a:prstDash val="solid"/>
          </a:ln>
          <a:effectLst>
            <a:outerShdw blurRad="76200" dist="25400" dir="5400000" algn="bl" rotWithShape="0">
              <a:srgbClr val="1E9E8C">
                <a:alpha val="15000"/>
              </a:srgbClr>
            </a:outerShdw>
          </a:effectLst>
        </p:spPr>
      </p:sp>
      <p:pic>
        <p:nvPicPr>
          <p:cNvPr id="33" name="Image 5" descr="/home/claude/flightstream/icons/plane.png"/>
          <p:cNvPicPr>
            <a:picLocks noChangeAspect="1"/>
          </p:cNvPicPr>
          <p:nvPr/>
        </p:nvPicPr>
        <p:blipFill>
          <a:blip r:embed="rId6"/>
          <a:stretch>
            <a:fillRect/>
          </a:stretch>
        </p:blipFill>
        <p:spPr>
          <a:xfrm rot="-2400000">
            <a:off x="749808" y="5701284"/>
            <a:ext cx="347472" cy="347472"/>
          </a:xfrm>
          <a:prstGeom prst="rect">
            <a:avLst/>
          </a:prstGeom>
        </p:spPr>
      </p:pic>
      <p:sp>
        <p:nvSpPr>
          <p:cNvPr id="34" name="Shape 26"/>
          <p:cNvSpPr/>
          <p:nvPr/>
        </p:nvSpPr>
        <p:spPr>
          <a:xfrm>
            <a:off x="694944" y="5618988"/>
            <a:ext cx="512064" cy="512064"/>
          </a:xfrm>
          <a:prstGeom prst="ellipse">
            <a:avLst/>
          </a:prstGeom>
          <a:solidFill>
            <a:srgbClr val="1E9E8C"/>
          </a:solidFill>
          <a:ln/>
        </p:spPr>
      </p:sp>
      <p:pic>
        <p:nvPicPr>
          <p:cNvPr id="35" name="Image 6" descr="/home/claude/flightstream/icons/plane.png"/>
          <p:cNvPicPr>
            <a:picLocks noChangeAspect="1"/>
          </p:cNvPicPr>
          <p:nvPr/>
        </p:nvPicPr>
        <p:blipFill>
          <a:blip r:embed="rId6"/>
          <a:stretch>
            <a:fillRect/>
          </a:stretch>
        </p:blipFill>
        <p:spPr>
          <a:xfrm rot="-2400000">
            <a:off x="822960" y="5737860"/>
            <a:ext cx="274320" cy="274320"/>
          </a:xfrm>
          <a:prstGeom prst="rect">
            <a:avLst/>
          </a:prstGeom>
        </p:spPr>
      </p:pic>
      <p:sp>
        <p:nvSpPr>
          <p:cNvPr id="36" name="Text 27"/>
          <p:cNvSpPr/>
          <p:nvPr/>
        </p:nvSpPr>
        <p:spPr>
          <a:xfrm>
            <a:off x="1417320" y="5532120"/>
            <a:ext cx="9994392" cy="256032"/>
          </a:xfrm>
          <a:prstGeom prst="rect">
            <a:avLst/>
          </a:prstGeom>
          <a:noFill/>
          <a:ln/>
        </p:spPr>
        <p:txBody>
          <a:bodyPr wrap="square" rtlCol="0" anchor="ctr"/>
          <a:lstStyle/>
          <a:p>
            <a:pPr marL="0" indent="0">
              <a:buNone/>
            </a:pPr>
            <a:r>
              <a:rPr lang="en-US" sz="1150" b="1" kern="0" spc="50" dirty="0">
                <a:solidFill>
                  <a:srgbClr val="1E9E8C"/>
                </a:solidFill>
                <a:latin typeface="Calibri" pitchFamily="34" charset="0"/>
                <a:ea typeface="Calibri" pitchFamily="34" charset="-122"/>
                <a:cs typeface="Calibri" pitchFamily="34" charset="-120"/>
              </a:rPr>
              <a:t>FLIGHTSTREAM FLASHBACK</a:t>
            </a:r>
            <a:endParaRPr lang="en-US" sz="1150" dirty="0"/>
          </a:p>
        </p:txBody>
      </p:sp>
      <p:sp>
        <p:nvSpPr>
          <p:cNvPr id="37" name="Text 28"/>
          <p:cNvSpPr/>
          <p:nvPr/>
        </p:nvSpPr>
        <p:spPr>
          <a:xfrm>
            <a:off x="1417320" y="5769864"/>
            <a:ext cx="9994392" cy="484632"/>
          </a:xfrm>
          <a:prstGeom prst="rect">
            <a:avLst/>
          </a:prstGeom>
          <a:noFill/>
          <a:ln/>
        </p:spPr>
        <p:txBody>
          <a:bodyPr wrap="square" rtlCol="0" anchor="t"/>
          <a:lstStyle/>
          <a:p>
            <a:pPr marL="0" indent="0">
              <a:lnSpc>
                <a:spcPct val="105000"/>
              </a:lnSpc>
              <a:buNone/>
            </a:pPr>
            <a:r>
              <a:rPr lang="en-US" sz="1350" i="1" dirty="0">
                <a:solidFill>
                  <a:srgbClr val="17324D"/>
                </a:solidFill>
                <a:latin typeface="Calibri" pitchFamily="34" charset="0"/>
                <a:ea typeface="Calibri" pitchFamily="34" charset="-122"/>
                <a:cs typeface="Calibri" pitchFamily="34" charset="-120"/>
              </a:rPr>
              <a:t>Python PRODUCES. Kafka HOLDS the stream.</a:t>
            </a:r>
            <a:endParaRPr lang="en-US" sz="1350" dirty="0"/>
          </a:p>
        </p:txBody>
      </p:sp>
      <p:sp>
        <p:nvSpPr>
          <p:cNvPr id="38" name="Text 29"/>
          <p:cNvSpPr/>
          <p:nvPr/>
        </p:nvSpPr>
        <p:spPr>
          <a:xfrm>
            <a:off x="11274552" y="6473952"/>
            <a:ext cx="731520" cy="274320"/>
          </a:xfrm>
          <a:prstGeom prst="rect">
            <a:avLst/>
          </a:prstGeom>
          <a:noFill/>
          <a:ln/>
        </p:spPr>
        <p:txBody>
          <a:bodyPr wrap="square" rtlCol="0" anchor="ctr"/>
          <a:lstStyle/>
          <a:p>
            <a:pPr marL="0" indent="0" algn="r">
              <a:buNone/>
            </a:pPr>
            <a:r>
              <a:rPr lang="en-US" sz="900" dirty="0">
                <a:solidFill>
                  <a:srgbClr val="8A97A8"/>
                </a:solidFill>
                <a:latin typeface="Calibri" pitchFamily="34" charset="0"/>
                <a:ea typeface="Calibri" pitchFamily="34" charset="-122"/>
                <a:cs typeface="Calibri" pitchFamily="34" charset="-120"/>
              </a:rPr>
              <a:t>4 / 10</a:t>
            </a:r>
            <a:endParaRPr lang="en-US" sz="900" dirty="0"/>
          </a:p>
        </p:txBody>
      </p:sp>
      <p:sp>
        <p:nvSpPr>
          <p:cNvPr id="39" name="Text 30"/>
          <p:cNvSpPr/>
          <p:nvPr/>
        </p:nvSpPr>
        <p:spPr>
          <a:xfrm>
            <a:off x="457200" y="6473952"/>
            <a:ext cx="2743200" cy="274320"/>
          </a:xfrm>
          <a:prstGeom prst="rect">
            <a:avLst/>
          </a:prstGeom>
          <a:noFill/>
          <a:ln/>
        </p:spPr>
        <p:txBody>
          <a:bodyPr wrap="square" rtlCol="0" anchor="ctr"/>
          <a:lstStyle/>
          <a:p>
            <a:pPr marL="0" indent="0">
              <a:buNone/>
            </a:pPr>
            <a:r>
              <a:rPr lang="en-US" sz="900" kern="0" spc="200" dirty="0">
                <a:solidFill>
                  <a:srgbClr val="8A97A8"/>
                </a:solidFill>
                <a:latin typeface="Calibri" pitchFamily="34" charset="0"/>
                <a:ea typeface="Calibri" pitchFamily="34" charset="-122"/>
                <a:cs typeface="Calibri" pitchFamily="34" charset="-120"/>
              </a:rPr>
              <a:t>FLIGHTSTREAM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rtlCol="0" anchor="ctr"/>
          <a:lstStyle/>
          <a:p>
            <a:pPr marL="0" indent="0">
              <a:buNone/>
            </a:pPr>
            <a:r>
              <a:rPr lang="en-US" sz="1100" b="1" kern="0" spc="150" dirty="0">
                <a:solidFill>
                  <a:srgbClr val="1E9E8C"/>
                </a:solidFill>
                <a:latin typeface="Calibri" pitchFamily="34" charset="0"/>
                <a:ea typeface="Calibri" pitchFamily="34" charset="-122"/>
                <a:cs typeface="Calibri" pitchFamily="34" charset="-120"/>
              </a:rPr>
              <a:t>STREAM PROCESSING LAYER</a:t>
            </a:r>
            <a:endParaRPr lang="en-US" sz="1100" dirty="0"/>
          </a:p>
        </p:txBody>
      </p:sp>
      <p:sp>
        <p:nvSpPr>
          <p:cNvPr id="3" name="Text 1"/>
          <p:cNvSpPr/>
          <p:nvPr/>
        </p:nvSpPr>
        <p:spPr>
          <a:xfrm>
            <a:off x="548640" y="365760"/>
            <a:ext cx="11091672" cy="640080"/>
          </a:xfrm>
          <a:prstGeom prst="rect">
            <a:avLst/>
          </a:prstGeom>
          <a:noFill/>
          <a:ln/>
        </p:spPr>
        <p:txBody>
          <a:bodyPr wrap="square" rtlCol="0" anchor="ctr"/>
          <a:lstStyle/>
          <a:p>
            <a:pPr marL="0" indent="0" algn="l">
              <a:buNone/>
            </a:pPr>
            <a:r>
              <a:rPr lang="en-US" sz="3000" b="1" dirty="0">
                <a:solidFill>
                  <a:srgbClr val="17324D"/>
                </a:solidFill>
                <a:latin typeface="Calibri" pitchFamily="34" charset="0"/>
                <a:ea typeface="Calibri" pitchFamily="34" charset="-122"/>
                <a:cs typeface="Calibri" pitchFamily="34" charset="-120"/>
              </a:rPr>
              <a:t>Kafka → Spark Structured Streaming</a:t>
            </a:r>
            <a:endParaRPr lang="en-US" sz="3000" dirty="0"/>
          </a:p>
        </p:txBody>
      </p:sp>
      <p:sp>
        <p:nvSpPr>
          <p:cNvPr id="4" name="Shape 2"/>
          <p:cNvSpPr/>
          <p:nvPr/>
        </p:nvSpPr>
        <p:spPr>
          <a:xfrm>
            <a:off x="548640" y="1051560"/>
            <a:ext cx="5212080" cy="868680"/>
          </a:xfrm>
          <a:prstGeom prst="roundRect">
            <a:avLst>
              <a:gd name="adj" fmla="val 10526"/>
            </a:avLst>
          </a:prstGeom>
          <a:solidFill>
            <a:srgbClr val="F2F8FC"/>
          </a:solidFill>
          <a:ln w="12700">
            <a:solidFill>
              <a:srgbClr val="E7EDF3"/>
            </a:solidFill>
            <a:prstDash val="solid"/>
          </a:ln>
        </p:spPr>
      </p:sp>
      <p:sp>
        <p:nvSpPr>
          <p:cNvPr id="5" name="Shape 3"/>
          <p:cNvSpPr/>
          <p:nvPr/>
        </p:nvSpPr>
        <p:spPr>
          <a:xfrm>
            <a:off x="731520" y="1257300"/>
            <a:ext cx="457200" cy="457200"/>
          </a:xfrm>
          <a:prstGeom prst="ellipse">
            <a:avLst/>
          </a:prstGeom>
          <a:solidFill>
            <a:srgbClr val="3A5878"/>
          </a:solidFill>
          <a:ln/>
        </p:spPr>
      </p:sp>
      <p:pic>
        <p:nvPicPr>
          <p:cNvPr id="6" name="Image 0" descr="/home/claude/flightstream/icons/kafka.png"/>
          <p:cNvPicPr>
            <a:picLocks noChangeAspect="1"/>
          </p:cNvPicPr>
          <p:nvPr/>
        </p:nvPicPr>
        <p:blipFill>
          <a:blip r:embed="rId3"/>
          <a:stretch>
            <a:fillRect/>
          </a:stretch>
        </p:blipFill>
        <p:spPr>
          <a:xfrm>
            <a:off x="850392" y="1376172"/>
            <a:ext cx="219456" cy="219456"/>
          </a:xfrm>
          <a:prstGeom prst="rect">
            <a:avLst/>
          </a:prstGeom>
        </p:spPr>
      </p:pic>
      <p:sp>
        <p:nvSpPr>
          <p:cNvPr id="7" name="Text 4"/>
          <p:cNvSpPr/>
          <p:nvPr/>
        </p:nvSpPr>
        <p:spPr>
          <a:xfrm>
            <a:off x="1325880" y="1051560"/>
            <a:ext cx="4251960" cy="868680"/>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Kafka  </a:t>
            </a:r>
            <a:r>
              <a:rPr lang="en-US" sz="1250" dirty="0">
                <a:solidFill>
                  <a:srgbClr val="3A5878"/>
                </a:solidFill>
                <a:latin typeface="Calibri" pitchFamily="34" charset="0"/>
                <a:ea typeface="Calibri" pitchFamily="34" charset="-122"/>
                <a:cs typeface="Calibri" pitchFamily="34" charset="-120"/>
              </a:rPr>
              <a:t>transports and holds the stream</a:t>
            </a:r>
            <a:endParaRPr lang="en-US" sz="1400" dirty="0"/>
          </a:p>
        </p:txBody>
      </p:sp>
      <p:sp>
        <p:nvSpPr>
          <p:cNvPr id="8" name="Shape 5"/>
          <p:cNvSpPr/>
          <p:nvPr/>
        </p:nvSpPr>
        <p:spPr>
          <a:xfrm>
            <a:off x="548640" y="2057400"/>
            <a:ext cx="5212080" cy="868680"/>
          </a:xfrm>
          <a:prstGeom prst="roundRect">
            <a:avLst>
              <a:gd name="adj" fmla="val 10526"/>
            </a:avLst>
          </a:prstGeom>
          <a:solidFill>
            <a:srgbClr val="F2F8FC"/>
          </a:solidFill>
          <a:ln w="12700">
            <a:solidFill>
              <a:srgbClr val="E7EDF3"/>
            </a:solidFill>
            <a:prstDash val="solid"/>
          </a:ln>
        </p:spPr>
      </p:sp>
      <p:sp>
        <p:nvSpPr>
          <p:cNvPr id="9" name="Shape 6"/>
          <p:cNvSpPr/>
          <p:nvPr/>
        </p:nvSpPr>
        <p:spPr>
          <a:xfrm>
            <a:off x="731520" y="2263140"/>
            <a:ext cx="457200" cy="457200"/>
          </a:xfrm>
          <a:prstGeom prst="ellipse">
            <a:avLst/>
          </a:prstGeom>
          <a:solidFill>
            <a:srgbClr val="1E9E8C"/>
          </a:solidFill>
          <a:ln/>
        </p:spPr>
      </p:sp>
      <p:pic>
        <p:nvPicPr>
          <p:cNvPr id="10" name="Image 1" descr="/home/claude/flightstream/icons/spark.png"/>
          <p:cNvPicPr>
            <a:picLocks noChangeAspect="1"/>
          </p:cNvPicPr>
          <p:nvPr/>
        </p:nvPicPr>
        <p:blipFill>
          <a:blip r:embed="rId4"/>
          <a:stretch>
            <a:fillRect/>
          </a:stretch>
        </p:blipFill>
        <p:spPr>
          <a:xfrm>
            <a:off x="850392" y="2382012"/>
            <a:ext cx="219456" cy="219456"/>
          </a:xfrm>
          <a:prstGeom prst="rect">
            <a:avLst/>
          </a:prstGeom>
        </p:spPr>
      </p:pic>
      <p:sp>
        <p:nvSpPr>
          <p:cNvPr id="11" name="Text 7"/>
          <p:cNvSpPr/>
          <p:nvPr/>
        </p:nvSpPr>
        <p:spPr>
          <a:xfrm>
            <a:off x="1325880" y="2057400"/>
            <a:ext cx="4251960" cy="868680"/>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Spark  </a:t>
            </a:r>
            <a:r>
              <a:rPr lang="en-US" sz="1250" dirty="0">
                <a:solidFill>
                  <a:srgbClr val="3A5878"/>
                </a:solidFill>
                <a:latin typeface="Calibri" pitchFamily="34" charset="0"/>
                <a:ea typeface="Calibri" pitchFamily="34" charset="-122"/>
                <a:cs typeface="Calibri" pitchFamily="34" charset="-120"/>
              </a:rPr>
              <a:t>processes and analyzes the stream</a:t>
            </a:r>
            <a:endParaRPr lang="en-US" sz="1400" dirty="0"/>
          </a:p>
        </p:txBody>
      </p:sp>
      <p:sp>
        <p:nvSpPr>
          <p:cNvPr id="12" name="Shape 8"/>
          <p:cNvSpPr/>
          <p:nvPr/>
        </p:nvSpPr>
        <p:spPr>
          <a:xfrm>
            <a:off x="548640" y="3154680"/>
            <a:ext cx="5212080" cy="1691640"/>
          </a:xfrm>
          <a:prstGeom prst="roundRect">
            <a:avLst>
              <a:gd name="adj" fmla="val 5405"/>
            </a:avLst>
          </a:prstGeom>
          <a:solidFill>
            <a:srgbClr val="EAF6F5"/>
          </a:solidFill>
          <a:ln w="12700">
            <a:solidFill>
              <a:srgbClr val="E7EDF3"/>
            </a:solidFill>
            <a:prstDash val="solid"/>
          </a:ln>
        </p:spPr>
      </p:sp>
      <p:sp>
        <p:nvSpPr>
          <p:cNvPr id="13" name="Text 9"/>
          <p:cNvSpPr/>
          <p:nvPr/>
        </p:nvSpPr>
        <p:spPr>
          <a:xfrm>
            <a:off x="777240" y="3337560"/>
            <a:ext cx="4754880" cy="1371600"/>
          </a:xfrm>
          <a:prstGeom prst="rect">
            <a:avLst/>
          </a:prstGeom>
          <a:noFill/>
          <a:ln/>
        </p:spPr>
        <p:txBody>
          <a:bodyPr wrap="square" rtlCol="0" anchor="t"/>
          <a:lstStyle/>
          <a:p>
            <a:pPr marL="0" indent="0">
              <a:lnSpc>
                <a:spcPct val="110000"/>
              </a:lnSpc>
              <a:buNone/>
            </a:pPr>
            <a:r>
              <a:rPr lang="en-US" sz="1300" b="1" dirty="0">
                <a:solidFill>
                  <a:srgbClr val="1E9E8C"/>
                </a:solidFill>
                <a:latin typeface="Consolas" pitchFamily="34" charset="0"/>
                <a:ea typeface="Consolas" pitchFamily="34" charset="-122"/>
                <a:cs typeface="Consolas" pitchFamily="34" charset="-120"/>
              </a:rPr>
              <a:t>maxOffsetsPerTrigger = 1000
</a:t>
            </a:r>
            <a:r>
              <a:rPr lang="en-US" sz="1250" dirty="0">
                <a:solidFill>
                  <a:srgbClr val="3A5878"/>
                </a:solidFill>
                <a:latin typeface="Calibri" pitchFamily="34" charset="0"/>
                <a:ea typeface="Calibri" pitchFamily="34" charset="-122"/>
                <a:cs typeface="Calibri" pitchFamily="34" charset="-120"/>
              </a:rPr>
              <a:t>This limits how many Kafka records Spark processes in one trigger — keeping each streaming batch manageable.
</a:t>
            </a:r>
            <a:r>
              <a:rPr lang="en-US" sz="1300" b="1" dirty="0">
                <a:solidFill>
                  <a:srgbClr val="1E9E8C"/>
                </a:solidFill>
                <a:latin typeface="Consolas" pitchFamily="34" charset="0"/>
                <a:ea typeface="Consolas" pitchFamily="34" charset="-122"/>
                <a:cs typeface="Consolas" pitchFamily="34" charset="-120"/>
              </a:rPr>
              <a:t>startingOffsets = earliest</a:t>
            </a:r>
            <a:endParaRPr lang="en-US" sz="1300" dirty="0"/>
          </a:p>
        </p:txBody>
      </p:sp>
      <p:sp>
        <p:nvSpPr>
          <p:cNvPr id="14" name="Shape 10"/>
          <p:cNvSpPr/>
          <p:nvPr/>
        </p:nvSpPr>
        <p:spPr>
          <a:xfrm>
            <a:off x="6400800" y="960120"/>
            <a:ext cx="5257800" cy="310896"/>
          </a:xfrm>
          <a:prstGeom prst="roundRect">
            <a:avLst>
              <a:gd name="adj" fmla="val 17647"/>
            </a:avLst>
          </a:prstGeom>
          <a:solidFill>
            <a:srgbClr val="E7EDF3"/>
          </a:solidFill>
          <a:ln/>
        </p:spPr>
      </p:sp>
      <p:sp>
        <p:nvSpPr>
          <p:cNvPr id="15" name="Text 11"/>
          <p:cNvSpPr/>
          <p:nvPr/>
        </p:nvSpPr>
        <p:spPr>
          <a:xfrm>
            <a:off x="6510528" y="960120"/>
            <a:ext cx="5038344" cy="310896"/>
          </a:xfrm>
          <a:prstGeom prst="rect">
            <a:avLst/>
          </a:prstGeom>
          <a:noFill/>
          <a:ln/>
        </p:spPr>
        <p:txBody>
          <a:bodyPr wrap="square" rtlCol="0" anchor="ctr"/>
          <a:lstStyle/>
          <a:p>
            <a:pPr marL="0" indent="0">
              <a:buNone/>
            </a:pPr>
            <a:r>
              <a:rPr lang="en-US" sz="1150" b="1" dirty="0">
                <a:solidFill>
                  <a:srgbClr val="3A5878"/>
                </a:solidFill>
                <a:latin typeface="Calibri" pitchFamily="34" charset="0"/>
                <a:ea typeface="Calibri" pitchFamily="34" charset="-122"/>
                <a:cs typeface="Calibri" pitchFamily="34" charset="-120"/>
              </a:rPr>
              <a:t>📍 FILE   </a:t>
            </a:r>
            <a:r>
              <a:rPr lang="en-US" sz="1150" dirty="0">
                <a:solidFill>
                  <a:srgbClr val="17324D"/>
                </a:solidFill>
                <a:latin typeface="Consolas" pitchFamily="34" charset="0"/>
                <a:ea typeface="Consolas" pitchFamily="34" charset="-122"/>
                <a:cs typeface="Consolas" pitchFamily="34" charset="-120"/>
              </a:rPr>
              <a:t>spark/src/main/scala/FlightStreaming.scala</a:t>
            </a:r>
            <a:endParaRPr lang="en-US" sz="1150" dirty="0"/>
          </a:p>
        </p:txBody>
      </p:sp>
      <p:sp>
        <p:nvSpPr>
          <p:cNvPr id="16" name="Shape 12"/>
          <p:cNvSpPr/>
          <p:nvPr/>
        </p:nvSpPr>
        <p:spPr>
          <a:xfrm>
            <a:off x="6400800" y="1380744"/>
            <a:ext cx="5257800" cy="1600200"/>
          </a:xfrm>
          <a:prstGeom prst="roundRect">
            <a:avLst>
              <a:gd name="adj" fmla="val 4571"/>
            </a:avLst>
          </a:prstGeom>
          <a:solidFill>
            <a:srgbClr val="0F2233"/>
          </a:solidFill>
          <a:ln/>
          <a:effectLst>
            <a:outerShdw blurRad="101600" dist="38100" dir="5400000" algn="bl" rotWithShape="0">
              <a:srgbClr val="17324D">
                <a:alpha val="25000"/>
              </a:srgbClr>
            </a:outerShdw>
          </a:effectLst>
        </p:spPr>
      </p:sp>
      <p:sp>
        <p:nvSpPr>
          <p:cNvPr id="17" name="Text 13"/>
          <p:cNvSpPr/>
          <p:nvPr/>
        </p:nvSpPr>
        <p:spPr>
          <a:xfrm>
            <a:off x="6601968" y="1490472"/>
            <a:ext cx="4855464" cy="1380744"/>
          </a:xfrm>
          <a:prstGeom prst="rect">
            <a:avLst/>
          </a:prstGeom>
          <a:noFill/>
          <a:ln/>
        </p:spPr>
        <p:txBody>
          <a:bodyPr wrap="square" rtlCol="0" anchor="t"/>
          <a:lstStyle/>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val stream = spark.readStream</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.format("kafka")</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.option("subscribe", "flight_states")</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.option("startingOffsets", "earliest")</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.option("maxOffsetsPerTrigger", 1000)</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.load()</a:t>
            </a:r>
            <a:endParaRPr lang="en-US" sz="1100" dirty="0"/>
          </a:p>
        </p:txBody>
      </p:sp>
      <p:sp>
        <p:nvSpPr>
          <p:cNvPr id="18" name="Shape 14"/>
          <p:cNvSpPr/>
          <p:nvPr/>
        </p:nvSpPr>
        <p:spPr>
          <a:xfrm>
            <a:off x="6400800" y="3108960"/>
            <a:ext cx="5257800" cy="822960"/>
          </a:xfrm>
          <a:prstGeom prst="roundRect">
            <a:avLst>
              <a:gd name="adj" fmla="val 8889"/>
            </a:avLst>
          </a:prstGeom>
          <a:solidFill>
            <a:srgbClr val="F2F8FC"/>
          </a:solidFill>
          <a:ln w="12700">
            <a:solidFill>
              <a:srgbClr val="E7EDF3"/>
            </a:solidFill>
            <a:prstDash val="solid"/>
          </a:ln>
        </p:spPr>
      </p:sp>
      <p:sp>
        <p:nvSpPr>
          <p:cNvPr id="19" name="Text 15"/>
          <p:cNvSpPr/>
          <p:nvPr/>
        </p:nvSpPr>
        <p:spPr>
          <a:xfrm>
            <a:off x="6565392" y="3182112"/>
            <a:ext cx="4928616" cy="676656"/>
          </a:xfrm>
          <a:prstGeom prst="rect">
            <a:avLst/>
          </a:prstGeom>
          <a:noFill/>
          <a:ln/>
        </p:spPr>
        <p:txBody>
          <a:bodyPr wrap="square" rtlCol="0" anchor="t"/>
          <a:lstStyle/>
          <a:p>
            <a:pPr marL="0" indent="0">
              <a:lnSpc>
                <a:spcPct val="105000"/>
              </a:lnSpc>
              <a:buNone/>
            </a:pPr>
            <a:r>
              <a:rPr lang="en-US" sz="1100" b="1" dirty="0">
                <a:solidFill>
                  <a:srgbClr val="1D6FB8"/>
                </a:solidFill>
                <a:latin typeface="Calibri" pitchFamily="34" charset="0"/>
                <a:ea typeface="Calibri" pitchFamily="34" charset="-122"/>
                <a:cs typeface="Calibri" pitchFamily="34" charset="-120"/>
              </a:rPr>
              <a:t>🧠 IN PLAIN ENGLISH
</a:t>
            </a:r>
            <a:r>
              <a:rPr lang="en-US" sz="1250" dirty="0">
                <a:solidFill>
                  <a:srgbClr val="17324D"/>
                </a:solidFill>
                <a:latin typeface="Calibri" pitchFamily="34" charset="0"/>
                <a:ea typeface="Calibri" pitchFamily="34" charset="-122"/>
                <a:cs typeface="Calibri" pitchFamily="34" charset="-120"/>
              </a:rPr>
              <a:t>Spark continuously reads flight records from the Kafka topic and processes the data in small streaming batches.</a:t>
            </a:r>
            <a:endParaRPr lang="en-US" sz="1100" dirty="0"/>
          </a:p>
        </p:txBody>
      </p:sp>
      <p:sp>
        <p:nvSpPr>
          <p:cNvPr id="20" name="Shape 16"/>
          <p:cNvSpPr/>
          <p:nvPr/>
        </p:nvSpPr>
        <p:spPr>
          <a:xfrm>
            <a:off x="548640" y="5440680"/>
            <a:ext cx="11091672" cy="868680"/>
          </a:xfrm>
          <a:prstGeom prst="roundRect">
            <a:avLst>
              <a:gd name="adj" fmla="val 12632"/>
            </a:avLst>
          </a:prstGeom>
          <a:solidFill>
            <a:srgbClr val="EAF6F5"/>
          </a:solidFill>
          <a:ln w="15875">
            <a:solidFill>
              <a:srgbClr val="1E9E8C"/>
            </a:solidFill>
            <a:prstDash val="solid"/>
          </a:ln>
          <a:effectLst>
            <a:outerShdw blurRad="76200" dist="25400" dir="5400000" algn="bl" rotWithShape="0">
              <a:srgbClr val="1E9E8C">
                <a:alpha val="15000"/>
              </a:srgbClr>
            </a:outerShdw>
          </a:effectLst>
        </p:spPr>
      </p:sp>
      <p:pic>
        <p:nvPicPr>
          <p:cNvPr id="21" name="Image 2" descr="/home/claude/flightstream/icons/plane.png"/>
          <p:cNvPicPr>
            <a:picLocks noChangeAspect="1"/>
          </p:cNvPicPr>
          <p:nvPr/>
        </p:nvPicPr>
        <p:blipFill>
          <a:blip r:embed="rId5"/>
          <a:stretch>
            <a:fillRect/>
          </a:stretch>
        </p:blipFill>
        <p:spPr>
          <a:xfrm rot="-2400000">
            <a:off x="749808" y="5701284"/>
            <a:ext cx="347472" cy="347472"/>
          </a:xfrm>
          <a:prstGeom prst="rect">
            <a:avLst/>
          </a:prstGeom>
        </p:spPr>
      </p:pic>
      <p:sp>
        <p:nvSpPr>
          <p:cNvPr id="22" name="Shape 17"/>
          <p:cNvSpPr/>
          <p:nvPr/>
        </p:nvSpPr>
        <p:spPr>
          <a:xfrm>
            <a:off x="694944" y="5618988"/>
            <a:ext cx="512064" cy="512064"/>
          </a:xfrm>
          <a:prstGeom prst="ellipse">
            <a:avLst/>
          </a:prstGeom>
          <a:solidFill>
            <a:srgbClr val="1E9E8C"/>
          </a:solidFill>
          <a:ln/>
        </p:spPr>
      </p:sp>
      <p:pic>
        <p:nvPicPr>
          <p:cNvPr id="23" name="Image 3" descr="/home/claude/flightstream/icons/plane.png"/>
          <p:cNvPicPr>
            <a:picLocks noChangeAspect="1"/>
          </p:cNvPicPr>
          <p:nvPr/>
        </p:nvPicPr>
        <p:blipFill>
          <a:blip r:embed="rId5"/>
          <a:stretch>
            <a:fillRect/>
          </a:stretch>
        </p:blipFill>
        <p:spPr>
          <a:xfrm rot="-2400000">
            <a:off x="822960" y="5737860"/>
            <a:ext cx="274320" cy="274320"/>
          </a:xfrm>
          <a:prstGeom prst="rect">
            <a:avLst/>
          </a:prstGeom>
        </p:spPr>
      </p:pic>
      <p:sp>
        <p:nvSpPr>
          <p:cNvPr id="24" name="Text 18"/>
          <p:cNvSpPr/>
          <p:nvPr/>
        </p:nvSpPr>
        <p:spPr>
          <a:xfrm>
            <a:off x="1417320" y="5532120"/>
            <a:ext cx="9994392" cy="256032"/>
          </a:xfrm>
          <a:prstGeom prst="rect">
            <a:avLst/>
          </a:prstGeom>
          <a:noFill/>
          <a:ln/>
        </p:spPr>
        <p:txBody>
          <a:bodyPr wrap="square" rtlCol="0" anchor="ctr"/>
          <a:lstStyle/>
          <a:p>
            <a:pPr marL="0" indent="0">
              <a:buNone/>
            </a:pPr>
            <a:r>
              <a:rPr lang="en-US" sz="1150" b="1" kern="0" spc="50" dirty="0">
                <a:solidFill>
                  <a:srgbClr val="1E9E8C"/>
                </a:solidFill>
                <a:latin typeface="Calibri" pitchFamily="34" charset="0"/>
                <a:ea typeface="Calibri" pitchFamily="34" charset="-122"/>
                <a:cs typeface="Calibri" pitchFamily="34" charset="-120"/>
              </a:rPr>
              <a:t>FLIGHTSTREAM FLASHBACK</a:t>
            </a:r>
            <a:endParaRPr lang="en-US" sz="1150" dirty="0"/>
          </a:p>
        </p:txBody>
      </p:sp>
      <p:sp>
        <p:nvSpPr>
          <p:cNvPr id="25" name="Text 19"/>
          <p:cNvSpPr/>
          <p:nvPr/>
        </p:nvSpPr>
        <p:spPr>
          <a:xfrm>
            <a:off x="1417320" y="5769864"/>
            <a:ext cx="9994392" cy="484632"/>
          </a:xfrm>
          <a:prstGeom prst="rect">
            <a:avLst/>
          </a:prstGeom>
          <a:noFill/>
          <a:ln/>
        </p:spPr>
        <p:txBody>
          <a:bodyPr wrap="square" rtlCol="0" anchor="t"/>
          <a:lstStyle/>
          <a:p>
            <a:pPr marL="0" indent="0">
              <a:lnSpc>
                <a:spcPct val="105000"/>
              </a:lnSpc>
              <a:buNone/>
            </a:pPr>
            <a:r>
              <a:rPr lang="en-US" sz="1350" i="1" dirty="0">
                <a:solidFill>
                  <a:srgbClr val="17324D"/>
                </a:solidFill>
                <a:latin typeface="Calibri" pitchFamily="34" charset="0"/>
                <a:ea typeface="Calibri" pitchFamily="34" charset="-122"/>
                <a:cs typeface="Calibri" pitchFamily="34" charset="-120"/>
              </a:rPr>
              <a:t>Kafka = stream. Spark = process.</a:t>
            </a:r>
            <a:endParaRPr lang="en-US" sz="1350" dirty="0"/>
          </a:p>
        </p:txBody>
      </p:sp>
      <p:sp>
        <p:nvSpPr>
          <p:cNvPr id="26" name="Text 20"/>
          <p:cNvSpPr/>
          <p:nvPr/>
        </p:nvSpPr>
        <p:spPr>
          <a:xfrm>
            <a:off x="11274552" y="6473952"/>
            <a:ext cx="731520" cy="274320"/>
          </a:xfrm>
          <a:prstGeom prst="rect">
            <a:avLst/>
          </a:prstGeom>
          <a:noFill/>
          <a:ln/>
        </p:spPr>
        <p:txBody>
          <a:bodyPr wrap="square" rtlCol="0" anchor="ctr"/>
          <a:lstStyle/>
          <a:p>
            <a:pPr marL="0" indent="0" algn="r">
              <a:buNone/>
            </a:pPr>
            <a:r>
              <a:rPr lang="en-US" sz="900" dirty="0">
                <a:solidFill>
                  <a:srgbClr val="8A97A8"/>
                </a:solidFill>
                <a:latin typeface="Calibri" pitchFamily="34" charset="0"/>
                <a:ea typeface="Calibri" pitchFamily="34" charset="-122"/>
                <a:cs typeface="Calibri" pitchFamily="34" charset="-120"/>
              </a:rPr>
              <a:t>5 / 10</a:t>
            </a:r>
            <a:endParaRPr lang="en-US" sz="900" dirty="0"/>
          </a:p>
        </p:txBody>
      </p:sp>
      <p:sp>
        <p:nvSpPr>
          <p:cNvPr id="27" name="Text 21"/>
          <p:cNvSpPr/>
          <p:nvPr/>
        </p:nvSpPr>
        <p:spPr>
          <a:xfrm>
            <a:off x="457200" y="6473952"/>
            <a:ext cx="2743200" cy="274320"/>
          </a:xfrm>
          <a:prstGeom prst="rect">
            <a:avLst/>
          </a:prstGeom>
          <a:noFill/>
          <a:ln/>
        </p:spPr>
        <p:txBody>
          <a:bodyPr wrap="square" rtlCol="0" anchor="ctr"/>
          <a:lstStyle/>
          <a:p>
            <a:pPr marL="0" indent="0">
              <a:buNone/>
            </a:pPr>
            <a:r>
              <a:rPr lang="en-US" sz="900" kern="0" spc="200" dirty="0">
                <a:solidFill>
                  <a:srgbClr val="8A97A8"/>
                </a:solidFill>
                <a:latin typeface="Calibri" pitchFamily="34" charset="0"/>
                <a:ea typeface="Calibri" pitchFamily="34" charset="-122"/>
                <a:cs typeface="Calibri" pitchFamily="34" charset="-120"/>
              </a:rPr>
              <a:t>FLIGHTSTREAM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rtlCol="0" anchor="ctr"/>
          <a:lstStyle/>
          <a:p>
            <a:pPr marL="0" indent="0">
              <a:buNone/>
            </a:pPr>
            <a:r>
              <a:rPr lang="en-US" sz="1100" b="1" kern="0" spc="150" dirty="0">
                <a:solidFill>
                  <a:srgbClr val="1E9E8C"/>
                </a:solidFill>
                <a:latin typeface="Calibri" pitchFamily="34" charset="0"/>
                <a:ea typeface="Calibri" pitchFamily="34" charset="-122"/>
                <a:cs typeface="Calibri" pitchFamily="34" charset="-120"/>
              </a:rPr>
              <a:t>DATA QUALITY</a:t>
            </a:r>
            <a:endParaRPr lang="en-US" sz="1100" dirty="0"/>
          </a:p>
        </p:txBody>
      </p:sp>
      <p:sp>
        <p:nvSpPr>
          <p:cNvPr id="3" name="Text 1"/>
          <p:cNvSpPr/>
          <p:nvPr/>
        </p:nvSpPr>
        <p:spPr>
          <a:xfrm>
            <a:off x="548640" y="365760"/>
            <a:ext cx="11091672" cy="640080"/>
          </a:xfrm>
          <a:prstGeom prst="rect">
            <a:avLst/>
          </a:prstGeom>
          <a:noFill/>
          <a:ln/>
        </p:spPr>
        <p:txBody>
          <a:bodyPr wrap="square" rtlCol="0" anchor="ctr"/>
          <a:lstStyle/>
          <a:p>
            <a:pPr marL="0" indent="0" algn="l">
              <a:buNone/>
            </a:pPr>
            <a:r>
              <a:rPr lang="en-US" sz="3000" b="1" dirty="0">
                <a:solidFill>
                  <a:srgbClr val="17324D"/>
                </a:solidFill>
                <a:latin typeface="Calibri" pitchFamily="34" charset="0"/>
                <a:ea typeface="Calibri" pitchFamily="34" charset="-122"/>
                <a:cs typeface="Calibri" pitchFamily="34" charset="-120"/>
              </a:rPr>
              <a:t>Cleaning the Flight Data</a:t>
            </a:r>
            <a:endParaRPr lang="en-US" sz="3000" dirty="0"/>
          </a:p>
        </p:txBody>
      </p:sp>
      <p:sp>
        <p:nvSpPr>
          <p:cNvPr id="4" name="Text 2"/>
          <p:cNvSpPr/>
          <p:nvPr/>
        </p:nvSpPr>
        <p:spPr>
          <a:xfrm>
            <a:off x="548640" y="1005840"/>
            <a:ext cx="5212080" cy="502920"/>
          </a:xfrm>
          <a:prstGeom prst="rect">
            <a:avLst/>
          </a:prstGeom>
          <a:noFill/>
          <a:ln/>
        </p:spPr>
        <p:txBody>
          <a:bodyPr wrap="square" rtlCol="0" anchor="ctr"/>
          <a:lstStyle/>
          <a:p>
            <a:pPr marL="0" indent="0">
              <a:buNone/>
            </a:pPr>
            <a:r>
              <a:rPr lang="en-US" sz="1300" i="1" dirty="0">
                <a:solidFill>
                  <a:srgbClr val="3A5878"/>
                </a:solidFill>
                <a:latin typeface="Calibri" pitchFamily="34" charset="0"/>
                <a:ea typeface="Calibri" pitchFamily="34" charset="-122"/>
                <a:cs typeface="Calibri" pitchFamily="34" charset="-120"/>
              </a:rPr>
              <a:t>Raw API data can't automatically be trusted by the ML model — it's validated and standardized first.</a:t>
            </a:r>
            <a:endParaRPr lang="en-US" sz="1300" dirty="0"/>
          </a:p>
        </p:txBody>
      </p:sp>
      <p:pic>
        <p:nvPicPr>
          <p:cNvPr id="5" name="Image 0" descr="/home/claude/flightstream/icons/check.png"/>
          <p:cNvPicPr>
            <a:picLocks noChangeAspect="1"/>
          </p:cNvPicPr>
          <p:nvPr/>
        </p:nvPicPr>
        <p:blipFill>
          <a:blip r:embed="rId3"/>
          <a:stretch>
            <a:fillRect/>
          </a:stretch>
        </p:blipFill>
        <p:spPr>
          <a:xfrm>
            <a:off x="548640" y="1645920"/>
            <a:ext cx="201168" cy="201168"/>
          </a:xfrm>
          <a:prstGeom prst="rect">
            <a:avLst/>
          </a:prstGeom>
        </p:spPr>
      </p:pic>
      <p:sp>
        <p:nvSpPr>
          <p:cNvPr id="6" name="Shape 3"/>
          <p:cNvSpPr/>
          <p:nvPr/>
        </p:nvSpPr>
        <p:spPr>
          <a:xfrm>
            <a:off x="530352" y="1627632"/>
            <a:ext cx="237744" cy="237744"/>
          </a:xfrm>
          <a:prstGeom prst="ellipse">
            <a:avLst/>
          </a:prstGeom>
          <a:solidFill>
            <a:srgbClr val="1E9E8C"/>
          </a:solidFill>
          <a:ln/>
        </p:spPr>
      </p:sp>
      <p:pic>
        <p:nvPicPr>
          <p:cNvPr id="7" name="Image 1" descr="/home/claude/flightstream/icons/check.png"/>
          <p:cNvPicPr>
            <a:picLocks noChangeAspect="1"/>
          </p:cNvPicPr>
          <p:nvPr/>
        </p:nvPicPr>
        <p:blipFill>
          <a:blip r:embed="rId3"/>
          <a:stretch>
            <a:fillRect/>
          </a:stretch>
        </p:blipFill>
        <p:spPr>
          <a:xfrm>
            <a:off x="585216" y="1664208"/>
            <a:ext cx="137160" cy="137160"/>
          </a:xfrm>
          <a:prstGeom prst="rect">
            <a:avLst/>
          </a:prstGeom>
        </p:spPr>
      </p:pic>
      <p:sp>
        <p:nvSpPr>
          <p:cNvPr id="8" name="Text 4"/>
          <p:cNvSpPr/>
          <p:nvPr/>
        </p:nvSpPr>
        <p:spPr>
          <a:xfrm>
            <a:off x="896112" y="1591056"/>
            <a:ext cx="4846320" cy="310896"/>
          </a:xfrm>
          <a:prstGeom prst="rect">
            <a:avLst/>
          </a:prstGeom>
          <a:noFill/>
          <a:ln/>
        </p:spPr>
        <p:txBody>
          <a:bodyPr wrap="square" rtlCol="0" anchor="ctr"/>
          <a:lstStyle/>
          <a:p>
            <a:pPr marL="0" indent="0">
              <a:buNone/>
            </a:pPr>
            <a:r>
              <a:rPr lang="en-US" sz="1250" dirty="0">
                <a:solidFill>
                  <a:srgbClr val="3A5878"/>
                </a:solidFill>
                <a:latin typeface="Calibri" pitchFamily="34" charset="0"/>
                <a:ea typeface="Calibri" pitchFamily="34" charset="-122"/>
                <a:cs typeface="Calibri" pitchFamily="34" charset="-120"/>
              </a:rPr>
              <a:t>icao24 must not be null</a:t>
            </a:r>
            <a:endParaRPr lang="en-US" sz="1250" dirty="0"/>
          </a:p>
        </p:txBody>
      </p:sp>
      <p:pic>
        <p:nvPicPr>
          <p:cNvPr id="9" name="Image 2" descr="/home/claude/flightstream/icons/check.png"/>
          <p:cNvPicPr>
            <a:picLocks noChangeAspect="1"/>
          </p:cNvPicPr>
          <p:nvPr/>
        </p:nvPicPr>
        <p:blipFill>
          <a:blip r:embed="rId3"/>
          <a:stretch>
            <a:fillRect/>
          </a:stretch>
        </p:blipFill>
        <p:spPr>
          <a:xfrm>
            <a:off x="548640" y="2048256"/>
            <a:ext cx="201168" cy="201168"/>
          </a:xfrm>
          <a:prstGeom prst="rect">
            <a:avLst/>
          </a:prstGeom>
        </p:spPr>
      </p:pic>
      <p:sp>
        <p:nvSpPr>
          <p:cNvPr id="10" name="Shape 5"/>
          <p:cNvSpPr/>
          <p:nvPr/>
        </p:nvSpPr>
        <p:spPr>
          <a:xfrm>
            <a:off x="530352" y="2029968"/>
            <a:ext cx="237744" cy="237744"/>
          </a:xfrm>
          <a:prstGeom prst="ellipse">
            <a:avLst/>
          </a:prstGeom>
          <a:solidFill>
            <a:srgbClr val="1E9E8C"/>
          </a:solidFill>
          <a:ln/>
        </p:spPr>
      </p:sp>
      <p:pic>
        <p:nvPicPr>
          <p:cNvPr id="11" name="Image 3" descr="/home/claude/flightstream/icons/check.png"/>
          <p:cNvPicPr>
            <a:picLocks noChangeAspect="1"/>
          </p:cNvPicPr>
          <p:nvPr/>
        </p:nvPicPr>
        <p:blipFill>
          <a:blip r:embed="rId3"/>
          <a:stretch>
            <a:fillRect/>
          </a:stretch>
        </p:blipFill>
        <p:spPr>
          <a:xfrm>
            <a:off x="585216" y="2066544"/>
            <a:ext cx="137160" cy="137160"/>
          </a:xfrm>
          <a:prstGeom prst="rect">
            <a:avLst/>
          </a:prstGeom>
        </p:spPr>
      </p:pic>
      <p:sp>
        <p:nvSpPr>
          <p:cNvPr id="12" name="Text 6"/>
          <p:cNvSpPr/>
          <p:nvPr/>
        </p:nvSpPr>
        <p:spPr>
          <a:xfrm>
            <a:off x="896112" y="1993392"/>
            <a:ext cx="4846320" cy="310896"/>
          </a:xfrm>
          <a:prstGeom prst="rect">
            <a:avLst/>
          </a:prstGeom>
          <a:noFill/>
          <a:ln/>
        </p:spPr>
        <p:txBody>
          <a:bodyPr wrap="square" rtlCol="0" anchor="ctr"/>
          <a:lstStyle/>
          <a:p>
            <a:pPr marL="0" indent="0">
              <a:buNone/>
            </a:pPr>
            <a:r>
              <a:rPr lang="en-US" sz="1250" dirty="0">
                <a:solidFill>
                  <a:srgbClr val="3A5878"/>
                </a:solidFill>
                <a:latin typeface="Calibri" pitchFamily="34" charset="0"/>
                <a:ea typeface="Calibri" pitchFamily="34" charset="-122"/>
                <a:cs typeface="Calibri" pitchFamily="34" charset="-120"/>
              </a:rPr>
              <a:t>latitude between -90 and 90</a:t>
            </a:r>
            <a:endParaRPr lang="en-US" sz="1250" dirty="0"/>
          </a:p>
        </p:txBody>
      </p:sp>
      <p:pic>
        <p:nvPicPr>
          <p:cNvPr id="13" name="Image 4" descr="/home/claude/flightstream/icons/check.png"/>
          <p:cNvPicPr>
            <a:picLocks noChangeAspect="1"/>
          </p:cNvPicPr>
          <p:nvPr/>
        </p:nvPicPr>
        <p:blipFill>
          <a:blip r:embed="rId3"/>
          <a:stretch>
            <a:fillRect/>
          </a:stretch>
        </p:blipFill>
        <p:spPr>
          <a:xfrm>
            <a:off x="548640" y="2450592"/>
            <a:ext cx="201168" cy="201168"/>
          </a:xfrm>
          <a:prstGeom prst="rect">
            <a:avLst/>
          </a:prstGeom>
        </p:spPr>
      </p:pic>
      <p:sp>
        <p:nvSpPr>
          <p:cNvPr id="14" name="Shape 7"/>
          <p:cNvSpPr/>
          <p:nvPr/>
        </p:nvSpPr>
        <p:spPr>
          <a:xfrm>
            <a:off x="530352" y="2432304"/>
            <a:ext cx="237744" cy="237744"/>
          </a:xfrm>
          <a:prstGeom prst="ellipse">
            <a:avLst/>
          </a:prstGeom>
          <a:solidFill>
            <a:srgbClr val="1E9E8C"/>
          </a:solidFill>
          <a:ln/>
        </p:spPr>
      </p:sp>
      <p:pic>
        <p:nvPicPr>
          <p:cNvPr id="15" name="Image 5" descr="/home/claude/flightstream/icons/check.png"/>
          <p:cNvPicPr>
            <a:picLocks noChangeAspect="1"/>
          </p:cNvPicPr>
          <p:nvPr/>
        </p:nvPicPr>
        <p:blipFill>
          <a:blip r:embed="rId3"/>
          <a:stretch>
            <a:fillRect/>
          </a:stretch>
        </p:blipFill>
        <p:spPr>
          <a:xfrm>
            <a:off x="585216" y="2468880"/>
            <a:ext cx="137160" cy="137160"/>
          </a:xfrm>
          <a:prstGeom prst="rect">
            <a:avLst/>
          </a:prstGeom>
        </p:spPr>
      </p:pic>
      <p:sp>
        <p:nvSpPr>
          <p:cNvPr id="16" name="Text 8"/>
          <p:cNvSpPr/>
          <p:nvPr/>
        </p:nvSpPr>
        <p:spPr>
          <a:xfrm>
            <a:off x="896112" y="2395728"/>
            <a:ext cx="4846320" cy="310896"/>
          </a:xfrm>
          <a:prstGeom prst="rect">
            <a:avLst/>
          </a:prstGeom>
          <a:noFill/>
          <a:ln/>
        </p:spPr>
        <p:txBody>
          <a:bodyPr wrap="square" rtlCol="0" anchor="ctr"/>
          <a:lstStyle/>
          <a:p>
            <a:pPr marL="0" indent="0">
              <a:buNone/>
            </a:pPr>
            <a:r>
              <a:rPr lang="en-US" sz="1250" dirty="0">
                <a:solidFill>
                  <a:srgbClr val="3A5878"/>
                </a:solidFill>
                <a:latin typeface="Calibri" pitchFamily="34" charset="0"/>
                <a:ea typeface="Calibri" pitchFamily="34" charset="-122"/>
                <a:cs typeface="Calibri" pitchFamily="34" charset="-120"/>
              </a:rPr>
              <a:t>longitude between -180 and 180</a:t>
            </a:r>
            <a:endParaRPr lang="en-US" sz="1250" dirty="0"/>
          </a:p>
        </p:txBody>
      </p:sp>
      <p:pic>
        <p:nvPicPr>
          <p:cNvPr id="17" name="Image 6" descr="/home/claude/flightstream/icons/check.png"/>
          <p:cNvPicPr>
            <a:picLocks noChangeAspect="1"/>
          </p:cNvPicPr>
          <p:nvPr/>
        </p:nvPicPr>
        <p:blipFill>
          <a:blip r:embed="rId3"/>
          <a:stretch>
            <a:fillRect/>
          </a:stretch>
        </p:blipFill>
        <p:spPr>
          <a:xfrm>
            <a:off x="548640" y="2852928"/>
            <a:ext cx="201168" cy="201168"/>
          </a:xfrm>
          <a:prstGeom prst="rect">
            <a:avLst/>
          </a:prstGeom>
        </p:spPr>
      </p:pic>
      <p:sp>
        <p:nvSpPr>
          <p:cNvPr id="18" name="Shape 9"/>
          <p:cNvSpPr/>
          <p:nvPr/>
        </p:nvSpPr>
        <p:spPr>
          <a:xfrm>
            <a:off x="530352" y="2834640"/>
            <a:ext cx="237744" cy="237744"/>
          </a:xfrm>
          <a:prstGeom prst="ellipse">
            <a:avLst/>
          </a:prstGeom>
          <a:solidFill>
            <a:srgbClr val="1E9E8C"/>
          </a:solidFill>
          <a:ln/>
        </p:spPr>
      </p:sp>
      <p:pic>
        <p:nvPicPr>
          <p:cNvPr id="19" name="Image 7" descr="/home/claude/flightstream/icons/check.png"/>
          <p:cNvPicPr>
            <a:picLocks noChangeAspect="1"/>
          </p:cNvPicPr>
          <p:nvPr/>
        </p:nvPicPr>
        <p:blipFill>
          <a:blip r:embed="rId3"/>
          <a:stretch>
            <a:fillRect/>
          </a:stretch>
        </p:blipFill>
        <p:spPr>
          <a:xfrm>
            <a:off x="585216" y="2871216"/>
            <a:ext cx="137160" cy="137160"/>
          </a:xfrm>
          <a:prstGeom prst="rect">
            <a:avLst/>
          </a:prstGeom>
        </p:spPr>
      </p:pic>
      <p:sp>
        <p:nvSpPr>
          <p:cNvPr id="20" name="Text 10"/>
          <p:cNvSpPr/>
          <p:nvPr/>
        </p:nvSpPr>
        <p:spPr>
          <a:xfrm>
            <a:off x="896112" y="2798064"/>
            <a:ext cx="4846320" cy="310896"/>
          </a:xfrm>
          <a:prstGeom prst="rect">
            <a:avLst/>
          </a:prstGeom>
          <a:noFill/>
          <a:ln/>
        </p:spPr>
        <p:txBody>
          <a:bodyPr wrap="square" rtlCol="0" anchor="ctr"/>
          <a:lstStyle/>
          <a:p>
            <a:pPr marL="0" indent="0">
              <a:buNone/>
            </a:pPr>
            <a:r>
              <a:rPr lang="en-US" sz="1250" dirty="0">
                <a:solidFill>
                  <a:srgbClr val="3A5878"/>
                </a:solidFill>
                <a:latin typeface="Calibri" pitchFamily="34" charset="0"/>
                <a:ea typeface="Calibri" pitchFamily="34" charset="-122"/>
                <a:cs typeface="Calibri" pitchFamily="34" charset="-120"/>
              </a:rPr>
              <a:t>altitude &amp; velocity must exist, and be ≥ 0</a:t>
            </a:r>
            <a:endParaRPr lang="en-US" sz="1250" dirty="0"/>
          </a:p>
        </p:txBody>
      </p:sp>
      <p:sp>
        <p:nvSpPr>
          <p:cNvPr id="21" name="Shape 11"/>
          <p:cNvSpPr/>
          <p:nvPr/>
        </p:nvSpPr>
        <p:spPr>
          <a:xfrm>
            <a:off x="548640" y="3337560"/>
            <a:ext cx="5212080" cy="960120"/>
          </a:xfrm>
          <a:prstGeom prst="roundRect">
            <a:avLst>
              <a:gd name="adj" fmla="val 9524"/>
            </a:avLst>
          </a:prstGeom>
          <a:solidFill>
            <a:srgbClr val="F2F8FC"/>
          </a:solidFill>
          <a:ln w="12700">
            <a:solidFill>
              <a:srgbClr val="E7EDF3"/>
            </a:solidFill>
            <a:prstDash val="solid"/>
          </a:ln>
        </p:spPr>
      </p:sp>
      <p:sp>
        <p:nvSpPr>
          <p:cNvPr id="22" name="Text 12"/>
          <p:cNvSpPr/>
          <p:nvPr/>
        </p:nvSpPr>
        <p:spPr>
          <a:xfrm>
            <a:off x="777240" y="3456432"/>
            <a:ext cx="4754880" cy="731520"/>
          </a:xfrm>
          <a:prstGeom prst="rect">
            <a:avLst/>
          </a:prstGeom>
          <a:noFill/>
          <a:ln/>
        </p:spPr>
        <p:txBody>
          <a:bodyPr wrap="square" rtlCol="0" anchor="t"/>
          <a:lstStyle/>
          <a:p>
            <a:pPr marL="0" indent="0">
              <a:lnSpc>
                <a:spcPct val="110000"/>
              </a:lnSpc>
              <a:buNone/>
            </a:pPr>
            <a:r>
              <a:rPr lang="en-US" sz="1250" b="1" dirty="0">
                <a:solidFill>
                  <a:srgbClr val="1D6FB8"/>
                </a:solidFill>
                <a:latin typeface="Consolas" pitchFamily="34" charset="0"/>
                <a:ea typeface="Consolas" pitchFamily="34" charset="-122"/>
                <a:cs typeface="Consolas" pitchFamily="34" charset="-120"/>
              </a:rPr>
              <a:t>coalesce(baro_altitude, geo_altitude)
</a:t>
            </a:r>
            <a:r>
              <a:rPr lang="en-US" sz="1200" dirty="0">
                <a:solidFill>
                  <a:srgbClr val="3A5878"/>
                </a:solidFill>
                <a:latin typeface="Calibri" pitchFamily="34" charset="0"/>
                <a:ea typeface="Calibri" pitchFamily="34" charset="-122"/>
                <a:cs typeface="Calibri" pitchFamily="34" charset="-120"/>
              </a:rPr>
              <a:t>If barometric altitude is missing, geometric altitude is used instead.</a:t>
            </a:r>
            <a:endParaRPr lang="en-US" sz="1250" dirty="0"/>
          </a:p>
        </p:txBody>
      </p:sp>
      <p:sp>
        <p:nvSpPr>
          <p:cNvPr id="23" name="Shape 13"/>
          <p:cNvSpPr/>
          <p:nvPr/>
        </p:nvSpPr>
        <p:spPr>
          <a:xfrm>
            <a:off x="548640" y="4434840"/>
            <a:ext cx="5212080" cy="777240"/>
          </a:xfrm>
          <a:prstGeom prst="roundRect">
            <a:avLst>
              <a:gd name="adj" fmla="val 11765"/>
            </a:avLst>
          </a:prstGeom>
          <a:solidFill>
            <a:srgbClr val="EAF6F5"/>
          </a:solidFill>
          <a:ln w="12700">
            <a:solidFill>
              <a:srgbClr val="E7EDF3"/>
            </a:solidFill>
            <a:prstDash val="solid"/>
          </a:ln>
        </p:spPr>
      </p:sp>
      <p:sp>
        <p:nvSpPr>
          <p:cNvPr id="24" name="Text 14"/>
          <p:cNvSpPr/>
          <p:nvPr/>
        </p:nvSpPr>
        <p:spPr>
          <a:xfrm>
            <a:off x="777240" y="4434840"/>
            <a:ext cx="4754880" cy="777240"/>
          </a:xfrm>
          <a:prstGeom prst="rect">
            <a:avLst/>
          </a:prstGeom>
          <a:noFill/>
          <a:ln/>
        </p:spPr>
        <p:txBody>
          <a:bodyPr wrap="square" rtlCol="0" anchor="ctr"/>
          <a:lstStyle/>
          <a:p>
            <a:pPr marL="0" indent="0">
              <a:buNone/>
            </a:pPr>
            <a:r>
              <a:rPr lang="en-US" sz="1250" b="1" dirty="0">
                <a:solidFill>
                  <a:srgbClr val="17324D"/>
                </a:solidFill>
                <a:latin typeface="Calibri" pitchFamily="34" charset="0"/>
                <a:ea typeface="Calibri" pitchFamily="34" charset="-122"/>
                <a:cs typeface="Calibri" pitchFamily="34" charset="-120"/>
              </a:rPr>
              <a:t>flight_status → </a:t>
            </a:r>
            <a:r>
              <a:rPr lang="en-US" sz="1250" b="1" dirty="0">
                <a:solidFill>
                  <a:srgbClr val="1E9E8C"/>
                </a:solidFill>
                <a:latin typeface="Consolas" pitchFamily="34" charset="0"/>
                <a:ea typeface="Consolas" pitchFamily="34" charset="-122"/>
                <a:cs typeface="Consolas" pitchFamily="34" charset="-120"/>
              </a:rPr>
              <a:t>GROUND or AIRBORNE</a:t>
            </a:r>
            <a:endParaRPr lang="en-US" sz="1250" dirty="0"/>
          </a:p>
        </p:txBody>
      </p:sp>
      <p:sp>
        <p:nvSpPr>
          <p:cNvPr id="25" name="Shape 15"/>
          <p:cNvSpPr/>
          <p:nvPr/>
        </p:nvSpPr>
        <p:spPr>
          <a:xfrm>
            <a:off x="6400800" y="960120"/>
            <a:ext cx="5257800" cy="310896"/>
          </a:xfrm>
          <a:prstGeom prst="roundRect">
            <a:avLst>
              <a:gd name="adj" fmla="val 17647"/>
            </a:avLst>
          </a:prstGeom>
          <a:solidFill>
            <a:srgbClr val="E7EDF3"/>
          </a:solidFill>
          <a:ln/>
        </p:spPr>
      </p:sp>
      <p:sp>
        <p:nvSpPr>
          <p:cNvPr id="26" name="Text 16"/>
          <p:cNvSpPr/>
          <p:nvPr/>
        </p:nvSpPr>
        <p:spPr>
          <a:xfrm>
            <a:off x="6510528" y="960120"/>
            <a:ext cx="5038344" cy="310896"/>
          </a:xfrm>
          <a:prstGeom prst="rect">
            <a:avLst/>
          </a:prstGeom>
          <a:noFill/>
          <a:ln/>
        </p:spPr>
        <p:txBody>
          <a:bodyPr wrap="square" rtlCol="0" anchor="ctr"/>
          <a:lstStyle/>
          <a:p>
            <a:pPr marL="0" indent="0">
              <a:buNone/>
            </a:pPr>
            <a:r>
              <a:rPr lang="en-US" sz="1150" b="1" dirty="0">
                <a:solidFill>
                  <a:srgbClr val="3A5878"/>
                </a:solidFill>
                <a:latin typeface="Calibri" pitchFamily="34" charset="0"/>
                <a:ea typeface="Calibri" pitchFamily="34" charset="-122"/>
                <a:cs typeface="Calibri" pitchFamily="34" charset="-120"/>
              </a:rPr>
              <a:t>📍 FILE   </a:t>
            </a:r>
            <a:r>
              <a:rPr lang="en-US" sz="1150" dirty="0">
                <a:solidFill>
                  <a:srgbClr val="17324D"/>
                </a:solidFill>
                <a:latin typeface="Consolas" pitchFamily="34" charset="0"/>
                <a:ea typeface="Consolas" pitchFamily="34" charset="-122"/>
                <a:cs typeface="Consolas" pitchFamily="34" charset="-120"/>
              </a:rPr>
              <a:t>spark/src/main/scala/FlightStreaming.scala</a:t>
            </a:r>
            <a:endParaRPr lang="en-US" sz="1150" dirty="0"/>
          </a:p>
        </p:txBody>
      </p:sp>
      <p:sp>
        <p:nvSpPr>
          <p:cNvPr id="27" name="Shape 17"/>
          <p:cNvSpPr/>
          <p:nvPr/>
        </p:nvSpPr>
        <p:spPr>
          <a:xfrm>
            <a:off x="6400800" y="1380744"/>
            <a:ext cx="5257800" cy="2331720"/>
          </a:xfrm>
          <a:prstGeom prst="roundRect">
            <a:avLst>
              <a:gd name="adj" fmla="val 3137"/>
            </a:avLst>
          </a:prstGeom>
          <a:solidFill>
            <a:srgbClr val="0F2233"/>
          </a:solidFill>
          <a:ln/>
          <a:effectLst>
            <a:outerShdw blurRad="101600" dist="38100" dir="5400000" algn="bl" rotWithShape="0">
              <a:srgbClr val="17324D">
                <a:alpha val="25000"/>
              </a:srgbClr>
            </a:outerShdw>
          </a:effectLst>
        </p:spPr>
      </p:sp>
      <p:sp>
        <p:nvSpPr>
          <p:cNvPr id="28" name="Text 18"/>
          <p:cNvSpPr/>
          <p:nvPr/>
        </p:nvSpPr>
        <p:spPr>
          <a:xfrm>
            <a:off x="6601968" y="1490472"/>
            <a:ext cx="4855464" cy="2112264"/>
          </a:xfrm>
          <a:prstGeom prst="rect">
            <a:avLst/>
          </a:prstGeom>
          <a:noFill/>
          <a:ln/>
        </p:spPr>
        <p:txBody>
          <a:bodyPr wrap="square" rtlCol="0" anchor="t"/>
          <a:lstStyle/>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.filter($"icao24".isNotNull)</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.filter($"latitude".between(-90, 90))</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.filter($"longitude".between(-180, 180))</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.withColumn("altitude",</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coalesce($"baro_altitude", $"geo_altitude"))</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.filter($"altitude"&gt;=0 &amp;&amp; $"velocity"&gt;=0)</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.withColumn("flight_status",</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when($"on_ground","GROUND")</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.otherwise("AIRBORNE"))</a:t>
            </a:r>
            <a:endParaRPr lang="en-US" sz="1100" dirty="0"/>
          </a:p>
        </p:txBody>
      </p:sp>
      <p:sp>
        <p:nvSpPr>
          <p:cNvPr id="29" name="Shape 19"/>
          <p:cNvSpPr/>
          <p:nvPr/>
        </p:nvSpPr>
        <p:spPr>
          <a:xfrm>
            <a:off x="6400800" y="3840480"/>
            <a:ext cx="5257800" cy="960120"/>
          </a:xfrm>
          <a:prstGeom prst="roundRect">
            <a:avLst>
              <a:gd name="adj" fmla="val 8889"/>
            </a:avLst>
          </a:prstGeom>
          <a:solidFill>
            <a:srgbClr val="F2F8FC"/>
          </a:solidFill>
          <a:ln w="12700">
            <a:solidFill>
              <a:srgbClr val="E7EDF3"/>
            </a:solidFill>
            <a:prstDash val="solid"/>
          </a:ln>
        </p:spPr>
      </p:sp>
      <p:sp>
        <p:nvSpPr>
          <p:cNvPr id="30" name="Text 20"/>
          <p:cNvSpPr/>
          <p:nvPr/>
        </p:nvSpPr>
        <p:spPr>
          <a:xfrm>
            <a:off x="6565392" y="3913632"/>
            <a:ext cx="4928616" cy="676656"/>
          </a:xfrm>
          <a:prstGeom prst="rect">
            <a:avLst/>
          </a:prstGeom>
          <a:noFill/>
          <a:ln/>
        </p:spPr>
        <p:txBody>
          <a:bodyPr wrap="square" rtlCol="0" anchor="t"/>
          <a:lstStyle/>
          <a:p>
            <a:pPr marL="0" indent="0">
              <a:lnSpc>
                <a:spcPct val="105000"/>
              </a:lnSpc>
              <a:buNone/>
            </a:pPr>
            <a:r>
              <a:rPr lang="en-US" sz="1100" b="1" dirty="0">
                <a:solidFill>
                  <a:srgbClr val="1D6FB8"/>
                </a:solidFill>
                <a:latin typeface="Calibri" pitchFamily="34" charset="0"/>
                <a:ea typeface="Calibri" pitchFamily="34" charset="-122"/>
                <a:cs typeface="Calibri" pitchFamily="34" charset="-120"/>
              </a:rPr>
              <a:t>🧠 IN PLAIN ENGLISH
</a:t>
            </a:r>
            <a:r>
              <a:rPr lang="en-US" sz="1250" dirty="0">
                <a:solidFill>
                  <a:srgbClr val="17324D"/>
                </a:solidFill>
                <a:latin typeface="Calibri" pitchFamily="34" charset="0"/>
                <a:ea typeface="Calibri" pitchFamily="34" charset="-122"/>
                <a:cs typeface="Calibri" pitchFamily="34" charset="-120"/>
              </a:rPr>
              <a:t>Records with missing or impossible geographic values are removed, altitude falls back to a second source when needed, and each record gets a simple ground/airborne status.</a:t>
            </a:r>
            <a:endParaRPr lang="en-US" sz="1100" dirty="0"/>
          </a:p>
        </p:txBody>
      </p:sp>
      <p:sp>
        <p:nvSpPr>
          <p:cNvPr id="31" name="Shape 21"/>
          <p:cNvSpPr/>
          <p:nvPr/>
        </p:nvSpPr>
        <p:spPr>
          <a:xfrm>
            <a:off x="548640" y="5440680"/>
            <a:ext cx="11091672" cy="868680"/>
          </a:xfrm>
          <a:prstGeom prst="roundRect">
            <a:avLst>
              <a:gd name="adj" fmla="val 12632"/>
            </a:avLst>
          </a:prstGeom>
          <a:solidFill>
            <a:srgbClr val="EAF6F5"/>
          </a:solidFill>
          <a:ln w="15875">
            <a:solidFill>
              <a:srgbClr val="1E9E8C"/>
            </a:solidFill>
            <a:prstDash val="solid"/>
          </a:ln>
          <a:effectLst>
            <a:outerShdw blurRad="76200" dist="25400" dir="5400000" algn="bl" rotWithShape="0">
              <a:srgbClr val="1E9E8C">
                <a:alpha val="15000"/>
              </a:srgbClr>
            </a:outerShdw>
          </a:effectLst>
        </p:spPr>
      </p:sp>
      <p:pic>
        <p:nvPicPr>
          <p:cNvPr id="32" name="Image 8" descr="/home/claude/flightstream/icons/plane.png"/>
          <p:cNvPicPr>
            <a:picLocks noChangeAspect="1"/>
          </p:cNvPicPr>
          <p:nvPr/>
        </p:nvPicPr>
        <p:blipFill>
          <a:blip r:embed="rId4"/>
          <a:stretch>
            <a:fillRect/>
          </a:stretch>
        </p:blipFill>
        <p:spPr>
          <a:xfrm rot="-2400000">
            <a:off x="749808" y="5701284"/>
            <a:ext cx="347472" cy="347472"/>
          </a:xfrm>
          <a:prstGeom prst="rect">
            <a:avLst/>
          </a:prstGeom>
        </p:spPr>
      </p:pic>
      <p:sp>
        <p:nvSpPr>
          <p:cNvPr id="33" name="Shape 22"/>
          <p:cNvSpPr/>
          <p:nvPr/>
        </p:nvSpPr>
        <p:spPr>
          <a:xfrm>
            <a:off x="694944" y="5618988"/>
            <a:ext cx="512064" cy="512064"/>
          </a:xfrm>
          <a:prstGeom prst="ellipse">
            <a:avLst/>
          </a:prstGeom>
          <a:solidFill>
            <a:srgbClr val="1E9E8C"/>
          </a:solidFill>
          <a:ln/>
        </p:spPr>
      </p:sp>
      <p:pic>
        <p:nvPicPr>
          <p:cNvPr id="34" name="Image 9" descr="/home/claude/flightstream/icons/plane.png"/>
          <p:cNvPicPr>
            <a:picLocks noChangeAspect="1"/>
          </p:cNvPicPr>
          <p:nvPr/>
        </p:nvPicPr>
        <p:blipFill>
          <a:blip r:embed="rId4"/>
          <a:stretch>
            <a:fillRect/>
          </a:stretch>
        </p:blipFill>
        <p:spPr>
          <a:xfrm rot="-2400000">
            <a:off x="822960" y="5737860"/>
            <a:ext cx="274320" cy="274320"/>
          </a:xfrm>
          <a:prstGeom prst="rect">
            <a:avLst/>
          </a:prstGeom>
        </p:spPr>
      </p:pic>
      <p:sp>
        <p:nvSpPr>
          <p:cNvPr id="35" name="Text 23"/>
          <p:cNvSpPr/>
          <p:nvPr/>
        </p:nvSpPr>
        <p:spPr>
          <a:xfrm>
            <a:off x="1417320" y="5532120"/>
            <a:ext cx="9994392" cy="256032"/>
          </a:xfrm>
          <a:prstGeom prst="rect">
            <a:avLst/>
          </a:prstGeom>
          <a:noFill/>
          <a:ln/>
        </p:spPr>
        <p:txBody>
          <a:bodyPr wrap="square" rtlCol="0" anchor="ctr"/>
          <a:lstStyle/>
          <a:p>
            <a:pPr marL="0" indent="0">
              <a:buNone/>
            </a:pPr>
            <a:r>
              <a:rPr lang="en-US" sz="1150" b="1" kern="0" spc="50" dirty="0">
                <a:solidFill>
                  <a:srgbClr val="1E9E8C"/>
                </a:solidFill>
                <a:latin typeface="Calibri" pitchFamily="34" charset="0"/>
                <a:ea typeface="Calibri" pitchFamily="34" charset="-122"/>
                <a:cs typeface="Calibri" pitchFamily="34" charset="-120"/>
              </a:rPr>
              <a:t>FLIGHTSTREAM FLASHBACK</a:t>
            </a:r>
            <a:endParaRPr lang="en-US" sz="1150" dirty="0"/>
          </a:p>
        </p:txBody>
      </p:sp>
      <p:sp>
        <p:nvSpPr>
          <p:cNvPr id="36" name="Text 24"/>
          <p:cNvSpPr/>
          <p:nvPr/>
        </p:nvSpPr>
        <p:spPr>
          <a:xfrm>
            <a:off x="1417320" y="5769864"/>
            <a:ext cx="9994392" cy="484632"/>
          </a:xfrm>
          <a:prstGeom prst="rect">
            <a:avLst/>
          </a:prstGeom>
          <a:noFill/>
          <a:ln/>
        </p:spPr>
        <p:txBody>
          <a:bodyPr wrap="square" rtlCol="0" anchor="t"/>
          <a:lstStyle/>
          <a:p>
            <a:pPr marL="0" indent="0">
              <a:lnSpc>
                <a:spcPct val="105000"/>
              </a:lnSpc>
              <a:buNone/>
            </a:pPr>
            <a:r>
              <a:rPr lang="en-US" sz="1350" i="1" dirty="0">
                <a:solidFill>
                  <a:srgbClr val="17324D"/>
                </a:solidFill>
                <a:latin typeface="Calibri" pitchFamily="34" charset="0"/>
                <a:ea typeface="Calibri" pitchFamily="34" charset="-122"/>
                <a:cs typeface="Calibri" pitchFamily="34" charset="-120"/>
              </a:rPr>
              <a:t>Clean first. Bad data should not reach the ML model.</a:t>
            </a:r>
            <a:endParaRPr lang="en-US" sz="1350" dirty="0"/>
          </a:p>
        </p:txBody>
      </p:sp>
      <p:sp>
        <p:nvSpPr>
          <p:cNvPr id="37" name="Text 25"/>
          <p:cNvSpPr/>
          <p:nvPr/>
        </p:nvSpPr>
        <p:spPr>
          <a:xfrm>
            <a:off x="11274552" y="6473952"/>
            <a:ext cx="731520" cy="274320"/>
          </a:xfrm>
          <a:prstGeom prst="rect">
            <a:avLst/>
          </a:prstGeom>
          <a:noFill/>
          <a:ln/>
        </p:spPr>
        <p:txBody>
          <a:bodyPr wrap="square" rtlCol="0" anchor="ctr"/>
          <a:lstStyle/>
          <a:p>
            <a:pPr marL="0" indent="0" algn="r">
              <a:buNone/>
            </a:pPr>
            <a:r>
              <a:rPr lang="en-US" sz="900" dirty="0">
                <a:solidFill>
                  <a:srgbClr val="8A97A8"/>
                </a:solidFill>
                <a:latin typeface="Calibri" pitchFamily="34" charset="0"/>
                <a:ea typeface="Calibri" pitchFamily="34" charset="-122"/>
                <a:cs typeface="Calibri" pitchFamily="34" charset="-120"/>
              </a:rPr>
              <a:t>6 / 10</a:t>
            </a:r>
            <a:endParaRPr lang="en-US" sz="900" dirty="0"/>
          </a:p>
        </p:txBody>
      </p:sp>
      <p:sp>
        <p:nvSpPr>
          <p:cNvPr id="38" name="Text 26"/>
          <p:cNvSpPr/>
          <p:nvPr/>
        </p:nvSpPr>
        <p:spPr>
          <a:xfrm>
            <a:off x="457200" y="6473952"/>
            <a:ext cx="2743200" cy="274320"/>
          </a:xfrm>
          <a:prstGeom prst="rect">
            <a:avLst/>
          </a:prstGeom>
          <a:noFill/>
          <a:ln/>
        </p:spPr>
        <p:txBody>
          <a:bodyPr wrap="square" rtlCol="0" anchor="ctr"/>
          <a:lstStyle/>
          <a:p>
            <a:pPr marL="0" indent="0">
              <a:buNone/>
            </a:pPr>
            <a:r>
              <a:rPr lang="en-US" sz="900" kern="0" spc="200" dirty="0">
                <a:solidFill>
                  <a:srgbClr val="8A97A8"/>
                </a:solidFill>
                <a:latin typeface="Calibri" pitchFamily="34" charset="0"/>
                <a:ea typeface="Calibri" pitchFamily="34" charset="-122"/>
                <a:cs typeface="Calibri" pitchFamily="34" charset="-120"/>
              </a:rPr>
              <a:t>FLIGHTSTREAM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rtlCol="0" anchor="ctr"/>
          <a:lstStyle/>
          <a:p>
            <a:pPr marL="0" indent="0">
              <a:buNone/>
            </a:pPr>
            <a:r>
              <a:rPr lang="en-US" sz="1100" b="1" kern="0" spc="150" dirty="0">
                <a:solidFill>
                  <a:srgbClr val="1E9E8C"/>
                </a:solidFill>
                <a:latin typeface="Calibri" pitchFamily="34" charset="0"/>
                <a:ea typeface="Calibri" pitchFamily="34" charset="-122"/>
                <a:cs typeface="Calibri" pitchFamily="34" charset="-120"/>
              </a:rPr>
              <a:t>MACHINE LEARNING</a:t>
            </a:r>
            <a:endParaRPr lang="en-US" sz="1100" dirty="0"/>
          </a:p>
        </p:txBody>
      </p:sp>
      <p:sp>
        <p:nvSpPr>
          <p:cNvPr id="3" name="Text 1"/>
          <p:cNvSpPr/>
          <p:nvPr/>
        </p:nvSpPr>
        <p:spPr>
          <a:xfrm>
            <a:off x="548640" y="365760"/>
            <a:ext cx="11091672" cy="640080"/>
          </a:xfrm>
          <a:prstGeom prst="rect">
            <a:avLst/>
          </a:prstGeom>
          <a:noFill/>
          <a:ln/>
        </p:spPr>
        <p:txBody>
          <a:bodyPr wrap="square" rtlCol="0" anchor="ctr"/>
          <a:lstStyle/>
          <a:p>
            <a:pPr marL="0" indent="0" algn="l">
              <a:buNone/>
            </a:pPr>
            <a:r>
              <a:rPr lang="en-US" sz="3000" b="1" dirty="0">
                <a:solidFill>
                  <a:srgbClr val="17324D"/>
                </a:solidFill>
                <a:latin typeface="Calibri" pitchFamily="34" charset="0"/>
                <a:ea typeface="Calibri" pitchFamily="34" charset="-122"/>
                <a:cs typeface="Calibri" pitchFamily="34" charset="-120"/>
              </a:rPr>
              <a:t>Machine Learning — K-Means Clustering</a:t>
            </a:r>
            <a:endParaRPr lang="en-US" sz="3000" dirty="0"/>
          </a:p>
        </p:txBody>
      </p:sp>
      <p:sp>
        <p:nvSpPr>
          <p:cNvPr id="4" name="Text 2"/>
          <p:cNvSpPr/>
          <p:nvPr/>
        </p:nvSpPr>
        <p:spPr>
          <a:xfrm>
            <a:off x="548640" y="1005840"/>
            <a:ext cx="5212080" cy="457200"/>
          </a:xfrm>
          <a:prstGeom prst="rect">
            <a:avLst/>
          </a:prstGeom>
          <a:noFill/>
          <a:ln/>
        </p:spPr>
        <p:txBody>
          <a:bodyPr wrap="square" rtlCol="0" anchor="ctr"/>
          <a:lstStyle/>
          <a:p>
            <a:pPr marL="0" indent="0">
              <a:buNone/>
            </a:pPr>
            <a:r>
              <a:rPr lang="en-US" sz="1350" i="1" dirty="0">
                <a:solidFill>
                  <a:srgbClr val="3A5878"/>
                </a:solidFill>
                <a:latin typeface="Calibri" pitchFamily="34" charset="0"/>
                <a:ea typeface="Calibri" pitchFamily="34" charset="-122"/>
                <a:cs typeface="Calibri" pitchFamily="34" charset="-120"/>
              </a:rPr>
              <a:t>No predefined target label </a:t>
            </a:r>
            <a:r>
              <a:rPr lang="en-US" sz="1350" i="1" dirty="0">
                <a:solidFill>
                  <a:srgbClr val="8A97A8"/>
                </a:solidFill>
                <a:latin typeface="Calibri" pitchFamily="34" charset="0"/>
                <a:ea typeface="Calibri" pitchFamily="34" charset="-122"/>
                <a:cs typeface="Calibri" pitchFamily="34" charset="-120"/>
              </a:rPr>
              <a:t>→ </a:t>
            </a:r>
            <a:r>
              <a:rPr lang="en-US" sz="1350" i="1" dirty="0">
                <a:solidFill>
                  <a:srgbClr val="3A5878"/>
                </a:solidFill>
                <a:latin typeface="Calibri" pitchFamily="34" charset="0"/>
                <a:ea typeface="Calibri" pitchFamily="34" charset="-122"/>
                <a:cs typeface="Calibri" pitchFamily="34" charset="-120"/>
              </a:rPr>
              <a:t>unsupervised learning </a:t>
            </a:r>
            <a:r>
              <a:rPr lang="en-US" sz="1350" i="1" dirty="0">
                <a:solidFill>
                  <a:srgbClr val="8A97A8"/>
                </a:solidFill>
                <a:latin typeface="Calibri" pitchFamily="34" charset="0"/>
                <a:ea typeface="Calibri" pitchFamily="34" charset="-122"/>
                <a:cs typeface="Calibri" pitchFamily="34" charset="-120"/>
              </a:rPr>
              <a:t>→ </a:t>
            </a:r>
            <a:r>
              <a:rPr lang="en-US" sz="1350" i="1" dirty="0">
                <a:solidFill>
                  <a:srgbClr val="3A5878"/>
                </a:solidFill>
                <a:latin typeface="Calibri" pitchFamily="34" charset="0"/>
                <a:ea typeface="Calibri" pitchFamily="34" charset="-122"/>
                <a:cs typeface="Calibri" pitchFamily="34" charset="-120"/>
              </a:rPr>
              <a:t>K-Means finds structure in the data.</a:t>
            </a:r>
            <a:endParaRPr lang="en-US" sz="1350" dirty="0"/>
          </a:p>
        </p:txBody>
      </p:sp>
      <p:sp>
        <p:nvSpPr>
          <p:cNvPr id="5" name="Shape 3"/>
          <p:cNvSpPr/>
          <p:nvPr/>
        </p:nvSpPr>
        <p:spPr>
          <a:xfrm>
            <a:off x="548640" y="1600200"/>
            <a:ext cx="2514600" cy="566928"/>
          </a:xfrm>
          <a:prstGeom prst="roundRect">
            <a:avLst>
              <a:gd name="adj" fmla="val 16129"/>
            </a:avLst>
          </a:prstGeom>
          <a:solidFill>
            <a:srgbClr val="3E8ED0"/>
          </a:solidFill>
          <a:ln/>
          <a:effectLst>
            <a:outerShdw blurRad="63500" dist="25400" dir="5400000" algn="bl" rotWithShape="0">
              <a:srgbClr val="17324D">
                <a:alpha val="18000"/>
              </a:srgbClr>
            </a:outerShdw>
          </a:effectLst>
        </p:spPr>
      </p:sp>
      <p:pic>
        <p:nvPicPr>
          <p:cNvPr id="6" name="Image 0" descr="/home/claude/flightstream/icons/compass.png"/>
          <p:cNvPicPr>
            <a:picLocks noChangeAspect="1"/>
          </p:cNvPicPr>
          <p:nvPr/>
        </p:nvPicPr>
        <p:blipFill>
          <a:blip r:embed="rId3"/>
          <a:stretch>
            <a:fillRect/>
          </a:stretch>
        </p:blipFill>
        <p:spPr>
          <a:xfrm>
            <a:off x="658368" y="1737360"/>
            <a:ext cx="292608" cy="292608"/>
          </a:xfrm>
          <a:prstGeom prst="rect">
            <a:avLst/>
          </a:prstGeom>
        </p:spPr>
      </p:pic>
      <p:sp>
        <p:nvSpPr>
          <p:cNvPr id="7" name="Text 4"/>
          <p:cNvSpPr/>
          <p:nvPr/>
        </p:nvSpPr>
        <p:spPr>
          <a:xfrm>
            <a:off x="1005840" y="1600200"/>
            <a:ext cx="1947672" cy="56692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Latitude</a:t>
            </a:r>
            <a:endParaRPr lang="en-US" sz="1250" dirty="0"/>
          </a:p>
        </p:txBody>
      </p:sp>
      <p:sp>
        <p:nvSpPr>
          <p:cNvPr id="8" name="Shape 5"/>
          <p:cNvSpPr/>
          <p:nvPr/>
        </p:nvSpPr>
        <p:spPr>
          <a:xfrm>
            <a:off x="3246120" y="1600200"/>
            <a:ext cx="2514600" cy="566928"/>
          </a:xfrm>
          <a:prstGeom prst="roundRect">
            <a:avLst>
              <a:gd name="adj" fmla="val 16129"/>
            </a:avLst>
          </a:prstGeom>
          <a:solidFill>
            <a:srgbClr val="1D6FB8"/>
          </a:solidFill>
          <a:ln/>
          <a:effectLst>
            <a:outerShdw blurRad="63500" dist="25400" dir="5400000" algn="bl" rotWithShape="0">
              <a:srgbClr val="17324D">
                <a:alpha val="18000"/>
              </a:srgbClr>
            </a:outerShdw>
          </a:effectLst>
        </p:spPr>
      </p:sp>
      <p:pic>
        <p:nvPicPr>
          <p:cNvPr id="9" name="Image 1" descr="/home/claude/flightstream/icons/compass.png"/>
          <p:cNvPicPr>
            <a:picLocks noChangeAspect="1"/>
          </p:cNvPicPr>
          <p:nvPr/>
        </p:nvPicPr>
        <p:blipFill>
          <a:blip r:embed="rId3"/>
          <a:stretch>
            <a:fillRect/>
          </a:stretch>
        </p:blipFill>
        <p:spPr>
          <a:xfrm>
            <a:off x="3355848" y="1737360"/>
            <a:ext cx="292608" cy="292608"/>
          </a:xfrm>
          <a:prstGeom prst="rect">
            <a:avLst/>
          </a:prstGeom>
        </p:spPr>
      </p:pic>
      <p:sp>
        <p:nvSpPr>
          <p:cNvPr id="10" name="Text 6"/>
          <p:cNvSpPr/>
          <p:nvPr/>
        </p:nvSpPr>
        <p:spPr>
          <a:xfrm>
            <a:off x="3703320" y="1600200"/>
            <a:ext cx="1947672" cy="56692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Longitude</a:t>
            </a:r>
            <a:endParaRPr lang="en-US" sz="1250" dirty="0"/>
          </a:p>
        </p:txBody>
      </p:sp>
      <p:sp>
        <p:nvSpPr>
          <p:cNvPr id="11" name="Shape 7"/>
          <p:cNvSpPr/>
          <p:nvPr/>
        </p:nvSpPr>
        <p:spPr>
          <a:xfrm>
            <a:off x="548640" y="2331720"/>
            <a:ext cx="2514600" cy="566928"/>
          </a:xfrm>
          <a:prstGeom prst="roundRect">
            <a:avLst>
              <a:gd name="adj" fmla="val 16129"/>
            </a:avLst>
          </a:prstGeom>
          <a:solidFill>
            <a:srgbClr val="3E8ED0"/>
          </a:solidFill>
          <a:ln/>
          <a:effectLst>
            <a:outerShdw blurRad="63500" dist="25400" dir="5400000" algn="bl" rotWithShape="0">
              <a:srgbClr val="17324D">
                <a:alpha val="18000"/>
              </a:srgbClr>
            </a:outerShdw>
          </a:effectLst>
        </p:spPr>
      </p:sp>
      <p:pic>
        <p:nvPicPr>
          <p:cNvPr id="12" name="Image 2" descr="/home/claude/flightstream/icons/route.png"/>
          <p:cNvPicPr>
            <a:picLocks noChangeAspect="1"/>
          </p:cNvPicPr>
          <p:nvPr/>
        </p:nvPicPr>
        <p:blipFill>
          <a:blip r:embed="rId4"/>
          <a:stretch>
            <a:fillRect/>
          </a:stretch>
        </p:blipFill>
        <p:spPr>
          <a:xfrm>
            <a:off x="658368" y="2468880"/>
            <a:ext cx="292608" cy="292608"/>
          </a:xfrm>
          <a:prstGeom prst="rect">
            <a:avLst/>
          </a:prstGeom>
        </p:spPr>
      </p:pic>
      <p:sp>
        <p:nvSpPr>
          <p:cNvPr id="13" name="Text 8"/>
          <p:cNvSpPr/>
          <p:nvPr/>
        </p:nvSpPr>
        <p:spPr>
          <a:xfrm>
            <a:off x="1005840" y="2331720"/>
            <a:ext cx="1947672" cy="56692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Altitude</a:t>
            </a:r>
            <a:endParaRPr lang="en-US" sz="1250" dirty="0"/>
          </a:p>
        </p:txBody>
      </p:sp>
      <p:sp>
        <p:nvSpPr>
          <p:cNvPr id="14" name="Shape 9"/>
          <p:cNvSpPr/>
          <p:nvPr/>
        </p:nvSpPr>
        <p:spPr>
          <a:xfrm>
            <a:off x="3246120" y="2331720"/>
            <a:ext cx="2514600" cy="566928"/>
          </a:xfrm>
          <a:prstGeom prst="roundRect">
            <a:avLst>
              <a:gd name="adj" fmla="val 16129"/>
            </a:avLst>
          </a:prstGeom>
          <a:solidFill>
            <a:srgbClr val="1D6FB8"/>
          </a:solidFill>
          <a:ln/>
          <a:effectLst>
            <a:outerShdw blurRad="63500" dist="25400" dir="5400000" algn="bl" rotWithShape="0">
              <a:srgbClr val="17324D">
                <a:alpha val="18000"/>
              </a:srgbClr>
            </a:outerShdw>
          </a:effectLst>
        </p:spPr>
      </p:sp>
      <p:pic>
        <p:nvPicPr>
          <p:cNvPr id="15" name="Image 3" descr="/home/claude/flightstream/icons/bolt.png"/>
          <p:cNvPicPr>
            <a:picLocks noChangeAspect="1"/>
          </p:cNvPicPr>
          <p:nvPr/>
        </p:nvPicPr>
        <p:blipFill>
          <a:blip r:embed="rId5"/>
          <a:stretch>
            <a:fillRect/>
          </a:stretch>
        </p:blipFill>
        <p:spPr>
          <a:xfrm>
            <a:off x="3355848" y="2468880"/>
            <a:ext cx="292608" cy="292608"/>
          </a:xfrm>
          <a:prstGeom prst="rect">
            <a:avLst/>
          </a:prstGeom>
        </p:spPr>
      </p:pic>
      <p:sp>
        <p:nvSpPr>
          <p:cNvPr id="16" name="Text 10"/>
          <p:cNvSpPr/>
          <p:nvPr/>
        </p:nvSpPr>
        <p:spPr>
          <a:xfrm>
            <a:off x="3703320" y="2331720"/>
            <a:ext cx="1947672" cy="56692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Velocity</a:t>
            </a:r>
            <a:endParaRPr lang="en-US" sz="1250" dirty="0"/>
          </a:p>
        </p:txBody>
      </p:sp>
      <p:sp>
        <p:nvSpPr>
          <p:cNvPr id="17" name="Text 11"/>
          <p:cNvSpPr/>
          <p:nvPr/>
        </p:nvSpPr>
        <p:spPr>
          <a:xfrm>
            <a:off x="548640" y="3063240"/>
            <a:ext cx="5212080" cy="365760"/>
          </a:xfrm>
          <a:prstGeom prst="rect">
            <a:avLst/>
          </a:prstGeom>
          <a:noFill/>
          <a:ln/>
        </p:spPr>
        <p:txBody>
          <a:bodyPr wrap="square" rtlCol="0" anchor="ctr"/>
          <a:lstStyle/>
          <a:p>
            <a:pPr marL="0" indent="0">
              <a:buNone/>
            </a:pPr>
            <a:r>
              <a:rPr lang="en-US" sz="1150" i="1" dirty="0">
                <a:solidFill>
                  <a:srgbClr val="8A97A8"/>
                </a:solidFill>
                <a:latin typeface="Calibri" pitchFamily="34" charset="0"/>
                <a:ea typeface="Calibri" pitchFamily="34" charset="-122"/>
                <a:cs typeface="Calibri" pitchFamily="34" charset="-120"/>
              </a:rPr>
              <a:t>These describe an aircraft's geographic position and movement.</a:t>
            </a:r>
            <a:endParaRPr lang="en-US" sz="1150" dirty="0"/>
          </a:p>
        </p:txBody>
      </p:sp>
      <p:sp>
        <p:nvSpPr>
          <p:cNvPr id="18" name="Shape 12"/>
          <p:cNvSpPr/>
          <p:nvPr/>
        </p:nvSpPr>
        <p:spPr>
          <a:xfrm>
            <a:off x="548640" y="3383280"/>
            <a:ext cx="5212080" cy="566928"/>
          </a:xfrm>
          <a:prstGeom prst="roundRect">
            <a:avLst>
              <a:gd name="adj" fmla="val 14516"/>
            </a:avLst>
          </a:prstGeom>
          <a:solidFill>
            <a:srgbClr val="F2F8FC"/>
          </a:solidFill>
          <a:ln w="12700">
            <a:solidFill>
              <a:srgbClr val="E7EDF3"/>
            </a:solidFill>
            <a:prstDash val="solid"/>
          </a:ln>
        </p:spPr>
      </p:sp>
      <p:sp>
        <p:nvSpPr>
          <p:cNvPr id="19" name="Text 13"/>
          <p:cNvSpPr/>
          <p:nvPr/>
        </p:nvSpPr>
        <p:spPr>
          <a:xfrm>
            <a:off x="731520" y="3419856"/>
            <a:ext cx="4846320" cy="493776"/>
          </a:xfrm>
          <a:prstGeom prst="rect">
            <a:avLst/>
          </a:prstGeom>
          <a:noFill/>
          <a:ln/>
        </p:spPr>
        <p:txBody>
          <a:bodyPr wrap="square" rtlCol="0" anchor="t"/>
          <a:lstStyle/>
          <a:p>
            <a:pPr marL="0" indent="0">
              <a:lnSpc>
                <a:spcPct val="102000"/>
              </a:lnSpc>
              <a:buNone/>
            </a:pPr>
            <a:r>
              <a:rPr lang="en-US" sz="1200" b="1" dirty="0">
                <a:solidFill>
                  <a:srgbClr val="17324D"/>
                </a:solidFill>
                <a:latin typeface="Consolas" pitchFamily="34" charset="0"/>
                <a:ea typeface="Consolas" pitchFamily="34" charset="-122"/>
                <a:cs typeface="Consolas" pitchFamily="34" charset="-120"/>
              </a:rPr>
              <a:t>VectorAssembler
</a:t>
            </a:r>
            <a:r>
              <a:rPr lang="en-US" sz="1050" dirty="0">
                <a:solidFill>
                  <a:srgbClr val="3A5878"/>
                </a:solidFill>
                <a:latin typeface="Calibri" pitchFamily="34" charset="0"/>
                <a:ea typeface="Calibri" pitchFamily="34" charset="-122"/>
                <a:cs typeface="Calibri" pitchFamily="34" charset="-120"/>
              </a:rPr>
              <a:t>Combines the four numerical columns into one feature vector.</a:t>
            </a:r>
            <a:endParaRPr lang="en-US" sz="1200" dirty="0"/>
          </a:p>
        </p:txBody>
      </p:sp>
      <p:sp>
        <p:nvSpPr>
          <p:cNvPr id="20" name="Shape 14"/>
          <p:cNvSpPr/>
          <p:nvPr/>
        </p:nvSpPr>
        <p:spPr>
          <a:xfrm>
            <a:off x="548640" y="4005072"/>
            <a:ext cx="5212080" cy="566928"/>
          </a:xfrm>
          <a:prstGeom prst="roundRect">
            <a:avLst>
              <a:gd name="adj" fmla="val 14516"/>
            </a:avLst>
          </a:prstGeom>
          <a:solidFill>
            <a:srgbClr val="F2F8FC"/>
          </a:solidFill>
          <a:ln w="12700">
            <a:solidFill>
              <a:srgbClr val="E7EDF3"/>
            </a:solidFill>
            <a:prstDash val="solid"/>
          </a:ln>
        </p:spPr>
      </p:sp>
      <p:sp>
        <p:nvSpPr>
          <p:cNvPr id="21" name="Text 15"/>
          <p:cNvSpPr/>
          <p:nvPr/>
        </p:nvSpPr>
        <p:spPr>
          <a:xfrm>
            <a:off x="731520" y="4041648"/>
            <a:ext cx="4846320" cy="493776"/>
          </a:xfrm>
          <a:prstGeom prst="rect">
            <a:avLst/>
          </a:prstGeom>
          <a:noFill/>
          <a:ln/>
        </p:spPr>
        <p:txBody>
          <a:bodyPr wrap="square" rtlCol="0" anchor="t"/>
          <a:lstStyle/>
          <a:p>
            <a:pPr marL="0" indent="0">
              <a:lnSpc>
                <a:spcPct val="102000"/>
              </a:lnSpc>
              <a:buNone/>
            </a:pPr>
            <a:r>
              <a:rPr lang="en-US" sz="1200" b="1" dirty="0">
                <a:solidFill>
                  <a:srgbClr val="17324D"/>
                </a:solidFill>
                <a:latin typeface="Consolas" pitchFamily="34" charset="0"/>
                <a:ea typeface="Consolas" pitchFamily="34" charset="-122"/>
                <a:cs typeface="Consolas" pitchFamily="34" charset="-120"/>
              </a:rPr>
              <a:t>StandardScaler
</a:t>
            </a:r>
            <a:r>
              <a:rPr lang="en-US" sz="1050" dirty="0">
                <a:solidFill>
                  <a:srgbClr val="3A5878"/>
                </a:solidFill>
                <a:latin typeface="Calibri" pitchFamily="34" charset="0"/>
                <a:ea typeface="Calibri" pitchFamily="34" charset="-122"/>
                <a:cs typeface="Calibri" pitchFamily="34" charset="-120"/>
              </a:rPr>
              <a:t>Puts the features onto a comparable scale.</a:t>
            </a:r>
            <a:endParaRPr lang="en-US" sz="1200" dirty="0"/>
          </a:p>
        </p:txBody>
      </p:sp>
      <p:sp>
        <p:nvSpPr>
          <p:cNvPr id="22" name="Shape 16"/>
          <p:cNvSpPr/>
          <p:nvPr/>
        </p:nvSpPr>
        <p:spPr>
          <a:xfrm>
            <a:off x="548640" y="4626864"/>
            <a:ext cx="5212080" cy="566928"/>
          </a:xfrm>
          <a:prstGeom prst="roundRect">
            <a:avLst>
              <a:gd name="adj" fmla="val 14516"/>
            </a:avLst>
          </a:prstGeom>
          <a:solidFill>
            <a:srgbClr val="F2F8FC"/>
          </a:solidFill>
          <a:ln w="12700">
            <a:solidFill>
              <a:srgbClr val="E7EDF3"/>
            </a:solidFill>
            <a:prstDash val="solid"/>
          </a:ln>
        </p:spPr>
      </p:sp>
      <p:sp>
        <p:nvSpPr>
          <p:cNvPr id="23" name="Text 17"/>
          <p:cNvSpPr/>
          <p:nvPr/>
        </p:nvSpPr>
        <p:spPr>
          <a:xfrm>
            <a:off x="731520" y="4663440"/>
            <a:ext cx="4846320" cy="493776"/>
          </a:xfrm>
          <a:prstGeom prst="rect">
            <a:avLst/>
          </a:prstGeom>
          <a:noFill/>
          <a:ln/>
        </p:spPr>
        <p:txBody>
          <a:bodyPr wrap="square" rtlCol="0" anchor="t"/>
          <a:lstStyle/>
          <a:p>
            <a:pPr marL="0" indent="0">
              <a:lnSpc>
                <a:spcPct val="102000"/>
              </a:lnSpc>
              <a:buNone/>
            </a:pPr>
            <a:r>
              <a:rPr lang="en-US" sz="1200" b="1" dirty="0">
                <a:solidFill>
                  <a:srgbClr val="17324D"/>
                </a:solidFill>
                <a:latin typeface="Consolas" pitchFamily="34" charset="0"/>
                <a:ea typeface="Consolas" pitchFamily="34" charset="-122"/>
                <a:cs typeface="Consolas" pitchFamily="34" charset="-120"/>
              </a:rPr>
              <a:t>K-Means
</a:t>
            </a:r>
            <a:r>
              <a:rPr lang="en-US" sz="1050" dirty="0">
                <a:solidFill>
                  <a:srgbClr val="3A5878"/>
                </a:solidFill>
                <a:latin typeface="Calibri" pitchFamily="34" charset="0"/>
                <a:ea typeface="Calibri" pitchFamily="34" charset="-122"/>
                <a:cs typeface="Calibri" pitchFamily="34" charset="-120"/>
              </a:rPr>
              <a:t>Groups records based on similarity between feature values.</a:t>
            </a:r>
            <a:endParaRPr lang="en-US" sz="1200" dirty="0"/>
          </a:p>
        </p:txBody>
      </p:sp>
      <p:sp>
        <p:nvSpPr>
          <p:cNvPr id="24" name="Shape 18"/>
          <p:cNvSpPr/>
          <p:nvPr/>
        </p:nvSpPr>
        <p:spPr>
          <a:xfrm>
            <a:off x="6400800" y="960120"/>
            <a:ext cx="5257800" cy="310896"/>
          </a:xfrm>
          <a:prstGeom prst="roundRect">
            <a:avLst>
              <a:gd name="adj" fmla="val 17647"/>
            </a:avLst>
          </a:prstGeom>
          <a:solidFill>
            <a:srgbClr val="E7EDF3"/>
          </a:solidFill>
          <a:ln/>
        </p:spPr>
      </p:sp>
      <p:sp>
        <p:nvSpPr>
          <p:cNvPr id="25" name="Text 19"/>
          <p:cNvSpPr/>
          <p:nvPr/>
        </p:nvSpPr>
        <p:spPr>
          <a:xfrm>
            <a:off x="6510528" y="960120"/>
            <a:ext cx="5038344" cy="310896"/>
          </a:xfrm>
          <a:prstGeom prst="rect">
            <a:avLst/>
          </a:prstGeom>
          <a:noFill/>
          <a:ln/>
        </p:spPr>
        <p:txBody>
          <a:bodyPr wrap="square" rtlCol="0" anchor="ctr"/>
          <a:lstStyle/>
          <a:p>
            <a:pPr marL="0" indent="0">
              <a:buNone/>
            </a:pPr>
            <a:r>
              <a:rPr lang="en-US" sz="1150" b="1" dirty="0">
                <a:solidFill>
                  <a:srgbClr val="3A5878"/>
                </a:solidFill>
                <a:latin typeface="Calibri" pitchFamily="34" charset="0"/>
                <a:ea typeface="Calibri" pitchFamily="34" charset="-122"/>
                <a:cs typeface="Calibri" pitchFamily="34" charset="-120"/>
              </a:rPr>
              <a:t>📍 FILE   </a:t>
            </a:r>
            <a:r>
              <a:rPr lang="en-US" sz="1150" dirty="0">
                <a:solidFill>
                  <a:srgbClr val="17324D"/>
                </a:solidFill>
                <a:latin typeface="Consolas" pitchFamily="34" charset="0"/>
                <a:ea typeface="Consolas" pitchFamily="34" charset="-122"/>
                <a:cs typeface="Consolas" pitchFamily="34" charset="-120"/>
              </a:rPr>
              <a:t>spark/src/main/scala/FlightStreaming.scala</a:t>
            </a:r>
            <a:endParaRPr lang="en-US" sz="1150" dirty="0"/>
          </a:p>
        </p:txBody>
      </p:sp>
      <p:sp>
        <p:nvSpPr>
          <p:cNvPr id="26" name="Shape 20"/>
          <p:cNvSpPr/>
          <p:nvPr/>
        </p:nvSpPr>
        <p:spPr>
          <a:xfrm>
            <a:off x="6400800" y="1380744"/>
            <a:ext cx="5257800" cy="2606040"/>
          </a:xfrm>
          <a:prstGeom prst="roundRect">
            <a:avLst>
              <a:gd name="adj" fmla="val 2807"/>
            </a:avLst>
          </a:prstGeom>
          <a:solidFill>
            <a:srgbClr val="0F2233"/>
          </a:solidFill>
          <a:ln/>
          <a:effectLst>
            <a:outerShdw blurRad="101600" dist="38100" dir="5400000" algn="bl" rotWithShape="0">
              <a:srgbClr val="17324D">
                <a:alpha val="25000"/>
              </a:srgbClr>
            </a:outerShdw>
          </a:effectLst>
        </p:spPr>
      </p:sp>
      <p:sp>
        <p:nvSpPr>
          <p:cNvPr id="27" name="Text 21"/>
          <p:cNvSpPr/>
          <p:nvPr/>
        </p:nvSpPr>
        <p:spPr>
          <a:xfrm>
            <a:off x="6601968" y="1490472"/>
            <a:ext cx="4855464" cy="2386584"/>
          </a:xfrm>
          <a:prstGeom prst="rect">
            <a:avLst/>
          </a:prstGeom>
          <a:noFill/>
          <a:ln/>
        </p:spPr>
        <p:txBody>
          <a:bodyPr wrap="square" rtlCol="0" anchor="t"/>
          <a:lstStyle/>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val cols = Array("latitude","longitude",</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"altitude","velocity")</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val assembler = new VectorAssembler()</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.setInputCols(cols).setOutputCol("features")</a:t>
            </a:r>
            <a:endParaRPr lang="en-US" sz="1100" dirty="0"/>
          </a:p>
          <a:p>
            <a:pPr marL="0" indent="0">
              <a:lnSpc>
                <a:spcPct val="115000"/>
              </a:lnSpc>
              <a:buNone/>
            </a:pP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val scaler = new StandardScaler()</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.setInputCol("features")</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.setOutputCol("scaled")</a:t>
            </a:r>
            <a:endParaRPr lang="en-US" sz="1100" dirty="0"/>
          </a:p>
          <a:p>
            <a:pPr marL="0" indent="0">
              <a:lnSpc>
                <a:spcPct val="115000"/>
              </a:lnSpc>
              <a:buNone/>
            </a:pP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val kmeans = new KMeans()</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.setK(4).setSeed(42).setFeaturesCol("scaled")</a:t>
            </a:r>
            <a:endParaRPr lang="en-US" sz="1100" dirty="0"/>
          </a:p>
        </p:txBody>
      </p:sp>
      <p:sp>
        <p:nvSpPr>
          <p:cNvPr id="28" name="Shape 22"/>
          <p:cNvSpPr/>
          <p:nvPr/>
        </p:nvSpPr>
        <p:spPr>
          <a:xfrm>
            <a:off x="6400800" y="4114800"/>
            <a:ext cx="5257800" cy="822960"/>
          </a:xfrm>
          <a:prstGeom prst="roundRect">
            <a:avLst>
              <a:gd name="adj" fmla="val 8889"/>
            </a:avLst>
          </a:prstGeom>
          <a:solidFill>
            <a:srgbClr val="F2F8FC"/>
          </a:solidFill>
          <a:ln w="12700">
            <a:solidFill>
              <a:srgbClr val="E7EDF3"/>
            </a:solidFill>
            <a:prstDash val="solid"/>
          </a:ln>
        </p:spPr>
      </p:sp>
      <p:sp>
        <p:nvSpPr>
          <p:cNvPr id="29" name="Text 23"/>
          <p:cNvSpPr/>
          <p:nvPr/>
        </p:nvSpPr>
        <p:spPr>
          <a:xfrm>
            <a:off x="6565392" y="4187952"/>
            <a:ext cx="4928616" cy="676656"/>
          </a:xfrm>
          <a:prstGeom prst="rect">
            <a:avLst/>
          </a:prstGeom>
          <a:noFill/>
          <a:ln/>
        </p:spPr>
        <p:txBody>
          <a:bodyPr wrap="square" rtlCol="0" anchor="t"/>
          <a:lstStyle/>
          <a:p>
            <a:pPr marL="0" indent="0">
              <a:lnSpc>
                <a:spcPct val="105000"/>
              </a:lnSpc>
              <a:buNone/>
            </a:pPr>
            <a:r>
              <a:rPr lang="en-US" sz="1100" b="1" dirty="0">
                <a:solidFill>
                  <a:srgbClr val="1D6FB8"/>
                </a:solidFill>
                <a:latin typeface="Calibri" pitchFamily="34" charset="0"/>
                <a:ea typeface="Calibri" pitchFamily="34" charset="-122"/>
                <a:cs typeface="Calibri" pitchFamily="34" charset="-120"/>
              </a:rPr>
              <a:t>🧠 IN PLAIN ENGLISH
</a:t>
            </a:r>
            <a:r>
              <a:rPr lang="en-US" sz="1250" dirty="0">
                <a:solidFill>
                  <a:srgbClr val="17324D"/>
                </a:solidFill>
                <a:latin typeface="Calibri" pitchFamily="34" charset="0"/>
                <a:ea typeface="Calibri" pitchFamily="34" charset="-122"/>
                <a:cs typeface="Calibri" pitchFamily="34" charset="-120"/>
              </a:rPr>
              <a:t>Spark MLlib assembles the four features into a vector, standardizes them, then trains K-Means (Spark MLlib) to discover groups.</a:t>
            </a:r>
            <a:endParaRPr lang="en-US" sz="1100" dirty="0"/>
          </a:p>
        </p:txBody>
      </p:sp>
      <p:sp>
        <p:nvSpPr>
          <p:cNvPr id="30" name="Shape 24"/>
          <p:cNvSpPr/>
          <p:nvPr/>
        </p:nvSpPr>
        <p:spPr>
          <a:xfrm>
            <a:off x="548640" y="5440680"/>
            <a:ext cx="11091672" cy="868680"/>
          </a:xfrm>
          <a:prstGeom prst="roundRect">
            <a:avLst>
              <a:gd name="adj" fmla="val 12632"/>
            </a:avLst>
          </a:prstGeom>
          <a:solidFill>
            <a:srgbClr val="EAF6F5"/>
          </a:solidFill>
          <a:ln w="15875">
            <a:solidFill>
              <a:srgbClr val="1E9E8C"/>
            </a:solidFill>
            <a:prstDash val="solid"/>
          </a:ln>
          <a:effectLst>
            <a:outerShdw blurRad="76200" dist="25400" dir="5400000" algn="bl" rotWithShape="0">
              <a:srgbClr val="1E9E8C">
                <a:alpha val="15000"/>
              </a:srgbClr>
            </a:outerShdw>
          </a:effectLst>
        </p:spPr>
      </p:sp>
      <p:pic>
        <p:nvPicPr>
          <p:cNvPr id="31" name="Image 4" descr="/home/claude/flightstream/icons/plane.png"/>
          <p:cNvPicPr>
            <a:picLocks noChangeAspect="1"/>
          </p:cNvPicPr>
          <p:nvPr/>
        </p:nvPicPr>
        <p:blipFill>
          <a:blip r:embed="rId6"/>
          <a:stretch>
            <a:fillRect/>
          </a:stretch>
        </p:blipFill>
        <p:spPr>
          <a:xfrm rot="-2400000">
            <a:off x="749808" y="5701284"/>
            <a:ext cx="347472" cy="347472"/>
          </a:xfrm>
          <a:prstGeom prst="rect">
            <a:avLst/>
          </a:prstGeom>
        </p:spPr>
      </p:pic>
      <p:sp>
        <p:nvSpPr>
          <p:cNvPr id="32" name="Shape 25"/>
          <p:cNvSpPr/>
          <p:nvPr/>
        </p:nvSpPr>
        <p:spPr>
          <a:xfrm>
            <a:off x="694944" y="5618988"/>
            <a:ext cx="512064" cy="512064"/>
          </a:xfrm>
          <a:prstGeom prst="ellipse">
            <a:avLst/>
          </a:prstGeom>
          <a:solidFill>
            <a:srgbClr val="1E9E8C"/>
          </a:solidFill>
          <a:ln/>
        </p:spPr>
      </p:sp>
      <p:pic>
        <p:nvPicPr>
          <p:cNvPr id="33" name="Image 5" descr="/home/claude/flightstream/icons/plane.png"/>
          <p:cNvPicPr>
            <a:picLocks noChangeAspect="1"/>
          </p:cNvPicPr>
          <p:nvPr/>
        </p:nvPicPr>
        <p:blipFill>
          <a:blip r:embed="rId6"/>
          <a:stretch>
            <a:fillRect/>
          </a:stretch>
        </p:blipFill>
        <p:spPr>
          <a:xfrm rot="-2400000">
            <a:off x="822960" y="5737860"/>
            <a:ext cx="274320" cy="274320"/>
          </a:xfrm>
          <a:prstGeom prst="rect">
            <a:avLst/>
          </a:prstGeom>
        </p:spPr>
      </p:pic>
      <p:sp>
        <p:nvSpPr>
          <p:cNvPr id="34" name="Text 26"/>
          <p:cNvSpPr/>
          <p:nvPr/>
        </p:nvSpPr>
        <p:spPr>
          <a:xfrm>
            <a:off x="1417320" y="5532120"/>
            <a:ext cx="9994392" cy="256032"/>
          </a:xfrm>
          <a:prstGeom prst="rect">
            <a:avLst/>
          </a:prstGeom>
          <a:noFill/>
          <a:ln/>
        </p:spPr>
        <p:txBody>
          <a:bodyPr wrap="square" rtlCol="0" anchor="ctr"/>
          <a:lstStyle/>
          <a:p>
            <a:pPr marL="0" indent="0">
              <a:buNone/>
            </a:pPr>
            <a:r>
              <a:rPr lang="en-US" sz="1150" b="1" kern="0" spc="50" dirty="0">
                <a:solidFill>
                  <a:srgbClr val="1E9E8C"/>
                </a:solidFill>
                <a:latin typeface="Calibri" pitchFamily="34" charset="0"/>
                <a:ea typeface="Calibri" pitchFamily="34" charset="-122"/>
                <a:cs typeface="Calibri" pitchFamily="34" charset="-120"/>
              </a:rPr>
              <a:t>FLIGHTSTREAM FLASHBACK</a:t>
            </a:r>
            <a:endParaRPr lang="en-US" sz="1150" dirty="0"/>
          </a:p>
        </p:txBody>
      </p:sp>
      <p:sp>
        <p:nvSpPr>
          <p:cNvPr id="35" name="Text 27"/>
          <p:cNvSpPr/>
          <p:nvPr/>
        </p:nvSpPr>
        <p:spPr>
          <a:xfrm>
            <a:off x="1417320" y="5769864"/>
            <a:ext cx="9994392" cy="484632"/>
          </a:xfrm>
          <a:prstGeom prst="rect">
            <a:avLst/>
          </a:prstGeom>
          <a:noFill/>
          <a:ln/>
        </p:spPr>
        <p:txBody>
          <a:bodyPr wrap="square" rtlCol="0" anchor="t"/>
          <a:lstStyle/>
          <a:p>
            <a:pPr marL="0" indent="0">
              <a:lnSpc>
                <a:spcPct val="105000"/>
              </a:lnSpc>
              <a:buNone/>
            </a:pPr>
            <a:r>
              <a:rPr lang="en-US" sz="1350" i="1" dirty="0">
                <a:solidFill>
                  <a:srgbClr val="17324D"/>
                </a:solidFill>
                <a:latin typeface="Calibri" pitchFamily="34" charset="0"/>
                <a:ea typeface="Calibri" pitchFamily="34" charset="-122"/>
                <a:cs typeface="Calibri" pitchFamily="34" charset="-120"/>
              </a:rPr>
              <a:t>Assembler combines. Scaler standardizes. K-Means groups.</a:t>
            </a:r>
            <a:endParaRPr lang="en-US" sz="1350" dirty="0"/>
          </a:p>
        </p:txBody>
      </p:sp>
      <p:sp>
        <p:nvSpPr>
          <p:cNvPr id="36" name="Text 28"/>
          <p:cNvSpPr/>
          <p:nvPr/>
        </p:nvSpPr>
        <p:spPr>
          <a:xfrm>
            <a:off x="11274552" y="6473952"/>
            <a:ext cx="731520" cy="274320"/>
          </a:xfrm>
          <a:prstGeom prst="rect">
            <a:avLst/>
          </a:prstGeom>
          <a:noFill/>
          <a:ln/>
        </p:spPr>
        <p:txBody>
          <a:bodyPr wrap="square" rtlCol="0" anchor="ctr"/>
          <a:lstStyle/>
          <a:p>
            <a:pPr marL="0" indent="0" algn="r">
              <a:buNone/>
            </a:pPr>
            <a:r>
              <a:rPr lang="en-US" sz="900" dirty="0">
                <a:solidFill>
                  <a:srgbClr val="8A97A8"/>
                </a:solidFill>
                <a:latin typeface="Calibri" pitchFamily="34" charset="0"/>
                <a:ea typeface="Calibri" pitchFamily="34" charset="-122"/>
                <a:cs typeface="Calibri" pitchFamily="34" charset="-120"/>
              </a:rPr>
              <a:t>7 / 10</a:t>
            </a:r>
            <a:endParaRPr lang="en-US" sz="900" dirty="0"/>
          </a:p>
        </p:txBody>
      </p:sp>
      <p:sp>
        <p:nvSpPr>
          <p:cNvPr id="37" name="Text 29"/>
          <p:cNvSpPr/>
          <p:nvPr/>
        </p:nvSpPr>
        <p:spPr>
          <a:xfrm>
            <a:off x="457200" y="6473952"/>
            <a:ext cx="2743200" cy="274320"/>
          </a:xfrm>
          <a:prstGeom prst="rect">
            <a:avLst/>
          </a:prstGeom>
          <a:noFill/>
          <a:ln/>
        </p:spPr>
        <p:txBody>
          <a:bodyPr wrap="square" rtlCol="0" anchor="ctr"/>
          <a:lstStyle/>
          <a:p>
            <a:pPr marL="0" indent="0">
              <a:buNone/>
            </a:pPr>
            <a:r>
              <a:rPr lang="en-US" sz="900" kern="0" spc="200" dirty="0">
                <a:solidFill>
                  <a:srgbClr val="8A97A8"/>
                </a:solidFill>
                <a:latin typeface="Calibri" pitchFamily="34" charset="0"/>
                <a:ea typeface="Calibri" pitchFamily="34" charset="-122"/>
                <a:cs typeface="Calibri" pitchFamily="34" charset="-120"/>
              </a:rPr>
              <a:t>FLIGHTSTREAM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rtlCol="0" anchor="ctr"/>
          <a:lstStyle/>
          <a:p>
            <a:pPr marL="0" indent="0">
              <a:buNone/>
            </a:pPr>
            <a:r>
              <a:rPr lang="en-US" sz="1100" b="1" kern="0" spc="150" dirty="0">
                <a:solidFill>
                  <a:srgbClr val="1E9E8C"/>
                </a:solidFill>
                <a:latin typeface="Calibri" pitchFamily="34" charset="0"/>
                <a:ea typeface="Calibri" pitchFamily="34" charset="-122"/>
                <a:cs typeface="Calibri" pitchFamily="34" charset="-120"/>
              </a:rPr>
              <a:t>MODEL MECHANICS</a:t>
            </a:r>
            <a:endParaRPr lang="en-US" sz="1100" dirty="0"/>
          </a:p>
        </p:txBody>
      </p:sp>
      <p:sp>
        <p:nvSpPr>
          <p:cNvPr id="3" name="Text 1"/>
          <p:cNvSpPr/>
          <p:nvPr/>
        </p:nvSpPr>
        <p:spPr>
          <a:xfrm>
            <a:off x="548640" y="365760"/>
            <a:ext cx="11091672" cy="640080"/>
          </a:xfrm>
          <a:prstGeom prst="rect">
            <a:avLst/>
          </a:prstGeom>
          <a:noFill/>
          <a:ln/>
        </p:spPr>
        <p:txBody>
          <a:bodyPr wrap="square" rtlCol="0" anchor="ctr"/>
          <a:lstStyle/>
          <a:p>
            <a:pPr marL="0" indent="0" algn="l">
              <a:buNone/>
            </a:pPr>
            <a:r>
              <a:rPr lang="en-US" sz="3000" b="1" dirty="0">
                <a:solidFill>
                  <a:srgbClr val="17324D"/>
                </a:solidFill>
                <a:latin typeface="Calibri" pitchFamily="34" charset="0"/>
                <a:ea typeface="Calibri" pitchFamily="34" charset="-122"/>
                <a:cs typeface="Calibri" pitchFamily="34" charset="-120"/>
              </a:rPr>
              <a:t>From Features → Clusters</a:t>
            </a:r>
            <a:endParaRPr lang="en-US" sz="3000" dirty="0"/>
          </a:p>
        </p:txBody>
      </p:sp>
      <p:sp>
        <p:nvSpPr>
          <p:cNvPr id="4" name="Shape 2"/>
          <p:cNvSpPr/>
          <p:nvPr/>
        </p:nvSpPr>
        <p:spPr>
          <a:xfrm>
            <a:off x="548640" y="960120"/>
            <a:ext cx="4937760" cy="457200"/>
          </a:xfrm>
          <a:prstGeom prst="roundRect">
            <a:avLst>
              <a:gd name="adj" fmla="val 18000"/>
            </a:avLst>
          </a:prstGeom>
          <a:solidFill>
            <a:srgbClr val="8A97A8"/>
          </a:solidFill>
          <a:ln/>
        </p:spPr>
      </p:sp>
      <p:sp>
        <p:nvSpPr>
          <p:cNvPr id="5" name="Text 3"/>
          <p:cNvSpPr/>
          <p:nvPr/>
        </p:nvSpPr>
        <p:spPr>
          <a:xfrm>
            <a:off x="548640" y="960120"/>
            <a:ext cx="493776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Lat + Lon + Altitude + Velocity</a:t>
            </a:r>
            <a:endParaRPr lang="en-US" sz="1200" dirty="0"/>
          </a:p>
        </p:txBody>
      </p:sp>
      <p:sp>
        <p:nvSpPr>
          <p:cNvPr id="6" name="Shape 4"/>
          <p:cNvSpPr/>
          <p:nvPr/>
        </p:nvSpPr>
        <p:spPr>
          <a:xfrm>
            <a:off x="2944368" y="1421892"/>
            <a:ext cx="146304" cy="100584"/>
          </a:xfrm>
          <a:prstGeom prst="downArrow">
            <a:avLst/>
          </a:prstGeom>
          <a:solidFill>
            <a:srgbClr val="8A97A8"/>
          </a:solidFill>
          <a:ln/>
        </p:spPr>
      </p:sp>
      <p:sp>
        <p:nvSpPr>
          <p:cNvPr id="7" name="Shape 5"/>
          <p:cNvSpPr/>
          <p:nvPr/>
        </p:nvSpPr>
        <p:spPr>
          <a:xfrm>
            <a:off x="548640" y="1527048"/>
            <a:ext cx="4937760" cy="457200"/>
          </a:xfrm>
          <a:prstGeom prst="roundRect">
            <a:avLst>
              <a:gd name="adj" fmla="val 18000"/>
            </a:avLst>
          </a:prstGeom>
          <a:solidFill>
            <a:srgbClr val="3E8ED0"/>
          </a:solidFill>
          <a:ln/>
        </p:spPr>
      </p:sp>
      <p:sp>
        <p:nvSpPr>
          <p:cNvPr id="8" name="Text 6"/>
          <p:cNvSpPr/>
          <p:nvPr/>
        </p:nvSpPr>
        <p:spPr>
          <a:xfrm>
            <a:off x="548640" y="1527048"/>
            <a:ext cx="493776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VectorAssembler</a:t>
            </a:r>
            <a:endParaRPr lang="en-US" sz="1200" dirty="0"/>
          </a:p>
        </p:txBody>
      </p:sp>
      <p:sp>
        <p:nvSpPr>
          <p:cNvPr id="9" name="Shape 7"/>
          <p:cNvSpPr/>
          <p:nvPr/>
        </p:nvSpPr>
        <p:spPr>
          <a:xfrm>
            <a:off x="2944368" y="1988820"/>
            <a:ext cx="146304" cy="100584"/>
          </a:xfrm>
          <a:prstGeom prst="downArrow">
            <a:avLst/>
          </a:prstGeom>
          <a:solidFill>
            <a:srgbClr val="8A97A8"/>
          </a:solidFill>
          <a:ln/>
        </p:spPr>
      </p:sp>
      <p:sp>
        <p:nvSpPr>
          <p:cNvPr id="10" name="Shape 8"/>
          <p:cNvSpPr/>
          <p:nvPr/>
        </p:nvSpPr>
        <p:spPr>
          <a:xfrm>
            <a:off x="548640" y="2093976"/>
            <a:ext cx="4937760" cy="457200"/>
          </a:xfrm>
          <a:prstGeom prst="roundRect">
            <a:avLst>
              <a:gd name="adj" fmla="val 18000"/>
            </a:avLst>
          </a:prstGeom>
          <a:solidFill>
            <a:srgbClr val="1D6FB8"/>
          </a:solidFill>
          <a:ln/>
        </p:spPr>
      </p:sp>
      <p:sp>
        <p:nvSpPr>
          <p:cNvPr id="11" name="Text 9"/>
          <p:cNvSpPr/>
          <p:nvPr/>
        </p:nvSpPr>
        <p:spPr>
          <a:xfrm>
            <a:off x="548640" y="2093976"/>
            <a:ext cx="493776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StandardScaler</a:t>
            </a:r>
            <a:endParaRPr lang="en-US" sz="1200" dirty="0"/>
          </a:p>
        </p:txBody>
      </p:sp>
      <p:sp>
        <p:nvSpPr>
          <p:cNvPr id="12" name="Shape 10"/>
          <p:cNvSpPr/>
          <p:nvPr/>
        </p:nvSpPr>
        <p:spPr>
          <a:xfrm>
            <a:off x="2944368" y="2555748"/>
            <a:ext cx="146304" cy="100584"/>
          </a:xfrm>
          <a:prstGeom prst="downArrow">
            <a:avLst/>
          </a:prstGeom>
          <a:solidFill>
            <a:srgbClr val="8A97A8"/>
          </a:solidFill>
          <a:ln/>
        </p:spPr>
      </p:sp>
      <p:sp>
        <p:nvSpPr>
          <p:cNvPr id="13" name="Shape 11"/>
          <p:cNvSpPr/>
          <p:nvPr/>
        </p:nvSpPr>
        <p:spPr>
          <a:xfrm>
            <a:off x="548640" y="2660904"/>
            <a:ext cx="4937760" cy="457200"/>
          </a:xfrm>
          <a:prstGeom prst="roundRect">
            <a:avLst>
              <a:gd name="adj" fmla="val 18000"/>
            </a:avLst>
          </a:prstGeom>
          <a:solidFill>
            <a:srgbClr val="1E9E8C"/>
          </a:solidFill>
          <a:ln/>
        </p:spPr>
      </p:sp>
      <p:sp>
        <p:nvSpPr>
          <p:cNvPr id="14" name="Text 12"/>
          <p:cNvSpPr/>
          <p:nvPr/>
        </p:nvSpPr>
        <p:spPr>
          <a:xfrm>
            <a:off x="548640" y="2660904"/>
            <a:ext cx="493776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K-Means (K = 4)</a:t>
            </a:r>
            <a:endParaRPr lang="en-US" sz="1200" dirty="0"/>
          </a:p>
        </p:txBody>
      </p:sp>
      <p:sp>
        <p:nvSpPr>
          <p:cNvPr id="15" name="Shape 13"/>
          <p:cNvSpPr/>
          <p:nvPr/>
        </p:nvSpPr>
        <p:spPr>
          <a:xfrm>
            <a:off x="2944368" y="3122676"/>
            <a:ext cx="146304" cy="100584"/>
          </a:xfrm>
          <a:prstGeom prst="downArrow">
            <a:avLst/>
          </a:prstGeom>
          <a:solidFill>
            <a:srgbClr val="8A97A8"/>
          </a:solidFill>
          <a:ln/>
        </p:spPr>
      </p:sp>
      <p:sp>
        <p:nvSpPr>
          <p:cNvPr id="16" name="Shape 14"/>
          <p:cNvSpPr/>
          <p:nvPr/>
        </p:nvSpPr>
        <p:spPr>
          <a:xfrm>
            <a:off x="548640" y="3227832"/>
            <a:ext cx="4937760" cy="457200"/>
          </a:xfrm>
          <a:prstGeom prst="roundRect">
            <a:avLst>
              <a:gd name="adj" fmla="val 18000"/>
            </a:avLst>
          </a:prstGeom>
          <a:solidFill>
            <a:srgbClr val="17324D"/>
          </a:solidFill>
          <a:ln/>
        </p:spPr>
      </p:sp>
      <p:sp>
        <p:nvSpPr>
          <p:cNvPr id="17" name="Text 15"/>
          <p:cNvSpPr/>
          <p:nvPr/>
        </p:nvSpPr>
        <p:spPr>
          <a:xfrm>
            <a:off x="548640" y="3227832"/>
            <a:ext cx="493776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Prediction: 0 / 1 / 2 / 3</a:t>
            </a:r>
            <a:endParaRPr lang="en-US" sz="1200" dirty="0"/>
          </a:p>
        </p:txBody>
      </p:sp>
      <p:sp>
        <p:nvSpPr>
          <p:cNvPr id="18" name="Shape 16"/>
          <p:cNvSpPr/>
          <p:nvPr/>
        </p:nvSpPr>
        <p:spPr>
          <a:xfrm>
            <a:off x="530225" y="4009644"/>
            <a:ext cx="4937760" cy="480060"/>
          </a:xfrm>
          <a:prstGeom prst="roundRect">
            <a:avLst>
              <a:gd name="adj" fmla="val 8696"/>
            </a:avLst>
          </a:prstGeom>
          <a:solidFill>
            <a:srgbClr val="EAF6F5"/>
          </a:solidFill>
          <a:ln w="12700">
            <a:solidFill>
              <a:srgbClr val="E7EDF3"/>
            </a:solidFill>
            <a:prstDash val="solid"/>
          </a:ln>
        </p:spPr>
      </p:sp>
      <p:sp>
        <p:nvSpPr>
          <p:cNvPr id="19" name="Text 17"/>
          <p:cNvSpPr/>
          <p:nvPr/>
        </p:nvSpPr>
        <p:spPr>
          <a:xfrm>
            <a:off x="923544" y="4114800"/>
            <a:ext cx="4535424" cy="480060"/>
          </a:xfrm>
          <a:prstGeom prst="rect">
            <a:avLst/>
          </a:prstGeom>
          <a:noFill/>
          <a:ln/>
        </p:spPr>
        <p:txBody>
          <a:bodyPr wrap="square" rtlCol="0" anchor="t"/>
          <a:lstStyle/>
          <a:p>
            <a:pPr marL="0" indent="0">
              <a:lnSpc>
                <a:spcPct val="108000"/>
              </a:lnSpc>
              <a:buNone/>
            </a:pPr>
            <a:r>
              <a:rPr lang="en-US" sz="1200" b="1" dirty="0">
                <a:solidFill>
                  <a:srgbClr val="17324D"/>
                </a:solidFill>
                <a:latin typeface="Calibri" pitchFamily="34" charset="0"/>
                <a:ea typeface="Calibri" pitchFamily="34" charset="-122"/>
                <a:cs typeface="Calibri" pitchFamily="34" charset="-120"/>
              </a:rPr>
              <a:t>0, 1, 2, 3 are cluster IDs — </a:t>
            </a:r>
            <a:r>
              <a:rPr lang="en-US" sz="1200" dirty="0">
                <a:solidFill>
                  <a:srgbClr val="3A5878"/>
                </a:solidFill>
                <a:latin typeface="Calibri" pitchFamily="34" charset="0"/>
                <a:ea typeface="Calibri" pitchFamily="34" charset="-122"/>
                <a:cs typeface="Calibri" pitchFamily="34" charset="-120"/>
              </a:rPr>
              <a:t>not predefined aircraft categories.
</a:t>
            </a:r>
            <a:endParaRPr lang="en-US" sz="1200" dirty="0"/>
          </a:p>
        </p:txBody>
      </p:sp>
      <p:sp>
        <p:nvSpPr>
          <p:cNvPr id="20" name="Shape 18"/>
          <p:cNvSpPr/>
          <p:nvPr/>
        </p:nvSpPr>
        <p:spPr>
          <a:xfrm>
            <a:off x="6400800" y="960120"/>
            <a:ext cx="5257800" cy="868680"/>
          </a:xfrm>
          <a:prstGeom prst="roundRect">
            <a:avLst>
              <a:gd name="adj" fmla="val 10526"/>
            </a:avLst>
          </a:prstGeom>
          <a:solidFill>
            <a:srgbClr val="F2F8FC"/>
          </a:solidFill>
          <a:ln w="12700">
            <a:solidFill>
              <a:srgbClr val="E7EDF3"/>
            </a:solidFill>
            <a:prstDash val="solid"/>
          </a:ln>
        </p:spPr>
      </p:sp>
      <p:sp>
        <p:nvSpPr>
          <p:cNvPr id="21" name="Text 19"/>
          <p:cNvSpPr/>
          <p:nvPr/>
        </p:nvSpPr>
        <p:spPr>
          <a:xfrm>
            <a:off x="6583680" y="960120"/>
            <a:ext cx="4892040" cy="868680"/>
          </a:xfrm>
          <a:prstGeom prst="rect">
            <a:avLst/>
          </a:prstGeom>
          <a:noFill/>
          <a:ln/>
        </p:spPr>
        <p:txBody>
          <a:bodyPr wrap="square" rtlCol="0" anchor="ctr"/>
          <a:lstStyle/>
          <a:p>
            <a:pPr marL="0" indent="0">
              <a:lnSpc>
                <a:spcPct val="120000"/>
              </a:lnSpc>
              <a:buNone/>
            </a:pPr>
            <a:r>
              <a:rPr lang="en-US" sz="1300" b="1" dirty="0">
                <a:solidFill>
                  <a:srgbClr val="1D6FB8"/>
                </a:solidFill>
                <a:latin typeface="Consolas" pitchFamily="34" charset="0"/>
                <a:ea typeface="Consolas" pitchFamily="34" charset="-122"/>
                <a:cs typeface="Consolas" pitchFamily="34" charset="-120"/>
              </a:rPr>
              <a:t>fit()  </a:t>
            </a:r>
            <a:r>
              <a:rPr lang="en-US" sz="1250" dirty="0">
                <a:solidFill>
                  <a:srgbClr val="3A5878"/>
                </a:solidFill>
                <a:latin typeface="Calibri" pitchFamily="34" charset="0"/>
                <a:ea typeface="Calibri" pitchFamily="34" charset="-122"/>
                <a:cs typeface="Calibri" pitchFamily="34" charset="-120"/>
              </a:rPr>
              <a:t>trains the model     </a:t>
            </a:r>
            <a:r>
              <a:rPr lang="en-US" sz="1300" b="1" dirty="0">
                <a:solidFill>
                  <a:srgbClr val="1E9E8C"/>
                </a:solidFill>
                <a:latin typeface="Consolas" pitchFamily="34" charset="0"/>
                <a:ea typeface="Consolas" pitchFamily="34" charset="-122"/>
                <a:cs typeface="Consolas" pitchFamily="34" charset="-120"/>
              </a:rPr>
              <a:t>transform()  </a:t>
            </a:r>
            <a:r>
              <a:rPr lang="en-US" sz="1250" dirty="0">
                <a:solidFill>
                  <a:srgbClr val="3A5878"/>
                </a:solidFill>
                <a:latin typeface="Calibri" pitchFamily="34" charset="0"/>
                <a:ea typeface="Calibri" pitchFamily="34" charset="-122"/>
                <a:cs typeface="Calibri" pitchFamily="34" charset="-120"/>
              </a:rPr>
              <a:t>applies it</a:t>
            </a:r>
            <a:endParaRPr lang="en-US" sz="1300" dirty="0"/>
          </a:p>
        </p:txBody>
      </p:sp>
      <p:sp>
        <p:nvSpPr>
          <p:cNvPr id="22" name="Shape 20"/>
          <p:cNvSpPr/>
          <p:nvPr/>
        </p:nvSpPr>
        <p:spPr>
          <a:xfrm>
            <a:off x="6400800" y="1965960"/>
            <a:ext cx="5257800" cy="310896"/>
          </a:xfrm>
          <a:prstGeom prst="roundRect">
            <a:avLst>
              <a:gd name="adj" fmla="val 17647"/>
            </a:avLst>
          </a:prstGeom>
          <a:solidFill>
            <a:srgbClr val="E7EDF3"/>
          </a:solidFill>
          <a:ln/>
        </p:spPr>
      </p:sp>
      <p:sp>
        <p:nvSpPr>
          <p:cNvPr id="23" name="Text 21"/>
          <p:cNvSpPr/>
          <p:nvPr/>
        </p:nvSpPr>
        <p:spPr>
          <a:xfrm>
            <a:off x="6510528" y="1965960"/>
            <a:ext cx="5038344" cy="310896"/>
          </a:xfrm>
          <a:prstGeom prst="rect">
            <a:avLst/>
          </a:prstGeom>
          <a:noFill/>
          <a:ln/>
        </p:spPr>
        <p:txBody>
          <a:bodyPr wrap="square" rtlCol="0" anchor="ctr"/>
          <a:lstStyle/>
          <a:p>
            <a:pPr marL="0" indent="0">
              <a:buNone/>
            </a:pPr>
            <a:r>
              <a:rPr lang="en-US" sz="1150" b="1" dirty="0">
                <a:solidFill>
                  <a:srgbClr val="3A5878"/>
                </a:solidFill>
                <a:latin typeface="Calibri" pitchFamily="34" charset="0"/>
                <a:ea typeface="Calibri" pitchFamily="34" charset="-122"/>
                <a:cs typeface="Calibri" pitchFamily="34" charset="-120"/>
              </a:rPr>
              <a:t>📍 FILE   </a:t>
            </a:r>
            <a:r>
              <a:rPr lang="en-US" sz="1150" dirty="0">
                <a:solidFill>
                  <a:srgbClr val="17324D"/>
                </a:solidFill>
                <a:latin typeface="Consolas" pitchFamily="34" charset="0"/>
                <a:ea typeface="Consolas" pitchFamily="34" charset="-122"/>
                <a:cs typeface="Consolas" pitchFamily="34" charset="-120"/>
              </a:rPr>
              <a:t>spark/src/main/scala/FlightStreaming.scala</a:t>
            </a:r>
            <a:endParaRPr lang="en-US" sz="1150" dirty="0"/>
          </a:p>
        </p:txBody>
      </p:sp>
      <p:sp>
        <p:nvSpPr>
          <p:cNvPr id="24" name="Shape 22"/>
          <p:cNvSpPr/>
          <p:nvPr/>
        </p:nvSpPr>
        <p:spPr>
          <a:xfrm>
            <a:off x="6400800" y="2386584"/>
            <a:ext cx="5257800" cy="1417320"/>
          </a:xfrm>
          <a:prstGeom prst="roundRect">
            <a:avLst>
              <a:gd name="adj" fmla="val 5161"/>
            </a:avLst>
          </a:prstGeom>
          <a:solidFill>
            <a:srgbClr val="0F2233"/>
          </a:solidFill>
          <a:ln/>
          <a:effectLst>
            <a:outerShdw blurRad="101600" dist="38100" dir="5400000" algn="bl" rotWithShape="0">
              <a:srgbClr val="17324D">
                <a:alpha val="25000"/>
              </a:srgbClr>
            </a:outerShdw>
          </a:effectLst>
        </p:spPr>
      </p:sp>
      <p:sp>
        <p:nvSpPr>
          <p:cNvPr id="25" name="Text 23"/>
          <p:cNvSpPr/>
          <p:nvPr/>
        </p:nvSpPr>
        <p:spPr>
          <a:xfrm>
            <a:off x="6601968" y="2496312"/>
            <a:ext cx="4855464" cy="1197864"/>
          </a:xfrm>
          <a:prstGeom prst="rect">
            <a:avLst/>
          </a:prstGeom>
          <a:noFill/>
          <a:ln/>
        </p:spPr>
        <p:txBody>
          <a:bodyPr wrap="square" rtlCol="0" anchor="t"/>
          <a:lstStyle/>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trained on &lt;= 20,000 sampled records</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val model = kmeans.fit(trainingSample)</a:t>
            </a:r>
            <a:endParaRPr lang="en-US" sz="1100" dirty="0"/>
          </a:p>
          <a:p>
            <a:pPr marL="0" indent="0">
              <a:lnSpc>
                <a:spcPct val="115000"/>
              </a:lnSpc>
              <a:buNone/>
            </a:pP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val clustered = model.transform(scaledStream)</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.select($"icao24", $"prediction")</a:t>
            </a:r>
            <a:endParaRPr lang="en-US" sz="1100" dirty="0"/>
          </a:p>
        </p:txBody>
      </p:sp>
      <p:sp>
        <p:nvSpPr>
          <p:cNvPr id="26" name="Shape 24"/>
          <p:cNvSpPr/>
          <p:nvPr/>
        </p:nvSpPr>
        <p:spPr>
          <a:xfrm>
            <a:off x="6400800" y="3931920"/>
            <a:ext cx="5257800" cy="822960"/>
          </a:xfrm>
          <a:prstGeom prst="roundRect">
            <a:avLst>
              <a:gd name="adj" fmla="val 8889"/>
            </a:avLst>
          </a:prstGeom>
          <a:solidFill>
            <a:srgbClr val="F2F8FC"/>
          </a:solidFill>
          <a:ln w="12700">
            <a:solidFill>
              <a:srgbClr val="E7EDF3"/>
            </a:solidFill>
            <a:prstDash val="solid"/>
          </a:ln>
        </p:spPr>
      </p:sp>
      <p:sp>
        <p:nvSpPr>
          <p:cNvPr id="27" name="Text 25"/>
          <p:cNvSpPr/>
          <p:nvPr/>
        </p:nvSpPr>
        <p:spPr>
          <a:xfrm>
            <a:off x="6565392" y="4005072"/>
            <a:ext cx="4928616" cy="676656"/>
          </a:xfrm>
          <a:prstGeom prst="rect">
            <a:avLst/>
          </a:prstGeom>
          <a:noFill/>
          <a:ln/>
        </p:spPr>
        <p:txBody>
          <a:bodyPr wrap="square" rtlCol="0" anchor="t"/>
          <a:lstStyle/>
          <a:p>
            <a:pPr marL="0" indent="0">
              <a:lnSpc>
                <a:spcPct val="105000"/>
              </a:lnSpc>
              <a:buNone/>
            </a:pPr>
            <a:r>
              <a:rPr lang="en-US" sz="1100" b="1" dirty="0">
                <a:solidFill>
                  <a:srgbClr val="1D6FB8"/>
                </a:solidFill>
                <a:latin typeface="Calibri" pitchFamily="34" charset="0"/>
                <a:ea typeface="Calibri" pitchFamily="34" charset="-122"/>
                <a:cs typeface="Calibri" pitchFamily="34" charset="-120"/>
              </a:rPr>
              <a:t>🧠 IN PLAIN ENGLISH
</a:t>
            </a:r>
            <a:r>
              <a:rPr lang="en-US" sz="1250" dirty="0">
                <a:solidFill>
                  <a:srgbClr val="17324D"/>
                </a:solidFill>
                <a:latin typeface="Calibri" pitchFamily="34" charset="0"/>
                <a:ea typeface="Calibri" pitchFamily="34" charset="-122"/>
                <a:cs typeface="Calibri" pitchFamily="34" charset="-120"/>
              </a:rPr>
              <a:t>K-Means trains once on up to 20,000 flight records, then the trained model assigns each incoming record to one of four clusters.</a:t>
            </a:r>
            <a:endParaRPr lang="en-US" sz="1100" dirty="0"/>
          </a:p>
        </p:txBody>
      </p:sp>
      <p:sp>
        <p:nvSpPr>
          <p:cNvPr id="28" name="Shape 26"/>
          <p:cNvSpPr/>
          <p:nvPr/>
        </p:nvSpPr>
        <p:spPr>
          <a:xfrm>
            <a:off x="548640" y="5440680"/>
            <a:ext cx="11091672" cy="868680"/>
          </a:xfrm>
          <a:prstGeom prst="roundRect">
            <a:avLst>
              <a:gd name="adj" fmla="val 12632"/>
            </a:avLst>
          </a:prstGeom>
          <a:solidFill>
            <a:srgbClr val="EAF6F5"/>
          </a:solidFill>
          <a:ln w="15875">
            <a:solidFill>
              <a:srgbClr val="1E9E8C"/>
            </a:solidFill>
            <a:prstDash val="solid"/>
          </a:ln>
          <a:effectLst>
            <a:outerShdw blurRad="76200" dist="25400" dir="5400000" algn="bl" rotWithShape="0">
              <a:srgbClr val="1E9E8C">
                <a:alpha val="15000"/>
              </a:srgbClr>
            </a:outerShdw>
          </a:effectLst>
        </p:spPr>
      </p:sp>
      <p:pic>
        <p:nvPicPr>
          <p:cNvPr id="29" name="Image 0" descr="/home/claude/flightstream/icons/plane.png"/>
          <p:cNvPicPr>
            <a:picLocks noChangeAspect="1"/>
          </p:cNvPicPr>
          <p:nvPr/>
        </p:nvPicPr>
        <p:blipFill>
          <a:blip r:embed="rId3"/>
          <a:stretch>
            <a:fillRect/>
          </a:stretch>
        </p:blipFill>
        <p:spPr>
          <a:xfrm rot="-2400000">
            <a:off x="749808" y="5701284"/>
            <a:ext cx="347472" cy="347472"/>
          </a:xfrm>
          <a:prstGeom prst="rect">
            <a:avLst/>
          </a:prstGeom>
        </p:spPr>
      </p:pic>
      <p:sp>
        <p:nvSpPr>
          <p:cNvPr id="30" name="Shape 27"/>
          <p:cNvSpPr/>
          <p:nvPr/>
        </p:nvSpPr>
        <p:spPr>
          <a:xfrm>
            <a:off x="694944" y="5618988"/>
            <a:ext cx="512064" cy="512064"/>
          </a:xfrm>
          <a:prstGeom prst="ellipse">
            <a:avLst/>
          </a:prstGeom>
          <a:solidFill>
            <a:srgbClr val="1E9E8C"/>
          </a:solidFill>
          <a:ln/>
        </p:spPr>
      </p:sp>
      <p:pic>
        <p:nvPicPr>
          <p:cNvPr id="31" name="Image 1" descr="/home/claude/flightstream/icons/plane.png"/>
          <p:cNvPicPr>
            <a:picLocks noChangeAspect="1"/>
          </p:cNvPicPr>
          <p:nvPr/>
        </p:nvPicPr>
        <p:blipFill>
          <a:blip r:embed="rId3"/>
          <a:stretch>
            <a:fillRect/>
          </a:stretch>
        </p:blipFill>
        <p:spPr>
          <a:xfrm rot="-2400000">
            <a:off x="822960" y="5737860"/>
            <a:ext cx="274320" cy="274320"/>
          </a:xfrm>
          <a:prstGeom prst="rect">
            <a:avLst/>
          </a:prstGeom>
        </p:spPr>
      </p:pic>
      <p:sp>
        <p:nvSpPr>
          <p:cNvPr id="32" name="Text 28"/>
          <p:cNvSpPr/>
          <p:nvPr/>
        </p:nvSpPr>
        <p:spPr>
          <a:xfrm>
            <a:off x="1417320" y="5532120"/>
            <a:ext cx="9994392" cy="256032"/>
          </a:xfrm>
          <a:prstGeom prst="rect">
            <a:avLst/>
          </a:prstGeom>
          <a:noFill/>
          <a:ln/>
        </p:spPr>
        <p:txBody>
          <a:bodyPr wrap="square" rtlCol="0" anchor="ctr"/>
          <a:lstStyle/>
          <a:p>
            <a:pPr marL="0" indent="0">
              <a:buNone/>
            </a:pPr>
            <a:r>
              <a:rPr lang="en-US" sz="1150" b="1" kern="0" spc="50" dirty="0">
                <a:solidFill>
                  <a:srgbClr val="1E9E8C"/>
                </a:solidFill>
                <a:latin typeface="Calibri" pitchFamily="34" charset="0"/>
                <a:ea typeface="Calibri" pitchFamily="34" charset="-122"/>
                <a:cs typeface="Calibri" pitchFamily="34" charset="-120"/>
              </a:rPr>
              <a:t>FLIGHTSTREAM FLASHBACK</a:t>
            </a:r>
            <a:endParaRPr lang="en-US" sz="1150" dirty="0"/>
          </a:p>
        </p:txBody>
      </p:sp>
      <p:sp>
        <p:nvSpPr>
          <p:cNvPr id="33" name="Text 29"/>
          <p:cNvSpPr/>
          <p:nvPr/>
        </p:nvSpPr>
        <p:spPr>
          <a:xfrm>
            <a:off x="1417320" y="5769864"/>
            <a:ext cx="9994392" cy="484632"/>
          </a:xfrm>
          <a:prstGeom prst="rect">
            <a:avLst/>
          </a:prstGeom>
          <a:noFill/>
          <a:ln/>
        </p:spPr>
        <p:txBody>
          <a:bodyPr wrap="square" rtlCol="0" anchor="t"/>
          <a:lstStyle/>
          <a:p>
            <a:pPr marL="0" indent="0">
              <a:lnSpc>
                <a:spcPct val="105000"/>
              </a:lnSpc>
              <a:buNone/>
            </a:pPr>
            <a:r>
              <a:rPr lang="en-US" sz="1350" i="1" dirty="0">
                <a:solidFill>
                  <a:srgbClr val="17324D"/>
                </a:solidFill>
                <a:latin typeface="Calibri" pitchFamily="34" charset="0"/>
                <a:ea typeface="Calibri" pitchFamily="34" charset="-122"/>
                <a:cs typeface="Calibri" pitchFamily="34" charset="-120"/>
              </a:rPr>
              <a:t>K = number of groups. Prediction = group ID.</a:t>
            </a:r>
            <a:endParaRPr lang="en-US" sz="1350" dirty="0"/>
          </a:p>
        </p:txBody>
      </p:sp>
      <p:sp>
        <p:nvSpPr>
          <p:cNvPr id="34" name="Text 30"/>
          <p:cNvSpPr/>
          <p:nvPr/>
        </p:nvSpPr>
        <p:spPr>
          <a:xfrm>
            <a:off x="11274552" y="6473952"/>
            <a:ext cx="731520" cy="274320"/>
          </a:xfrm>
          <a:prstGeom prst="rect">
            <a:avLst/>
          </a:prstGeom>
          <a:noFill/>
          <a:ln/>
        </p:spPr>
        <p:txBody>
          <a:bodyPr wrap="square" rtlCol="0" anchor="ctr"/>
          <a:lstStyle/>
          <a:p>
            <a:pPr marL="0" indent="0" algn="r">
              <a:buNone/>
            </a:pPr>
            <a:r>
              <a:rPr lang="en-US" sz="900" dirty="0">
                <a:solidFill>
                  <a:srgbClr val="8A97A8"/>
                </a:solidFill>
                <a:latin typeface="Calibri" pitchFamily="34" charset="0"/>
                <a:ea typeface="Calibri" pitchFamily="34" charset="-122"/>
                <a:cs typeface="Calibri" pitchFamily="34" charset="-120"/>
              </a:rPr>
              <a:t>8 / 10</a:t>
            </a:r>
            <a:endParaRPr lang="en-US" sz="900" dirty="0"/>
          </a:p>
        </p:txBody>
      </p:sp>
      <p:sp>
        <p:nvSpPr>
          <p:cNvPr id="35" name="Text 31"/>
          <p:cNvSpPr/>
          <p:nvPr/>
        </p:nvSpPr>
        <p:spPr>
          <a:xfrm>
            <a:off x="457200" y="6473952"/>
            <a:ext cx="2743200" cy="274320"/>
          </a:xfrm>
          <a:prstGeom prst="rect">
            <a:avLst/>
          </a:prstGeom>
          <a:noFill/>
          <a:ln/>
        </p:spPr>
        <p:txBody>
          <a:bodyPr wrap="square" rtlCol="0" anchor="ctr"/>
          <a:lstStyle/>
          <a:p>
            <a:pPr marL="0" indent="0">
              <a:buNone/>
            </a:pPr>
            <a:r>
              <a:rPr lang="en-US" sz="900" kern="0" spc="200" dirty="0">
                <a:solidFill>
                  <a:srgbClr val="8A97A8"/>
                </a:solidFill>
                <a:latin typeface="Calibri" pitchFamily="34" charset="0"/>
                <a:ea typeface="Calibri" pitchFamily="34" charset="-122"/>
                <a:cs typeface="Calibri" pitchFamily="34" charset="-120"/>
              </a:rPr>
              <a:t>FLIGHTSTREAM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rtlCol="0" anchor="ctr"/>
          <a:lstStyle/>
          <a:p>
            <a:pPr marL="0" indent="0">
              <a:buNone/>
            </a:pPr>
            <a:r>
              <a:rPr lang="en-US" sz="1100" b="1" kern="0" spc="150" dirty="0">
                <a:solidFill>
                  <a:srgbClr val="1E9E8C"/>
                </a:solidFill>
                <a:latin typeface="Calibri" pitchFamily="34" charset="0"/>
                <a:ea typeface="Calibri" pitchFamily="34" charset="-122"/>
                <a:cs typeface="Calibri" pitchFamily="34" charset="-120"/>
              </a:rPr>
              <a:t>STORAGE &amp; VISUALIZATION</a:t>
            </a:r>
            <a:endParaRPr lang="en-US" sz="1100" dirty="0"/>
          </a:p>
        </p:txBody>
      </p:sp>
      <p:sp>
        <p:nvSpPr>
          <p:cNvPr id="3" name="Text 1"/>
          <p:cNvSpPr/>
          <p:nvPr/>
        </p:nvSpPr>
        <p:spPr>
          <a:xfrm>
            <a:off x="548640" y="365760"/>
            <a:ext cx="11091672" cy="640080"/>
          </a:xfrm>
          <a:prstGeom prst="rect">
            <a:avLst/>
          </a:prstGeom>
          <a:noFill/>
          <a:ln/>
        </p:spPr>
        <p:txBody>
          <a:bodyPr wrap="square" rtlCol="0" anchor="ctr"/>
          <a:lstStyle/>
          <a:p>
            <a:pPr marL="0" indent="0" algn="l">
              <a:buNone/>
            </a:pPr>
            <a:r>
              <a:rPr lang="en-US" sz="3000" b="1" dirty="0">
                <a:solidFill>
                  <a:srgbClr val="17324D"/>
                </a:solidFill>
                <a:latin typeface="Calibri" pitchFamily="34" charset="0"/>
                <a:ea typeface="Calibri" pitchFamily="34" charset="-122"/>
                <a:cs typeface="Calibri" pitchFamily="34" charset="-120"/>
              </a:rPr>
              <a:t>From Spark Results → PostgreSQL → Power BI</a:t>
            </a:r>
            <a:endParaRPr lang="en-US" sz="3000" dirty="0"/>
          </a:p>
        </p:txBody>
      </p:sp>
      <p:sp>
        <p:nvSpPr>
          <p:cNvPr id="4" name="Shape 2"/>
          <p:cNvSpPr/>
          <p:nvPr/>
        </p:nvSpPr>
        <p:spPr>
          <a:xfrm>
            <a:off x="548640" y="1051560"/>
            <a:ext cx="1554480" cy="457200"/>
          </a:xfrm>
          <a:prstGeom prst="roundRect">
            <a:avLst>
              <a:gd name="adj" fmla="val 20000"/>
            </a:avLst>
          </a:prstGeom>
          <a:solidFill>
            <a:srgbClr val="1E9E8C"/>
          </a:solidFill>
          <a:ln/>
          <a:effectLst>
            <a:outerShdw blurRad="63500" dist="25400" dir="5400000" algn="bl" rotWithShape="0">
              <a:srgbClr val="17324D">
                <a:alpha val="18000"/>
              </a:srgbClr>
            </a:outerShdw>
          </a:effectLst>
        </p:spPr>
      </p:sp>
      <p:pic>
        <p:nvPicPr>
          <p:cNvPr id="5" name="Image 0" descr="/home/claude/flightstream/icons/spark.png"/>
          <p:cNvPicPr>
            <a:picLocks noChangeAspect="1"/>
          </p:cNvPicPr>
          <p:nvPr/>
        </p:nvPicPr>
        <p:blipFill>
          <a:blip r:embed="rId3"/>
          <a:stretch>
            <a:fillRect/>
          </a:stretch>
        </p:blipFill>
        <p:spPr>
          <a:xfrm>
            <a:off x="658368" y="1133856"/>
            <a:ext cx="292608" cy="292608"/>
          </a:xfrm>
          <a:prstGeom prst="rect">
            <a:avLst/>
          </a:prstGeom>
        </p:spPr>
      </p:pic>
      <p:sp>
        <p:nvSpPr>
          <p:cNvPr id="6" name="Text 3"/>
          <p:cNvSpPr/>
          <p:nvPr/>
        </p:nvSpPr>
        <p:spPr>
          <a:xfrm>
            <a:off x="1005840" y="1051560"/>
            <a:ext cx="987552"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Spark</a:t>
            </a:r>
            <a:endParaRPr lang="en-US" sz="1250" dirty="0"/>
          </a:p>
        </p:txBody>
      </p:sp>
      <p:sp>
        <p:nvSpPr>
          <p:cNvPr id="7" name="Shape 4"/>
          <p:cNvSpPr/>
          <p:nvPr/>
        </p:nvSpPr>
        <p:spPr>
          <a:xfrm>
            <a:off x="2148840" y="1207008"/>
            <a:ext cx="274320" cy="146304"/>
          </a:xfrm>
          <a:prstGeom prst="rightArrow">
            <a:avLst/>
          </a:prstGeom>
          <a:solidFill>
            <a:srgbClr val="8A97A8"/>
          </a:solidFill>
          <a:ln/>
        </p:spPr>
      </p:sp>
      <p:sp>
        <p:nvSpPr>
          <p:cNvPr id="8" name="Shape 5"/>
          <p:cNvSpPr/>
          <p:nvPr/>
        </p:nvSpPr>
        <p:spPr>
          <a:xfrm>
            <a:off x="2514600" y="1051560"/>
            <a:ext cx="1828800" cy="457200"/>
          </a:xfrm>
          <a:prstGeom prst="roundRect">
            <a:avLst>
              <a:gd name="adj" fmla="val 20000"/>
            </a:avLst>
          </a:prstGeom>
          <a:solidFill>
            <a:srgbClr val="8A97A8"/>
          </a:solidFill>
          <a:ln/>
          <a:effectLst>
            <a:outerShdw blurRad="63500" dist="25400" dir="5400000" algn="bl" rotWithShape="0">
              <a:srgbClr val="17324D">
                <a:alpha val="18000"/>
              </a:srgbClr>
            </a:outerShdw>
          </a:effectLst>
        </p:spPr>
      </p:sp>
      <p:sp>
        <p:nvSpPr>
          <p:cNvPr id="9" name="Text 6"/>
          <p:cNvSpPr/>
          <p:nvPr/>
        </p:nvSpPr>
        <p:spPr>
          <a:xfrm>
            <a:off x="2624328" y="1051560"/>
            <a:ext cx="1609344"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JDBC batch</a:t>
            </a:r>
            <a:endParaRPr lang="en-US" sz="1250" dirty="0"/>
          </a:p>
        </p:txBody>
      </p:sp>
      <p:sp>
        <p:nvSpPr>
          <p:cNvPr id="10" name="Shape 7"/>
          <p:cNvSpPr/>
          <p:nvPr/>
        </p:nvSpPr>
        <p:spPr>
          <a:xfrm>
            <a:off x="4434840" y="1207008"/>
            <a:ext cx="274320" cy="146304"/>
          </a:xfrm>
          <a:prstGeom prst="rightArrow">
            <a:avLst/>
          </a:prstGeom>
          <a:solidFill>
            <a:srgbClr val="8A97A8"/>
          </a:solidFill>
          <a:ln/>
        </p:spPr>
      </p:sp>
      <p:sp>
        <p:nvSpPr>
          <p:cNvPr id="11" name="Shape 8"/>
          <p:cNvSpPr/>
          <p:nvPr/>
        </p:nvSpPr>
        <p:spPr>
          <a:xfrm>
            <a:off x="4800600" y="1051560"/>
            <a:ext cx="1828800" cy="457200"/>
          </a:xfrm>
          <a:prstGeom prst="roundRect">
            <a:avLst>
              <a:gd name="adj" fmla="val 20000"/>
            </a:avLst>
          </a:prstGeom>
          <a:solidFill>
            <a:srgbClr val="3A5878"/>
          </a:solidFill>
          <a:ln/>
          <a:effectLst>
            <a:outerShdw blurRad="63500" dist="25400" dir="5400000" algn="bl" rotWithShape="0">
              <a:srgbClr val="17324D">
                <a:alpha val="18000"/>
              </a:srgbClr>
            </a:outerShdw>
          </a:effectLst>
        </p:spPr>
      </p:sp>
      <p:pic>
        <p:nvPicPr>
          <p:cNvPr id="12" name="Image 1" descr="/home/claude/flightstream/icons/postgres.png"/>
          <p:cNvPicPr>
            <a:picLocks noChangeAspect="1"/>
          </p:cNvPicPr>
          <p:nvPr/>
        </p:nvPicPr>
        <p:blipFill>
          <a:blip r:embed="rId4"/>
          <a:stretch>
            <a:fillRect/>
          </a:stretch>
        </p:blipFill>
        <p:spPr>
          <a:xfrm>
            <a:off x="4910328" y="1133856"/>
            <a:ext cx="292608" cy="292608"/>
          </a:xfrm>
          <a:prstGeom prst="rect">
            <a:avLst/>
          </a:prstGeom>
        </p:spPr>
      </p:pic>
      <p:sp>
        <p:nvSpPr>
          <p:cNvPr id="13" name="Text 9"/>
          <p:cNvSpPr/>
          <p:nvPr/>
        </p:nvSpPr>
        <p:spPr>
          <a:xfrm>
            <a:off x="5257800" y="1051560"/>
            <a:ext cx="1261872"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PostgreSQL</a:t>
            </a:r>
            <a:endParaRPr lang="en-US" sz="1250" dirty="0"/>
          </a:p>
        </p:txBody>
      </p:sp>
      <p:sp>
        <p:nvSpPr>
          <p:cNvPr id="14" name="Shape 10"/>
          <p:cNvSpPr/>
          <p:nvPr/>
        </p:nvSpPr>
        <p:spPr>
          <a:xfrm>
            <a:off x="6720840" y="1207008"/>
            <a:ext cx="274320" cy="146304"/>
          </a:xfrm>
          <a:prstGeom prst="rightArrow">
            <a:avLst/>
          </a:prstGeom>
          <a:solidFill>
            <a:srgbClr val="8A97A8"/>
          </a:solidFill>
          <a:ln/>
        </p:spPr>
      </p:sp>
      <p:sp>
        <p:nvSpPr>
          <p:cNvPr id="15" name="Shape 11"/>
          <p:cNvSpPr/>
          <p:nvPr/>
        </p:nvSpPr>
        <p:spPr>
          <a:xfrm>
            <a:off x="7086600" y="1051560"/>
            <a:ext cx="1737360" cy="457200"/>
          </a:xfrm>
          <a:prstGeom prst="roundRect">
            <a:avLst>
              <a:gd name="adj" fmla="val 20000"/>
            </a:avLst>
          </a:prstGeom>
          <a:solidFill>
            <a:srgbClr val="3E8ED0"/>
          </a:solidFill>
          <a:ln/>
          <a:effectLst>
            <a:outerShdw blurRad="63500" dist="25400" dir="5400000" algn="bl" rotWithShape="0">
              <a:srgbClr val="17324D">
                <a:alpha val="18000"/>
              </a:srgbClr>
            </a:outerShdw>
          </a:effectLst>
        </p:spPr>
      </p:sp>
      <p:pic>
        <p:nvPicPr>
          <p:cNvPr id="16" name="Image 2" descr="/home/claude/flightstream/icons/powerbi.png"/>
          <p:cNvPicPr>
            <a:picLocks noChangeAspect="1"/>
          </p:cNvPicPr>
          <p:nvPr/>
        </p:nvPicPr>
        <p:blipFill>
          <a:blip r:embed="rId5"/>
          <a:stretch>
            <a:fillRect/>
          </a:stretch>
        </p:blipFill>
        <p:spPr>
          <a:xfrm>
            <a:off x="7196328" y="1133856"/>
            <a:ext cx="292608" cy="292608"/>
          </a:xfrm>
          <a:prstGeom prst="rect">
            <a:avLst/>
          </a:prstGeom>
        </p:spPr>
      </p:pic>
      <p:sp>
        <p:nvSpPr>
          <p:cNvPr id="17" name="Text 12"/>
          <p:cNvSpPr/>
          <p:nvPr/>
        </p:nvSpPr>
        <p:spPr>
          <a:xfrm>
            <a:off x="7543800" y="1051560"/>
            <a:ext cx="1170432"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Power BI</a:t>
            </a:r>
            <a:endParaRPr lang="en-US" sz="1250" dirty="0"/>
          </a:p>
        </p:txBody>
      </p:sp>
      <p:sp>
        <p:nvSpPr>
          <p:cNvPr id="18" name="Shape 13"/>
          <p:cNvSpPr/>
          <p:nvPr/>
        </p:nvSpPr>
        <p:spPr>
          <a:xfrm>
            <a:off x="548640" y="1783080"/>
            <a:ext cx="5212080" cy="1417320"/>
          </a:xfrm>
          <a:prstGeom prst="roundRect">
            <a:avLst>
              <a:gd name="adj" fmla="val 6452"/>
            </a:avLst>
          </a:prstGeom>
          <a:solidFill>
            <a:srgbClr val="F2F8FC"/>
          </a:solidFill>
          <a:ln w="12700">
            <a:solidFill>
              <a:srgbClr val="E7EDF3"/>
            </a:solidFill>
            <a:prstDash val="solid"/>
          </a:ln>
        </p:spPr>
      </p:sp>
      <p:sp>
        <p:nvSpPr>
          <p:cNvPr id="19" name="Text 14"/>
          <p:cNvSpPr/>
          <p:nvPr/>
        </p:nvSpPr>
        <p:spPr>
          <a:xfrm>
            <a:off x="777240" y="1920240"/>
            <a:ext cx="4754880" cy="1188720"/>
          </a:xfrm>
          <a:prstGeom prst="rect">
            <a:avLst/>
          </a:prstGeom>
          <a:noFill/>
          <a:ln/>
        </p:spPr>
        <p:txBody>
          <a:bodyPr wrap="square" rtlCol="0" anchor="t"/>
          <a:lstStyle/>
          <a:p>
            <a:pPr marL="0" indent="0">
              <a:lnSpc>
                <a:spcPct val="115000"/>
              </a:lnSpc>
              <a:buNone/>
            </a:pPr>
            <a:r>
              <a:rPr lang="en-US" sz="1250" dirty="0">
                <a:solidFill>
                  <a:srgbClr val="3A5878"/>
                </a:solidFill>
                <a:latin typeface="Calibri" pitchFamily="34" charset="0"/>
                <a:ea typeface="Calibri" pitchFamily="34" charset="-122"/>
                <a:cs typeface="Calibri" pitchFamily="34" charset="-120"/>
              </a:rPr>
              <a:t>Table: </a:t>
            </a:r>
            <a:r>
              <a:rPr lang="en-US" sz="1300" b="1" dirty="0">
                <a:solidFill>
                  <a:srgbClr val="17324D"/>
                </a:solidFill>
                <a:latin typeface="Consolas" pitchFamily="34" charset="0"/>
                <a:ea typeface="Consolas" pitchFamily="34" charset="-122"/>
                <a:cs typeface="Consolas" pitchFamily="34" charset="-120"/>
              </a:rPr>
              <a:t>flight_clusters
</a:t>
            </a:r>
            <a:r>
              <a:rPr lang="en-US" sz="1250" dirty="0">
                <a:solidFill>
                  <a:srgbClr val="3A5878"/>
                </a:solidFill>
                <a:latin typeface="Calibri" pitchFamily="34" charset="0"/>
                <a:ea typeface="Calibri" pitchFamily="34" charset="-122"/>
                <a:cs typeface="Calibri" pitchFamily="34" charset="-120"/>
              </a:rPr>
              <a:t>Spark writes each processed streaming batch into PostgreSQL using JDBC + foreachBatch.</a:t>
            </a:r>
            <a:endParaRPr lang="en-US" sz="1250" dirty="0"/>
          </a:p>
        </p:txBody>
      </p:sp>
      <p:sp>
        <p:nvSpPr>
          <p:cNvPr id="20" name="Shape 15"/>
          <p:cNvSpPr/>
          <p:nvPr/>
        </p:nvSpPr>
        <p:spPr>
          <a:xfrm>
            <a:off x="548640" y="3291840"/>
            <a:ext cx="5212080" cy="914400"/>
          </a:xfrm>
          <a:prstGeom prst="roundRect">
            <a:avLst>
              <a:gd name="adj" fmla="val 10000"/>
            </a:avLst>
          </a:prstGeom>
          <a:solidFill>
            <a:srgbClr val="EAF6F5"/>
          </a:solidFill>
          <a:ln w="12700">
            <a:solidFill>
              <a:srgbClr val="E7EDF3"/>
            </a:solidFill>
            <a:prstDash val="solid"/>
          </a:ln>
        </p:spPr>
      </p:sp>
      <p:sp>
        <p:nvSpPr>
          <p:cNvPr id="21" name="Text 16"/>
          <p:cNvSpPr/>
          <p:nvPr/>
        </p:nvSpPr>
        <p:spPr>
          <a:xfrm>
            <a:off x="822960" y="3470148"/>
            <a:ext cx="2743200" cy="548640"/>
          </a:xfrm>
          <a:prstGeom prst="rect">
            <a:avLst/>
          </a:prstGeom>
          <a:noFill/>
          <a:ln/>
        </p:spPr>
        <p:txBody>
          <a:bodyPr wrap="square" rtlCol="0" anchor="ctr"/>
          <a:lstStyle/>
          <a:p>
            <a:pPr marL="0" indent="0">
              <a:buNone/>
            </a:pPr>
            <a:r>
              <a:rPr lang="en-US" sz="3000" b="1" dirty="0">
                <a:solidFill>
                  <a:srgbClr val="1E9E8C"/>
                </a:solidFill>
                <a:latin typeface="Calibri" pitchFamily="34" charset="0"/>
                <a:ea typeface="Calibri" pitchFamily="34" charset="-122"/>
                <a:cs typeface="Calibri" pitchFamily="34" charset="-120"/>
              </a:rPr>
              <a:t>~130,856</a:t>
            </a:r>
            <a:endParaRPr lang="en-US" sz="3000" dirty="0"/>
          </a:p>
        </p:txBody>
      </p:sp>
      <p:sp>
        <p:nvSpPr>
          <p:cNvPr id="22" name="Text 17"/>
          <p:cNvSpPr/>
          <p:nvPr/>
        </p:nvSpPr>
        <p:spPr>
          <a:xfrm>
            <a:off x="3611880" y="3465576"/>
            <a:ext cx="2194560" cy="548640"/>
          </a:xfrm>
          <a:prstGeom prst="rect">
            <a:avLst/>
          </a:prstGeom>
          <a:noFill/>
          <a:ln/>
        </p:spPr>
        <p:txBody>
          <a:bodyPr wrap="square" rtlCol="0" anchor="ctr"/>
          <a:lstStyle/>
          <a:p>
            <a:pPr marL="0" indent="0">
              <a:buNone/>
            </a:pPr>
            <a:r>
              <a:rPr lang="en-US" sz="1150" dirty="0">
                <a:solidFill>
                  <a:srgbClr val="3A5878"/>
                </a:solidFill>
                <a:latin typeface="Calibri" pitchFamily="34" charset="0"/>
                <a:ea typeface="Calibri" pitchFamily="34" charset="-122"/>
                <a:cs typeface="Calibri" pitchFamily="34" charset="-120"/>
              </a:rPr>
              <a:t>processed records</a:t>
            </a:r>
            <a:endParaRPr lang="en-US" sz="1150" dirty="0"/>
          </a:p>
          <a:p>
            <a:pPr marL="0" indent="0">
              <a:buNone/>
            </a:pPr>
            <a:r>
              <a:rPr lang="en-US" sz="1150" dirty="0">
                <a:solidFill>
                  <a:srgbClr val="3A5878"/>
                </a:solidFill>
                <a:latin typeface="Calibri" pitchFamily="34" charset="0"/>
                <a:ea typeface="Calibri" pitchFamily="34" charset="-122"/>
                <a:cs typeface="Calibri" pitchFamily="34" charset="-120"/>
              </a:rPr>
              <a:t>(final verification)</a:t>
            </a:r>
            <a:endParaRPr lang="en-US" sz="1150" dirty="0"/>
          </a:p>
        </p:txBody>
      </p:sp>
      <p:sp>
        <p:nvSpPr>
          <p:cNvPr id="23" name="Shape 18"/>
          <p:cNvSpPr/>
          <p:nvPr/>
        </p:nvSpPr>
        <p:spPr>
          <a:xfrm>
            <a:off x="548640" y="4315968"/>
            <a:ext cx="5212080" cy="1033272"/>
          </a:xfrm>
          <a:prstGeom prst="roundRect">
            <a:avLst>
              <a:gd name="adj" fmla="val 8850"/>
            </a:avLst>
          </a:prstGeom>
          <a:solidFill>
            <a:srgbClr val="FFFFFF"/>
          </a:solidFill>
          <a:ln w="15875">
            <a:solidFill>
              <a:srgbClr val="E7EDF3"/>
            </a:solidFill>
            <a:prstDash val="solid"/>
          </a:ln>
        </p:spPr>
      </p:sp>
      <p:sp>
        <p:nvSpPr>
          <p:cNvPr id="24" name="Text 19"/>
          <p:cNvSpPr/>
          <p:nvPr/>
        </p:nvSpPr>
        <p:spPr>
          <a:xfrm>
            <a:off x="731520" y="4389120"/>
            <a:ext cx="4846320" cy="256032"/>
          </a:xfrm>
          <a:prstGeom prst="rect">
            <a:avLst/>
          </a:prstGeom>
          <a:noFill/>
          <a:ln/>
        </p:spPr>
        <p:txBody>
          <a:bodyPr wrap="square" rtlCol="0" anchor="ctr"/>
          <a:lstStyle/>
          <a:p>
            <a:pPr marL="0" indent="0">
              <a:buNone/>
            </a:pPr>
            <a:r>
              <a:rPr lang="en-US" sz="1000" dirty="0">
                <a:solidFill>
                  <a:srgbClr val="8A97A8"/>
                </a:solidFill>
                <a:latin typeface="Consolas" pitchFamily="34" charset="0"/>
                <a:ea typeface="Consolas" pitchFamily="34" charset="-122"/>
                <a:cs typeface="Consolas" pitchFamily="34" charset="-120"/>
              </a:rPr>
              <a:t>docs/screenshots/dashboard.png</a:t>
            </a:r>
            <a:endParaRPr lang="en-US" sz="1000" dirty="0"/>
          </a:p>
        </p:txBody>
      </p:sp>
      <p:sp>
        <p:nvSpPr>
          <p:cNvPr id="25" name="Text 20"/>
          <p:cNvSpPr/>
          <p:nvPr/>
        </p:nvSpPr>
        <p:spPr>
          <a:xfrm>
            <a:off x="731520" y="4626864"/>
            <a:ext cx="4846320" cy="658368"/>
          </a:xfrm>
          <a:prstGeom prst="rect">
            <a:avLst/>
          </a:prstGeom>
          <a:noFill/>
          <a:ln/>
        </p:spPr>
        <p:txBody>
          <a:bodyPr wrap="square" rtlCol="0" anchor="t"/>
          <a:lstStyle/>
          <a:p>
            <a:pPr marL="0" indent="0">
              <a:lnSpc>
                <a:spcPct val="105000"/>
              </a:lnSpc>
              <a:buNone/>
            </a:pPr>
            <a:r>
              <a:rPr lang="en-US" sz="1000" dirty="0">
                <a:solidFill>
                  <a:srgbClr val="3A5878"/>
                </a:solidFill>
                <a:latin typeface="Calibri" pitchFamily="34" charset="0"/>
                <a:ea typeface="Calibri" pitchFamily="34" charset="-122"/>
                <a:cs typeface="Calibri" pitchFamily="34" charset="-120"/>
              </a:rPr>
              <a:t>Power BI reads flight_clusters and visualizes totals, countries, avg altitude/velocity, geographic distribution, top countries, cluster distribution, and altitude vs velocity.</a:t>
            </a:r>
            <a:endParaRPr lang="en-US" sz="1000" dirty="0"/>
          </a:p>
        </p:txBody>
      </p:sp>
      <p:sp>
        <p:nvSpPr>
          <p:cNvPr id="26" name="Shape 21"/>
          <p:cNvSpPr/>
          <p:nvPr/>
        </p:nvSpPr>
        <p:spPr>
          <a:xfrm>
            <a:off x="6400800" y="1783080"/>
            <a:ext cx="5257800" cy="310896"/>
          </a:xfrm>
          <a:prstGeom prst="roundRect">
            <a:avLst>
              <a:gd name="adj" fmla="val 17647"/>
            </a:avLst>
          </a:prstGeom>
          <a:solidFill>
            <a:srgbClr val="E7EDF3"/>
          </a:solidFill>
          <a:ln/>
        </p:spPr>
      </p:sp>
      <p:sp>
        <p:nvSpPr>
          <p:cNvPr id="27" name="Text 22"/>
          <p:cNvSpPr/>
          <p:nvPr/>
        </p:nvSpPr>
        <p:spPr>
          <a:xfrm>
            <a:off x="6510528" y="1783080"/>
            <a:ext cx="5038344" cy="310896"/>
          </a:xfrm>
          <a:prstGeom prst="rect">
            <a:avLst/>
          </a:prstGeom>
          <a:noFill/>
          <a:ln/>
        </p:spPr>
        <p:txBody>
          <a:bodyPr wrap="square" rtlCol="0" anchor="ctr"/>
          <a:lstStyle/>
          <a:p>
            <a:pPr marL="0" indent="0">
              <a:buNone/>
            </a:pPr>
            <a:r>
              <a:rPr lang="en-US" sz="1150" b="1" dirty="0">
                <a:solidFill>
                  <a:srgbClr val="3A5878"/>
                </a:solidFill>
                <a:latin typeface="Calibri" pitchFamily="34" charset="0"/>
                <a:ea typeface="Calibri" pitchFamily="34" charset="-122"/>
                <a:cs typeface="Calibri" pitchFamily="34" charset="-120"/>
              </a:rPr>
              <a:t>📍 FILE   </a:t>
            </a:r>
            <a:r>
              <a:rPr lang="en-US" sz="1150" dirty="0">
                <a:solidFill>
                  <a:srgbClr val="17324D"/>
                </a:solidFill>
                <a:latin typeface="Consolas" pitchFamily="34" charset="0"/>
                <a:ea typeface="Consolas" pitchFamily="34" charset="-122"/>
                <a:cs typeface="Consolas" pitchFamily="34" charset="-120"/>
              </a:rPr>
              <a:t>spark/src/main/scala/FlightStreaming.scala</a:t>
            </a:r>
            <a:endParaRPr lang="en-US" sz="1150" dirty="0"/>
          </a:p>
        </p:txBody>
      </p:sp>
      <p:sp>
        <p:nvSpPr>
          <p:cNvPr id="28" name="Shape 23"/>
          <p:cNvSpPr/>
          <p:nvPr/>
        </p:nvSpPr>
        <p:spPr>
          <a:xfrm>
            <a:off x="6400800" y="2203704"/>
            <a:ext cx="5257800" cy="1691640"/>
          </a:xfrm>
          <a:prstGeom prst="roundRect">
            <a:avLst>
              <a:gd name="adj" fmla="val 4324"/>
            </a:avLst>
          </a:prstGeom>
          <a:solidFill>
            <a:srgbClr val="0F2233"/>
          </a:solidFill>
          <a:ln/>
          <a:effectLst>
            <a:outerShdw blurRad="101600" dist="38100" dir="5400000" algn="bl" rotWithShape="0">
              <a:srgbClr val="17324D">
                <a:alpha val="25000"/>
              </a:srgbClr>
            </a:outerShdw>
          </a:effectLst>
        </p:spPr>
      </p:sp>
      <p:sp>
        <p:nvSpPr>
          <p:cNvPr id="29" name="Text 24"/>
          <p:cNvSpPr/>
          <p:nvPr/>
        </p:nvSpPr>
        <p:spPr>
          <a:xfrm>
            <a:off x="6601968" y="2313432"/>
            <a:ext cx="4855464" cy="1472184"/>
          </a:xfrm>
          <a:prstGeom prst="rect">
            <a:avLst/>
          </a:prstGeom>
          <a:noFill/>
          <a:ln/>
        </p:spPr>
        <p:txBody>
          <a:bodyPr wrap="square" rtlCol="0" anchor="t"/>
          <a:lstStyle/>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flightsDF.writeStream</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.foreachBatch { (batch: DataFrame, _: Long) =&gt;</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batch.write.format("jdbc")</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.option("dbtable", "flight_clusters")</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.mode("append").save()</a:t>
            </a:r>
            <a:endParaRPr lang="en-US" sz="1100" dirty="0"/>
          </a:p>
          <a:p>
            <a:pPr marL="0" indent="0">
              <a:lnSpc>
                <a:spcPct val="115000"/>
              </a:lnSpc>
              <a:buNone/>
            </a:pPr>
            <a:r>
              <a:rPr lang="en-US" sz="1100" dirty="0">
                <a:solidFill>
                  <a:srgbClr val="D7ECF5"/>
                </a:solidFill>
                <a:latin typeface="Consolas" pitchFamily="34" charset="0"/>
                <a:ea typeface="Consolas" pitchFamily="34" charset="-122"/>
                <a:cs typeface="Consolas" pitchFamily="34" charset="-120"/>
              </a:rPr>
              <a:t>  }.start()</a:t>
            </a:r>
            <a:endParaRPr lang="en-US" sz="1100" dirty="0"/>
          </a:p>
        </p:txBody>
      </p:sp>
      <p:sp>
        <p:nvSpPr>
          <p:cNvPr id="30" name="Shape 25"/>
          <p:cNvSpPr/>
          <p:nvPr/>
        </p:nvSpPr>
        <p:spPr>
          <a:xfrm>
            <a:off x="6400800" y="4023360"/>
            <a:ext cx="5257800" cy="822960"/>
          </a:xfrm>
          <a:prstGeom prst="roundRect">
            <a:avLst>
              <a:gd name="adj" fmla="val 8889"/>
            </a:avLst>
          </a:prstGeom>
          <a:solidFill>
            <a:srgbClr val="F2F8FC"/>
          </a:solidFill>
          <a:ln w="12700">
            <a:solidFill>
              <a:srgbClr val="E7EDF3"/>
            </a:solidFill>
            <a:prstDash val="solid"/>
          </a:ln>
        </p:spPr>
      </p:sp>
      <p:sp>
        <p:nvSpPr>
          <p:cNvPr id="31" name="Text 26"/>
          <p:cNvSpPr/>
          <p:nvPr/>
        </p:nvSpPr>
        <p:spPr>
          <a:xfrm>
            <a:off x="6565392" y="4096512"/>
            <a:ext cx="4928616" cy="676656"/>
          </a:xfrm>
          <a:prstGeom prst="rect">
            <a:avLst/>
          </a:prstGeom>
          <a:noFill/>
          <a:ln/>
        </p:spPr>
        <p:txBody>
          <a:bodyPr wrap="square" rtlCol="0" anchor="t"/>
          <a:lstStyle/>
          <a:p>
            <a:pPr marL="0" indent="0">
              <a:lnSpc>
                <a:spcPct val="105000"/>
              </a:lnSpc>
              <a:buNone/>
            </a:pPr>
            <a:r>
              <a:rPr lang="en-US" sz="1100" b="1" dirty="0">
                <a:solidFill>
                  <a:srgbClr val="1D6FB8"/>
                </a:solidFill>
                <a:latin typeface="Calibri" pitchFamily="34" charset="0"/>
                <a:ea typeface="Calibri" pitchFamily="34" charset="-122"/>
                <a:cs typeface="Calibri" pitchFamily="34" charset="-120"/>
              </a:rPr>
              <a:t>🧠 IN PLAIN ENGLISH
</a:t>
            </a:r>
            <a:r>
              <a:rPr lang="en-US" sz="1250" dirty="0">
                <a:solidFill>
                  <a:srgbClr val="17324D"/>
                </a:solidFill>
                <a:latin typeface="Calibri" pitchFamily="34" charset="0"/>
                <a:ea typeface="Calibri" pitchFamily="34" charset="-122"/>
                <a:cs typeface="Calibri" pitchFamily="34" charset="-120"/>
              </a:rPr>
              <a:t>Spark writes each processed streaming batch into the PostgreSQL table flight_clusters, appending as new data arrives.</a:t>
            </a:r>
            <a:endParaRPr lang="en-US" sz="1100" dirty="0"/>
          </a:p>
        </p:txBody>
      </p:sp>
      <p:sp>
        <p:nvSpPr>
          <p:cNvPr id="32" name="Shape 27"/>
          <p:cNvSpPr/>
          <p:nvPr/>
        </p:nvSpPr>
        <p:spPr>
          <a:xfrm>
            <a:off x="548640" y="5440680"/>
            <a:ext cx="11091672" cy="868680"/>
          </a:xfrm>
          <a:prstGeom prst="roundRect">
            <a:avLst>
              <a:gd name="adj" fmla="val 12632"/>
            </a:avLst>
          </a:prstGeom>
          <a:solidFill>
            <a:srgbClr val="EAF6F5"/>
          </a:solidFill>
          <a:ln w="15875">
            <a:solidFill>
              <a:srgbClr val="1E9E8C"/>
            </a:solidFill>
            <a:prstDash val="solid"/>
          </a:ln>
          <a:effectLst>
            <a:outerShdw blurRad="76200" dist="25400" dir="5400000" algn="bl" rotWithShape="0">
              <a:srgbClr val="1E9E8C">
                <a:alpha val="15000"/>
              </a:srgbClr>
            </a:outerShdw>
          </a:effectLst>
        </p:spPr>
      </p:sp>
      <p:pic>
        <p:nvPicPr>
          <p:cNvPr id="33" name="Image 3" descr="/home/claude/flightstream/icons/plane.png"/>
          <p:cNvPicPr>
            <a:picLocks noChangeAspect="1"/>
          </p:cNvPicPr>
          <p:nvPr/>
        </p:nvPicPr>
        <p:blipFill>
          <a:blip r:embed="rId6"/>
          <a:stretch>
            <a:fillRect/>
          </a:stretch>
        </p:blipFill>
        <p:spPr>
          <a:xfrm rot="-2400000">
            <a:off x="749808" y="5701284"/>
            <a:ext cx="347472" cy="347472"/>
          </a:xfrm>
          <a:prstGeom prst="rect">
            <a:avLst/>
          </a:prstGeom>
        </p:spPr>
      </p:pic>
      <p:sp>
        <p:nvSpPr>
          <p:cNvPr id="34" name="Shape 28"/>
          <p:cNvSpPr/>
          <p:nvPr/>
        </p:nvSpPr>
        <p:spPr>
          <a:xfrm>
            <a:off x="694944" y="5618988"/>
            <a:ext cx="512064" cy="512064"/>
          </a:xfrm>
          <a:prstGeom prst="ellipse">
            <a:avLst/>
          </a:prstGeom>
          <a:solidFill>
            <a:srgbClr val="1E9E8C"/>
          </a:solidFill>
          <a:ln/>
        </p:spPr>
      </p:sp>
      <p:pic>
        <p:nvPicPr>
          <p:cNvPr id="35" name="Image 4" descr="/home/claude/flightstream/icons/plane.png"/>
          <p:cNvPicPr>
            <a:picLocks noChangeAspect="1"/>
          </p:cNvPicPr>
          <p:nvPr/>
        </p:nvPicPr>
        <p:blipFill>
          <a:blip r:embed="rId6"/>
          <a:stretch>
            <a:fillRect/>
          </a:stretch>
        </p:blipFill>
        <p:spPr>
          <a:xfrm rot="-2400000">
            <a:off x="822960" y="5737860"/>
            <a:ext cx="274320" cy="274320"/>
          </a:xfrm>
          <a:prstGeom prst="rect">
            <a:avLst/>
          </a:prstGeom>
        </p:spPr>
      </p:pic>
      <p:sp>
        <p:nvSpPr>
          <p:cNvPr id="36" name="Text 29"/>
          <p:cNvSpPr/>
          <p:nvPr/>
        </p:nvSpPr>
        <p:spPr>
          <a:xfrm>
            <a:off x="1417320" y="5532120"/>
            <a:ext cx="9994392" cy="256032"/>
          </a:xfrm>
          <a:prstGeom prst="rect">
            <a:avLst/>
          </a:prstGeom>
          <a:noFill/>
          <a:ln/>
        </p:spPr>
        <p:txBody>
          <a:bodyPr wrap="square" rtlCol="0" anchor="ctr"/>
          <a:lstStyle/>
          <a:p>
            <a:pPr marL="0" indent="0">
              <a:buNone/>
            </a:pPr>
            <a:r>
              <a:rPr lang="en-US" sz="1150" b="1" kern="0" spc="50" dirty="0">
                <a:solidFill>
                  <a:srgbClr val="1E9E8C"/>
                </a:solidFill>
                <a:latin typeface="Calibri" pitchFamily="34" charset="0"/>
                <a:ea typeface="Calibri" pitchFamily="34" charset="-122"/>
                <a:cs typeface="Calibri" pitchFamily="34" charset="-120"/>
              </a:rPr>
              <a:t>FLIGHTSTREAM FLASHBACK</a:t>
            </a:r>
            <a:endParaRPr lang="en-US" sz="1150" dirty="0"/>
          </a:p>
        </p:txBody>
      </p:sp>
      <p:sp>
        <p:nvSpPr>
          <p:cNvPr id="37" name="Text 30"/>
          <p:cNvSpPr/>
          <p:nvPr/>
        </p:nvSpPr>
        <p:spPr>
          <a:xfrm>
            <a:off x="1417320" y="5769864"/>
            <a:ext cx="9994392" cy="484632"/>
          </a:xfrm>
          <a:prstGeom prst="rect">
            <a:avLst/>
          </a:prstGeom>
          <a:noFill/>
          <a:ln/>
        </p:spPr>
        <p:txBody>
          <a:bodyPr wrap="square" rtlCol="0" anchor="t"/>
          <a:lstStyle/>
          <a:p>
            <a:pPr marL="0" indent="0">
              <a:lnSpc>
                <a:spcPct val="105000"/>
              </a:lnSpc>
              <a:buNone/>
            </a:pPr>
            <a:r>
              <a:rPr lang="en-US" sz="1350" i="1" dirty="0">
                <a:solidFill>
                  <a:srgbClr val="17324D"/>
                </a:solidFill>
                <a:latin typeface="Calibri" pitchFamily="34" charset="0"/>
                <a:ea typeface="Calibri" pitchFamily="34" charset="-122"/>
                <a:cs typeface="Calibri" pitchFamily="34" charset="-120"/>
              </a:rPr>
              <a:t>Spark processes. PostgreSQL stores. Power BI displays.</a:t>
            </a:r>
            <a:endParaRPr lang="en-US" sz="1350" dirty="0"/>
          </a:p>
        </p:txBody>
      </p:sp>
      <p:sp>
        <p:nvSpPr>
          <p:cNvPr id="38" name="Text 31"/>
          <p:cNvSpPr/>
          <p:nvPr/>
        </p:nvSpPr>
        <p:spPr>
          <a:xfrm>
            <a:off x="11274552" y="6473952"/>
            <a:ext cx="731520" cy="274320"/>
          </a:xfrm>
          <a:prstGeom prst="rect">
            <a:avLst/>
          </a:prstGeom>
          <a:noFill/>
          <a:ln/>
        </p:spPr>
        <p:txBody>
          <a:bodyPr wrap="square" rtlCol="0" anchor="ctr"/>
          <a:lstStyle/>
          <a:p>
            <a:pPr marL="0" indent="0" algn="r">
              <a:buNone/>
            </a:pPr>
            <a:r>
              <a:rPr lang="en-US" sz="900" dirty="0">
                <a:solidFill>
                  <a:srgbClr val="8A97A8"/>
                </a:solidFill>
                <a:latin typeface="Calibri" pitchFamily="34" charset="0"/>
                <a:ea typeface="Calibri" pitchFamily="34" charset="-122"/>
                <a:cs typeface="Calibri" pitchFamily="34" charset="-120"/>
              </a:rPr>
              <a:t>9 / 10</a:t>
            </a:r>
            <a:endParaRPr lang="en-US" sz="900" dirty="0"/>
          </a:p>
        </p:txBody>
      </p:sp>
      <p:sp>
        <p:nvSpPr>
          <p:cNvPr id="39" name="Text 32"/>
          <p:cNvSpPr/>
          <p:nvPr/>
        </p:nvSpPr>
        <p:spPr>
          <a:xfrm>
            <a:off x="457200" y="6473952"/>
            <a:ext cx="2743200" cy="274320"/>
          </a:xfrm>
          <a:prstGeom prst="rect">
            <a:avLst/>
          </a:prstGeom>
          <a:noFill/>
          <a:ln/>
        </p:spPr>
        <p:txBody>
          <a:bodyPr wrap="square" rtlCol="0" anchor="ctr"/>
          <a:lstStyle/>
          <a:p>
            <a:pPr marL="0" indent="0">
              <a:buNone/>
            </a:pPr>
            <a:r>
              <a:rPr lang="en-US" sz="900" kern="0" spc="200" dirty="0">
                <a:solidFill>
                  <a:srgbClr val="8A97A8"/>
                </a:solidFill>
                <a:latin typeface="Calibri" pitchFamily="34" charset="0"/>
                <a:ea typeface="Calibri" pitchFamily="34" charset="-122"/>
                <a:cs typeface="Calibri" pitchFamily="34" charset="-120"/>
              </a:rPr>
              <a:t>FLIGHTSTREAM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2F8FC"/>
          </a:solidFill>
          <a:ln/>
        </p:spPr>
      </p:sp>
      <p:sp>
        <p:nvSpPr>
          <p:cNvPr id="3" name="Shape 1"/>
          <p:cNvSpPr/>
          <p:nvPr/>
        </p:nvSpPr>
        <p:spPr>
          <a:xfrm>
            <a:off x="0" y="0"/>
            <a:ext cx="12188952" cy="1234440"/>
          </a:xfrm>
          <a:prstGeom prst="rect">
            <a:avLst/>
          </a:prstGeom>
          <a:solidFill>
            <a:srgbClr val="FFFFFF"/>
          </a:solidFill>
          <a:ln/>
        </p:spPr>
      </p:sp>
      <p:sp>
        <p:nvSpPr>
          <p:cNvPr id="4" name="Text 2"/>
          <p:cNvSpPr/>
          <p:nvPr/>
        </p:nvSpPr>
        <p:spPr>
          <a:xfrm>
            <a:off x="548640" y="137160"/>
            <a:ext cx="7315200" cy="274320"/>
          </a:xfrm>
          <a:prstGeom prst="rect">
            <a:avLst/>
          </a:prstGeom>
          <a:noFill/>
          <a:ln/>
        </p:spPr>
        <p:txBody>
          <a:bodyPr wrap="square" rtlCol="0" anchor="ctr"/>
          <a:lstStyle/>
          <a:p>
            <a:pPr marL="0" indent="0">
              <a:buNone/>
            </a:pPr>
            <a:r>
              <a:rPr lang="en-US" sz="1100" b="1" kern="0" spc="150" dirty="0">
                <a:solidFill>
                  <a:srgbClr val="1E9E8C"/>
                </a:solidFill>
                <a:latin typeface="Calibri" pitchFamily="34" charset="0"/>
                <a:ea typeface="Calibri" pitchFamily="34" charset="-122"/>
                <a:cs typeface="Calibri" pitchFamily="34" charset="-120"/>
              </a:rPr>
              <a:t>CONCLUSION</a:t>
            </a:r>
            <a:endParaRPr lang="en-US" sz="1100" dirty="0"/>
          </a:p>
        </p:txBody>
      </p:sp>
      <p:sp>
        <p:nvSpPr>
          <p:cNvPr id="5" name="Text 3"/>
          <p:cNvSpPr/>
          <p:nvPr/>
        </p:nvSpPr>
        <p:spPr>
          <a:xfrm>
            <a:off x="548640" y="320040"/>
            <a:ext cx="11091672" cy="640080"/>
          </a:xfrm>
          <a:prstGeom prst="rect">
            <a:avLst/>
          </a:prstGeom>
          <a:noFill/>
          <a:ln/>
        </p:spPr>
        <p:txBody>
          <a:bodyPr wrap="square" rtlCol="0" anchor="ctr"/>
          <a:lstStyle/>
          <a:p>
            <a:pPr marL="0" indent="0" algn="l">
              <a:buNone/>
            </a:pPr>
            <a:r>
              <a:rPr lang="en-US" sz="3000" b="1" dirty="0">
                <a:solidFill>
                  <a:srgbClr val="17324D"/>
                </a:solidFill>
                <a:latin typeface="Calibri" pitchFamily="34" charset="0"/>
                <a:ea typeface="Calibri" pitchFamily="34" charset="-122"/>
                <a:cs typeface="Calibri" pitchFamily="34" charset="-120"/>
              </a:rPr>
              <a:t>FlightStream — The Complete Picture</a:t>
            </a:r>
            <a:endParaRPr lang="en-US" sz="3000" dirty="0"/>
          </a:p>
        </p:txBody>
      </p:sp>
      <p:sp>
        <p:nvSpPr>
          <p:cNvPr id="6" name="Shape 4"/>
          <p:cNvSpPr/>
          <p:nvPr/>
        </p:nvSpPr>
        <p:spPr>
          <a:xfrm>
            <a:off x="548640" y="1417320"/>
            <a:ext cx="1274445" cy="868680"/>
          </a:xfrm>
          <a:prstGeom prst="roundRect">
            <a:avLst>
              <a:gd name="adj" fmla="val 9474"/>
            </a:avLst>
          </a:prstGeom>
          <a:solidFill>
            <a:srgbClr val="3E8ED0"/>
          </a:solidFill>
          <a:ln/>
        </p:spPr>
      </p:sp>
      <p:pic>
        <p:nvPicPr>
          <p:cNvPr id="7" name="Image 0" descr="/home/claude/flightstream/icons/satellite.png"/>
          <p:cNvPicPr>
            <a:picLocks noChangeAspect="1"/>
          </p:cNvPicPr>
          <p:nvPr/>
        </p:nvPicPr>
        <p:blipFill>
          <a:blip r:embed="rId3"/>
          <a:stretch>
            <a:fillRect/>
          </a:stretch>
        </p:blipFill>
        <p:spPr>
          <a:xfrm>
            <a:off x="1048703" y="1527048"/>
            <a:ext cx="274320" cy="274320"/>
          </a:xfrm>
          <a:prstGeom prst="rect">
            <a:avLst/>
          </a:prstGeom>
        </p:spPr>
      </p:pic>
      <p:sp>
        <p:nvSpPr>
          <p:cNvPr id="8" name="Text 5"/>
          <p:cNvSpPr/>
          <p:nvPr/>
        </p:nvSpPr>
        <p:spPr>
          <a:xfrm>
            <a:off x="548640" y="1874520"/>
            <a:ext cx="1274445"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OpenSky</a:t>
            </a:r>
            <a:endParaRPr lang="en-US" sz="950" dirty="0"/>
          </a:p>
        </p:txBody>
      </p:sp>
      <p:sp>
        <p:nvSpPr>
          <p:cNvPr id="9" name="Shape 6"/>
          <p:cNvSpPr/>
          <p:nvPr/>
        </p:nvSpPr>
        <p:spPr>
          <a:xfrm>
            <a:off x="1813941" y="1783080"/>
            <a:ext cx="146304" cy="128016"/>
          </a:xfrm>
          <a:prstGeom prst="rightArrow">
            <a:avLst/>
          </a:prstGeom>
          <a:solidFill>
            <a:srgbClr val="8A97A8"/>
          </a:solidFill>
          <a:ln/>
        </p:spPr>
      </p:sp>
      <p:sp>
        <p:nvSpPr>
          <p:cNvPr id="10" name="Shape 7"/>
          <p:cNvSpPr/>
          <p:nvPr/>
        </p:nvSpPr>
        <p:spPr>
          <a:xfrm>
            <a:off x="1951101" y="1417320"/>
            <a:ext cx="1274445" cy="868680"/>
          </a:xfrm>
          <a:prstGeom prst="roundRect">
            <a:avLst>
              <a:gd name="adj" fmla="val 9474"/>
            </a:avLst>
          </a:prstGeom>
          <a:solidFill>
            <a:srgbClr val="1D6FB8"/>
          </a:solidFill>
          <a:ln/>
        </p:spPr>
      </p:sp>
      <p:pic>
        <p:nvPicPr>
          <p:cNvPr id="11" name="Image 1" descr="/home/claude/flightstream/icons/python.png"/>
          <p:cNvPicPr>
            <a:picLocks noChangeAspect="1"/>
          </p:cNvPicPr>
          <p:nvPr/>
        </p:nvPicPr>
        <p:blipFill>
          <a:blip r:embed="rId4"/>
          <a:stretch>
            <a:fillRect/>
          </a:stretch>
        </p:blipFill>
        <p:spPr>
          <a:xfrm>
            <a:off x="2451164" y="1527048"/>
            <a:ext cx="274320" cy="274320"/>
          </a:xfrm>
          <a:prstGeom prst="rect">
            <a:avLst/>
          </a:prstGeom>
        </p:spPr>
      </p:pic>
      <p:sp>
        <p:nvSpPr>
          <p:cNvPr id="12" name="Text 8"/>
          <p:cNvSpPr/>
          <p:nvPr/>
        </p:nvSpPr>
        <p:spPr>
          <a:xfrm>
            <a:off x="1951101" y="1874520"/>
            <a:ext cx="1274445"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Python</a:t>
            </a:r>
            <a:endParaRPr lang="en-US" sz="950" dirty="0"/>
          </a:p>
        </p:txBody>
      </p:sp>
      <p:sp>
        <p:nvSpPr>
          <p:cNvPr id="13" name="Shape 9"/>
          <p:cNvSpPr/>
          <p:nvPr/>
        </p:nvSpPr>
        <p:spPr>
          <a:xfrm>
            <a:off x="3216402" y="1783080"/>
            <a:ext cx="146304" cy="128016"/>
          </a:xfrm>
          <a:prstGeom prst="rightArrow">
            <a:avLst/>
          </a:prstGeom>
          <a:solidFill>
            <a:srgbClr val="8A97A8"/>
          </a:solidFill>
          <a:ln/>
        </p:spPr>
      </p:sp>
      <p:sp>
        <p:nvSpPr>
          <p:cNvPr id="14" name="Shape 10"/>
          <p:cNvSpPr/>
          <p:nvPr/>
        </p:nvSpPr>
        <p:spPr>
          <a:xfrm>
            <a:off x="3353562" y="1417320"/>
            <a:ext cx="1274445" cy="868680"/>
          </a:xfrm>
          <a:prstGeom prst="roundRect">
            <a:avLst>
              <a:gd name="adj" fmla="val 9474"/>
            </a:avLst>
          </a:prstGeom>
          <a:solidFill>
            <a:srgbClr val="3A5878"/>
          </a:solidFill>
          <a:ln/>
        </p:spPr>
      </p:sp>
      <p:pic>
        <p:nvPicPr>
          <p:cNvPr id="15" name="Image 2" descr="/home/claude/flightstream/icons/kafka.png"/>
          <p:cNvPicPr>
            <a:picLocks noChangeAspect="1"/>
          </p:cNvPicPr>
          <p:nvPr/>
        </p:nvPicPr>
        <p:blipFill>
          <a:blip r:embed="rId5"/>
          <a:stretch>
            <a:fillRect/>
          </a:stretch>
        </p:blipFill>
        <p:spPr>
          <a:xfrm>
            <a:off x="3853624" y="1527048"/>
            <a:ext cx="274320" cy="274320"/>
          </a:xfrm>
          <a:prstGeom prst="rect">
            <a:avLst/>
          </a:prstGeom>
        </p:spPr>
      </p:pic>
      <p:sp>
        <p:nvSpPr>
          <p:cNvPr id="16" name="Text 11"/>
          <p:cNvSpPr/>
          <p:nvPr/>
        </p:nvSpPr>
        <p:spPr>
          <a:xfrm>
            <a:off x="3353562" y="1874520"/>
            <a:ext cx="1274445"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Kafka</a:t>
            </a:r>
            <a:endParaRPr lang="en-US" sz="950" dirty="0"/>
          </a:p>
        </p:txBody>
      </p:sp>
      <p:sp>
        <p:nvSpPr>
          <p:cNvPr id="17" name="Shape 12"/>
          <p:cNvSpPr/>
          <p:nvPr/>
        </p:nvSpPr>
        <p:spPr>
          <a:xfrm>
            <a:off x="4618863" y="1783080"/>
            <a:ext cx="146304" cy="128016"/>
          </a:xfrm>
          <a:prstGeom prst="rightArrow">
            <a:avLst/>
          </a:prstGeom>
          <a:solidFill>
            <a:srgbClr val="8A97A8"/>
          </a:solidFill>
          <a:ln/>
        </p:spPr>
      </p:sp>
      <p:sp>
        <p:nvSpPr>
          <p:cNvPr id="18" name="Shape 13"/>
          <p:cNvSpPr/>
          <p:nvPr/>
        </p:nvSpPr>
        <p:spPr>
          <a:xfrm>
            <a:off x="4756023" y="1417320"/>
            <a:ext cx="1274445" cy="868680"/>
          </a:xfrm>
          <a:prstGeom prst="roundRect">
            <a:avLst>
              <a:gd name="adj" fmla="val 9474"/>
            </a:avLst>
          </a:prstGeom>
          <a:solidFill>
            <a:srgbClr val="1E9E8C"/>
          </a:solidFill>
          <a:ln/>
        </p:spPr>
      </p:sp>
      <p:pic>
        <p:nvPicPr>
          <p:cNvPr id="19" name="Image 3" descr="/home/claude/flightstream/icons/spark.png"/>
          <p:cNvPicPr>
            <a:picLocks noChangeAspect="1"/>
          </p:cNvPicPr>
          <p:nvPr/>
        </p:nvPicPr>
        <p:blipFill>
          <a:blip r:embed="rId6"/>
          <a:stretch>
            <a:fillRect/>
          </a:stretch>
        </p:blipFill>
        <p:spPr>
          <a:xfrm>
            <a:off x="5256086" y="1527048"/>
            <a:ext cx="274320" cy="274320"/>
          </a:xfrm>
          <a:prstGeom prst="rect">
            <a:avLst/>
          </a:prstGeom>
        </p:spPr>
      </p:pic>
      <p:sp>
        <p:nvSpPr>
          <p:cNvPr id="20" name="Text 14"/>
          <p:cNvSpPr/>
          <p:nvPr/>
        </p:nvSpPr>
        <p:spPr>
          <a:xfrm>
            <a:off x="4756023" y="1874520"/>
            <a:ext cx="1274445"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Spark</a:t>
            </a:r>
            <a:endParaRPr lang="en-US" sz="950" dirty="0"/>
          </a:p>
        </p:txBody>
      </p:sp>
      <p:sp>
        <p:nvSpPr>
          <p:cNvPr id="21" name="Shape 15"/>
          <p:cNvSpPr/>
          <p:nvPr/>
        </p:nvSpPr>
        <p:spPr>
          <a:xfrm>
            <a:off x="6021324" y="1783080"/>
            <a:ext cx="146304" cy="128016"/>
          </a:xfrm>
          <a:prstGeom prst="rightArrow">
            <a:avLst/>
          </a:prstGeom>
          <a:solidFill>
            <a:srgbClr val="8A97A8"/>
          </a:solidFill>
          <a:ln/>
        </p:spPr>
      </p:sp>
      <p:sp>
        <p:nvSpPr>
          <p:cNvPr id="22" name="Shape 16"/>
          <p:cNvSpPr/>
          <p:nvPr/>
        </p:nvSpPr>
        <p:spPr>
          <a:xfrm>
            <a:off x="6158484" y="1417320"/>
            <a:ext cx="1274445" cy="868680"/>
          </a:xfrm>
          <a:prstGeom prst="roundRect">
            <a:avLst>
              <a:gd name="adj" fmla="val 9474"/>
            </a:avLst>
          </a:prstGeom>
          <a:solidFill>
            <a:srgbClr val="1E9E8C"/>
          </a:solidFill>
          <a:ln/>
        </p:spPr>
      </p:sp>
      <p:pic>
        <p:nvPicPr>
          <p:cNvPr id="23" name="Image 4" descr="/home/claude/flightstream/icons/ruler.png"/>
          <p:cNvPicPr>
            <a:picLocks noChangeAspect="1"/>
          </p:cNvPicPr>
          <p:nvPr/>
        </p:nvPicPr>
        <p:blipFill>
          <a:blip r:embed="rId7"/>
          <a:stretch>
            <a:fillRect/>
          </a:stretch>
        </p:blipFill>
        <p:spPr>
          <a:xfrm>
            <a:off x="6658546" y="1527048"/>
            <a:ext cx="274320" cy="274320"/>
          </a:xfrm>
          <a:prstGeom prst="rect">
            <a:avLst/>
          </a:prstGeom>
        </p:spPr>
      </p:pic>
      <p:sp>
        <p:nvSpPr>
          <p:cNvPr id="24" name="Text 17"/>
          <p:cNvSpPr/>
          <p:nvPr/>
        </p:nvSpPr>
        <p:spPr>
          <a:xfrm>
            <a:off x="6158484" y="1874520"/>
            <a:ext cx="1274445"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Scaler</a:t>
            </a:r>
            <a:endParaRPr lang="en-US" sz="950" dirty="0"/>
          </a:p>
        </p:txBody>
      </p:sp>
      <p:sp>
        <p:nvSpPr>
          <p:cNvPr id="25" name="Shape 18"/>
          <p:cNvSpPr/>
          <p:nvPr/>
        </p:nvSpPr>
        <p:spPr>
          <a:xfrm>
            <a:off x="7423785" y="1783080"/>
            <a:ext cx="146304" cy="128016"/>
          </a:xfrm>
          <a:prstGeom prst="rightArrow">
            <a:avLst/>
          </a:prstGeom>
          <a:solidFill>
            <a:srgbClr val="8A97A8"/>
          </a:solidFill>
          <a:ln/>
        </p:spPr>
      </p:sp>
      <p:sp>
        <p:nvSpPr>
          <p:cNvPr id="26" name="Shape 19"/>
          <p:cNvSpPr/>
          <p:nvPr/>
        </p:nvSpPr>
        <p:spPr>
          <a:xfrm>
            <a:off x="7560945" y="1417320"/>
            <a:ext cx="1274445" cy="868680"/>
          </a:xfrm>
          <a:prstGeom prst="roundRect">
            <a:avLst>
              <a:gd name="adj" fmla="val 9474"/>
            </a:avLst>
          </a:prstGeom>
          <a:solidFill>
            <a:srgbClr val="1E9E8C"/>
          </a:solidFill>
          <a:ln/>
        </p:spPr>
      </p:sp>
      <p:pic>
        <p:nvPicPr>
          <p:cNvPr id="27" name="Image 5" descr="/home/claude/flightstream/icons/cluster.png"/>
          <p:cNvPicPr>
            <a:picLocks noChangeAspect="1"/>
          </p:cNvPicPr>
          <p:nvPr/>
        </p:nvPicPr>
        <p:blipFill>
          <a:blip r:embed="rId8"/>
          <a:stretch>
            <a:fillRect/>
          </a:stretch>
        </p:blipFill>
        <p:spPr>
          <a:xfrm>
            <a:off x="8061007" y="1527048"/>
            <a:ext cx="274320" cy="274320"/>
          </a:xfrm>
          <a:prstGeom prst="rect">
            <a:avLst/>
          </a:prstGeom>
        </p:spPr>
      </p:pic>
      <p:sp>
        <p:nvSpPr>
          <p:cNvPr id="28" name="Text 20"/>
          <p:cNvSpPr/>
          <p:nvPr/>
        </p:nvSpPr>
        <p:spPr>
          <a:xfrm>
            <a:off x="7560945" y="1874520"/>
            <a:ext cx="1274445"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K-Means</a:t>
            </a:r>
            <a:endParaRPr lang="en-US" sz="950" dirty="0"/>
          </a:p>
        </p:txBody>
      </p:sp>
      <p:sp>
        <p:nvSpPr>
          <p:cNvPr id="29" name="Shape 21"/>
          <p:cNvSpPr/>
          <p:nvPr/>
        </p:nvSpPr>
        <p:spPr>
          <a:xfrm>
            <a:off x="8826246" y="1783080"/>
            <a:ext cx="146304" cy="128016"/>
          </a:xfrm>
          <a:prstGeom prst="rightArrow">
            <a:avLst/>
          </a:prstGeom>
          <a:solidFill>
            <a:srgbClr val="8A97A8"/>
          </a:solidFill>
          <a:ln/>
        </p:spPr>
      </p:sp>
      <p:sp>
        <p:nvSpPr>
          <p:cNvPr id="30" name="Shape 22"/>
          <p:cNvSpPr/>
          <p:nvPr/>
        </p:nvSpPr>
        <p:spPr>
          <a:xfrm>
            <a:off x="8963406" y="1417320"/>
            <a:ext cx="1274445" cy="868680"/>
          </a:xfrm>
          <a:prstGeom prst="roundRect">
            <a:avLst>
              <a:gd name="adj" fmla="val 9474"/>
            </a:avLst>
          </a:prstGeom>
          <a:solidFill>
            <a:srgbClr val="3A5878"/>
          </a:solidFill>
          <a:ln/>
        </p:spPr>
      </p:sp>
      <p:pic>
        <p:nvPicPr>
          <p:cNvPr id="31" name="Image 6" descr="/home/claude/flightstream/icons/postgres.png"/>
          <p:cNvPicPr>
            <a:picLocks noChangeAspect="1"/>
          </p:cNvPicPr>
          <p:nvPr/>
        </p:nvPicPr>
        <p:blipFill>
          <a:blip r:embed="rId9"/>
          <a:stretch>
            <a:fillRect/>
          </a:stretch>
        </p:blipFill>
        <p:spPr>
          <a:xfrm>
            <a:off x="9463469" y="1527048"/>
            <a:ext cx="274320" cy="274320"/>
          </a:xfrm>
          <a:prstGeom prst="rect">
            <a:avLst/>
          </a:prstGeom>
        </p:spPr>
      </p:pic>
      <p:sp>
        <p:nvSpPr>
          <p:cNvPr id="32" name="Text 23"/>
          <p:cNvSpPr/>
          <p:nvPr/>
        </p:nvSpPr>
        <p:spPr>
          <a:xfrm>
            <a:off x="8963406" y="1874520"/>
            <a:ext cx="1274445"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PostgreSQL</a:t>
            </a:r>
            <a:endParaRPr lang="en-US" sz="950" dirty="0"/>
          </a:p>
        </p:txBody>
      </p:sp>
      <p:sp>
        <p:nvSpPr>
          <p:cNvPr id="33" name="Shape 24"/>
          <p:cNvSpPr/>
          <p:nvPr/>
        </p:nvSpPr>
        <p:spPr>
          <a:xfrm>
            <a:off x="10228707" y="1783080"/>
            <a:ext cx="146304" cy="128016"/>
          </a:xfrm>
          <a:prstGeom prst="rightArrow">
            <a:avLst/>
          </a:prstGeom>
          <a:solidFill>
            <a:srgbClr val="8A97A8"/>
          </a:solidFill>
          <a:ln/>
        </p:spPr>
      </p:sp>
      <p:sp>
        <p:nvSpPr>
          <p:cNvPr id="34" name="Shape 25"/>
          <p:cNvSpPr/>
          <p:nvPr/>
        </p:nvSpPr>
        <p:spPr>
          <a:xfrm>
            <a:off x="10365867" y="1417320"/>
            <a:ext cx="1274445" cy="868680"/>
          </a:xfrm>
          <a:prstGeom prst="roundRect">
            <a:avLst>
              <a:gd name="adj" fmla="val 9474"/>
            </a:avLst>
          </a:prstGeom>
          <a:solidFill>
            <a:srgbClr val="3E8ED0"/>
          </a:solidFill>
          <a:ln/>
        </p:spPr>
      </p:sp>
      <p:pic>
        <p:nvPicPr>
          <p:cNvPr id="35" name="Image 7" descr="/home/claude/flightstream/icons/powerbi.png"/>
          <p:cNvPicPr>
            <a:picLocks noChangeAspect="1"/>
          </p:cNvPicPr>
          <p:nvPr/>
        </p:nvPicPr>
        <p:blipFill>
          <a:blip r:embed="rId10"/>
          <a:stretch>
            <a:fillRect/>
          </a:stretch>
        </p:blipFill>
        <p:spPr>
          <a:xfrm>
            <a:off x="10865930" y="1527048"/>
            <a:ext cx="274320" cy="274320"/>
          </a:xfrm>
          <a:prstGeom prst="rect">
            <a:avLst/>
          </a:prstGeom>
        </p:spPr>
      </p:pic>
      <p:sp>
        <p:nvSpPr>
          <p:cNvPr id="36" name="Text 26"/>
          <p:cNvSpPr/>
          <p:nvPr/>
        </p:nvSpPr>
        <p:spPr>
          <a:xfrm>
            <a:off x="10365867" y="1874520"/>
            <a:ext cx="1274445"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Power BI</a:t>
            </a:r>
            <a:endParaRPr lang="en-US" sz="950" dirty="0"/>
          </a:p>
        </p:txBody>
      </p:sp>
      <p:sp>
        <p:nvSpPr>
          <p:cNvPr id="37" name="Text 27"/>
          <p:cNvSpPr/>
          <p:nvPr/>
        </p:nvSpPr>
        <p:spPr>
          <a:xfrm>
            <a:off x="548640" y="2606040"/>
            <a:ext cx="5486400" cy="320040"/>
          </a:xfrm>
          <a:prstGeom prst="rect">
            <a:avLst/>
          </a:prstGeom>
          <a:noFill/>
          <a:ln/>
        </p:spPr>
        <p:txBody>
          <a:bodyPr wrap="square" rtlCol="0" anchor="ctr"/>
          <a:lstStyle/>
          <a:p>
            <a:pPr marL="0" indent="0">
              <a:buNone/>
            </a:pPr>
            <a:r>
              <a:rPr lang="en-US" sz="1300" b="1" kern="0" spc="100" dirty="0">
                <a:solidFill>
                  <a:srgbClr val="3A5878"/>
                </a:solidFill>
                <a:latin typeface="Calibri" pitchFamily="34" charset="0"/>
                <a:ea typeface="Calibri" pitchFamily="34" charset="-122"/>
                <a:cs typeface="Calibri" pitchFamily="34" charset="-120"/>
              </a:rPr>
              <a:t>WHAT I BUILT</a:t>
            </a:r>
            <a:endParaRPr lang="en-US" sz="1300" dirty="0"/>
          </a:p>
        </p:txBody>
      </p:sp>
      <p:sp>
        <p:nvSpPr>
          <p:cNvPr id="38" name="Shape 28"/>
          <p:cNvSpPr/>
          <p:nvPr/>
        </p:nvSpPr>
        <p:spPr>
          <a:xfrm>
            <a:off x="548640" y="3017520"/>
            <a:ext cx="3520440" cy="502920"/>
          </a:xfrm>
          <a:prstGeom prst="roundRect">
            <a:avLst>
              <a:gd name="adj" fmla="val 14545"/>
            </a:avLst>
          </a:prstGeom>
          <a:solidFill>
            <a:srgbClr val="FFFFFF"/>
          </a:solidFill>
          <a:ln w="12700">
            <a:solidFill>
              <a:srgbClr val="E7EDF3"/>
            </a:solidFill>
            <a:prstDash val="solid"/>
          </a:ln>
        </p:spPr>
      </p:sp>
      <p:pic>
        <p:nvPicPr>
          <p:cNvPr id="39" name="Image 8" descr="/home/claude/flightstream/icons/check.png"/>
          <p:cNvPicPr>
            <a:picLocks noChangeAspect="1"/>
          </p:cNvPicPr>
          <p:nvPr/>
        </p:nvPicPr>
        <p:blipFill>
          <a:blip r:embed="rId11"/>
          <a:stretch>
            <a:fillRect/>
          </a:stretch>
        </p:blipFill>
        <p:spPr>
          <a:xfrm>
            <a:off x="676656" y="3168396"/>
            <a:ext cx="201168" cy="201168"/>
          </a:xfrm>
          <a:prstGeom prst="rect">
            <a:avLst/>
          </a:prstGeom>
        </p:spPr>
      </p:pic>
      <p:sp>
        <p:nvSpPr>
          <p:cNvPr id="40" name="Text 29"/>
          <p:cNvSpPr/>
          <p:nvPr/>
        </p:nvSpPr>
        <p:spPr>
          <a:xfrm>
            <a:off x="960120" y="3017520"/>
            <a:ext cx="2971800" cy="502920"/>
          </a:xfrm>
          <a:prstGeom prst="rect">
            <a:avLst/>
          </a:prstGeom>
          <a:noFill/>
          <a:ln/>
        </p:spPr>
        <p:txBody>
          <a:bodyPr wrap="square" rtlCol="0" anchor="ctr"/>
          <a:lstStyle/>
          <a:p>
            <a:pPr marL="0" indent="0">
              <a:buNone/>
            </a:pPr>
            <a:r>
              <a:rPr lang="en-US" sz="1150" dirty="0">
                <a:solidFill>
                  <a:srgbClr val="17324D"/>
                </a:solidFill>
                <a:latin typeface="Calibri" pitchFamily="34" charset="0"/>
                <a:ea typeface="Calibri" pitchFamily="34" charset="-122"/>
                <a:cs typeface="Calibri" pitchFamily="34" charset="-120"/>
              </a:rPr>
              <a:t>Live flight-data ingestion</a:t>
            </a:r>
            <a:endParaRPr lang="en-US" sz="1150" dirty="0"/>
          </a:p>
        </p:txBody>
      </p:sp>
      <p:sp>
        <p:nvSpPr>
          <p:cNvPr id="41" name="Shape 30"/>
          <p:cNvSpPr/>
          <p:nvPr/>
        </p:nvSpPr>
        <p:spPr>
          <a:xfrm>
            <a:off x="4233672" y="3017520"/>
            <a:ext cx="3520440" cy="502920"/>
          </a:xfrm>
          <a:prstGeom prst="roundRect">
            <a:avLst>
              <a:gd name="adj" fmla="val 14545"/>
            </a:avLst>
          </a:prstGeom>
          <a:solidFill>
            <a:srgbClr val="FFFFFF"/>
          </a:solidFill>
          <a:ln w="12700">
            <a:solidFill>
              <a:srgbClr val="E7EDF3"/>
            </a:solidFill>
            <a:prstDash val="solid"/>
          </a:ln>
        </p:spPr>
      </p:sp>
      <p:pic>
        <p:nvPicPr>
          <p:cNvPr id="42" name="Image 9" descr="/home/claude/flightstream/icons/check.png"/>
          <p:cNvPicPr>
            <a:picLocks noChangeAspect="1"/>
          </p:cNvPicPr>
          <p:nvPr/>
        </p:nvPicPr>
        <p:blipFill>
          <a:blip r:embed="rId11"/>
          <a:stretch>
            <a:fillRect/>
          </a:stretch>
        </p:blipFill>
        <p:spPr>
          <a:xfrm>
            <a:off x="4361688" y="3168396"/>
            <a:ext cx="201168" cy="201168"/>
          </a:xfrm>
          <a:prstGeom prst="rect">
            <a:avLst/>
          </a:prstGeom>
        </p:spPr>
      </p:pic>
      <p:sp>
        <p:nvSpPr>
          <p:cNvPr id="43" name="Text 31"/>
          <p:cNvSpPr/>
          <p:nvPr/>
        </p:nvSpPr>
        <p:spPr>
          <a:xfrm>
            <a:off x="4645152" y="3017520"/>
            <a:ext cx="2971800" cy="502920"/>
          </a:xfrm>
          <a:prstGeom prst="rect">
            <a:avLst/>
          </a:prstGeom>
          <a:noFill/>
          <a:ln/>
        </p:spPr>
        <p:txBody>
          <a:bodyPr wrap="square" rtlCol="0" anchor="ctr"/>
          <a:lstStyle/>
          <a:p>
            <a:pPr marL="0" indent="0">
              <a:buNone/>
            </a:pPr>
            <a:r>
              <a:rPr lang="en-US" sz="1150" dirty="0">
                <a:solidFill>
                  <a:srgbClr val="17324D"/>
                </a:solidFill>
                <a:latin typeface="Calibri" pitchFamily="34" charset="0"/>
                <a:ea typeface="Calibri" pitchFamily="34" charset="-122"/>
                <a:cs typeface="Calibri" pitchFamily="34" charset="-120"/>
              </a:rPr>
              <a:t>Near-real-time streaming pipeline</a:t>
            </a:r>
            <a:endParaRPr lang="en-US" sz="1150" dirty="0"/>
          </a:p>
        </p:txBody>
      </p:sp>
      <p:sp>
        <p:nvSpPr>
          <p:cNvPr id="44" name="Shape 32"/>
          <p:cNvSpPr/>
          <p:nvPr/>
        </p:nvSpPr>
        <p:spPr>
          <a:xfrm>
            <a:off x="7918704" y="3017520"/>
            <a:ext cx="3520440" cy="502920"/>
          </a:xfrm>
          <a:prstGeom prst="roundRect">
            <a:avLst>
              <a:gd name="adj" fmla="val 14545"/>
            </a:avLst>
          </a:prstGeom>
          <a:solidFill>
            <a:srgbClr val="FFFFFF"/>
          </a:solidFill>
          <a:ln w="12700">
            <a:solidFill>
              <a:srgbClr val="E7EDF3"/>
            </a:solidFill>
            <a:prstDash val="solid"/>
          </a:ln>
        </p:spPr>
      </p:sp>
      <p:pic>
        <p:nvPicPr>
          <p:cNvPr id="45" name="Image 10" descr="/home/claude/flightstream/icons/check.png"/>
          <p:cNvPicPr>
            <a:picLocks noChangeAspect="1"/>
          </p:cNvPicPr>
          <p:nvPr/>
        </p:nvPicPr>
        <p:blipFill>
          <a:blip r:embed="rId11"/>
          <a:stretch>
            <a:fillRect/>
          </a:stretch>
        </p:blipFill>
        <p:spPr>
          <a:xfrm>
            <a:off x="8046720" y="3168396"/>
            <a:ext cx="201168" cy="201168"/>
          </a:xfrm>
          <a:prstGeom prst="rect">
            <a:avLst/>
          </a:prstGeom>
        </p:spPr>
      </p:pic>
      <p:sp>
        <p:nvSpPr>
          <p:cNvPr id="46" name="Text 33"/>
          <p:cNvSpPr/>
          <p:nvPr/>
        </p:nvSpPr>
        <p:spPr>
          <a:xfrm>
            <a:off x="8330184" y="3017520"/>
            <a:ext cx="2971800" cy="502920"/>
          </a:xfrm>
          <a:prstGeom prst="rect">
            <a:avLst/>
          </a:prstGeom>
          <a:noFill/>
          <a:ln/>
        </p:spPr>
        <p:txBody>
          <a:bodyPr wrap="square" rtlCol="0" anchor="ctr"/>
          <a:lstStyle/>
          <a:p>
            <a:pPr marL="0" indent="0">
              <a:buNone/>
            </a:pPr>
            <a:r>
              <a:rPr lang="en-US" sz="1150" dirty="0">
                <a:solidFill>
                  <a:srgbClr val="17324D"/>
                </a:solidFill>
                <a:latin typeface="Calibri" pitchFamily="34" charset="0"/>
                <a:ea typeface="Calibri" pitchFamily="34" charset="-122"/>
                <a:cs typeface="Calibri" pitchFamily="34" charset="-120"/>
              </a:rPr>
              <a:t>Data cleaning &amp; transformation</a:t>
            </a:r>
            <a:endParaRPr lang="en-US" sz="1150" dirty="0"/>
          </a:p>
        </p:txBody>
      </p:sp>
      <p:sp>
        <p:nvSpPr>
          <p:cNvPr id="47" name="Shape 34"/>
          <p:cNvSpPr/>
          <p:nvPr/>
        </p:nvSpPr>
        <p:spPr>
          <a:xfrm>
            <a:off x="548640" y="3685032"/>
            <a:ext cx="3520440" cy="502920"/>
          </a:xfrm>
          <a:prstGeom prst="roundRect">
            <a:avLst>
              <a:gd name="adj" fmla="val 14545"/>
            </a:avLst>
          </a:prstGeom>
          <a:solidFill>
            <a:srgbClr val="FFFFFF"/>
          </a:solidFill>
          <a:ln w="12700">
            <a:solidFill>
              <a:srgbClr val="E7EDF3"/>
            </a:solidFill>
            <a:prstDash val="solid"/>
          </a:ln>
        </p:spPr>
      </p:sp>
      <p:pic>
        <p:nvPicPr>
          <p:cNvPr id="48" name="Image 11" descr="/home/claude/flightstream/icons/check.png"/>
          <p:cNvPicPr>
            <a:picLocks noChangeAspect="1"/>
          </p:cNvPicPr>
          <p:nvPr/>
        </p:nvPicPr>
        <p:blipFill>
          <a:blip r:embed="rId11"/>
          <a:stretch>
            <a:fillRect/>
          </a:stretch>
        </p:blipFill>
        <p:spPr>
          <a:xfrm>
            <a:off x="676656" y="3835908"/>
            <a:ext cx="201168" cy="201168"/>
          </a:xfrm>
          <a:prstGeom prst="rect">
            <a:avLst/>
          </a:prstGeom>
        </p:spPr>
      </p:pic>
      <p:sp>
        <p:nvSpPr>
          <p:cNvPr id="49" name="Text 35"/>
          <p:cNvSpPr/>
          <p:nvPr/>
        </p:nvSpPr>
        <p:spPr>
          <a:xfrm>
            <a:off x="960120" y="3685032"/>
            <a:ext cx="2971800" cy="502920"/>
          </a:xfrm>
          <a:prstGeom prst="rect">
            <a:avLst/>
          </a:prstGeom>
          <a:noFill/>
          <a:ln/>
        </p:spPr>
        <p:txBody>
          <a:bodyPr wrap="square" rtlCol="0" anchor="ctr"/>
          <a:lstStyle/>
          <a:p>
            <a:pPr marL="0" indent="0">
              <a:buNone/>
            </a:pPr>
            <a:r>
              <a:rPr lang="en-US" sz="1150" dirty="0">
                <a:solidFill>
                  <a:srgbClr val="17324D"/>
                </a:solidFill>
                <a:latin typeface="Calibri" pitchFamily="34" charset="0"/>
                <a:ea typeface="Calibri" pitchFamily="34" charset="-122"/>
                <a:cs typeface="Calibri" pitchFamily="34" charset="-120"/>
              </a:rPr>
              <a:t>Spark ML clustering</a:t>
            </a:r>
            <a:endParaRPr lang="en-US" sz="1150" dirty="0"/>
          </a:p>
        </p:txBody>
      </p:sp>
      <p:sp>
        <p:nvSpPr>
          <p:cNvPr id="50" name="Shape 36"/>
          <p:cNvSpPr/>
          <p:nvPr/>
        </p:nvSpPr>
        <p:spPr>
          <a:xfrm>
            <a:off x="4233672" y="3685032"/>
            <a:ext cx="3520440" cy="502920"/>
          </a:xfrm>
          <a:prstGeom prst="roundRect">
            <a:avLst>
              <a:gd name="adj" fmla="val 14545"/>
            </a:avLst>
          </a:prstGeom>
          <a:solidFill>
            <a:srgbClr val="FFFFFF"/>
          </a:solidFill>
          <a:ln w="12700">
            <a:solidFill>
              <a:srgbClr val="E7EDF3"/>
            </a:solidFill>
            <a:prstDash val="solid"/>
          </a:ln>
        </p:spPr>
      </p:sp>
      <p:pic>
        <p:nvPicPr>
          <p:cNvPr id="51" name="Image 12" descr="/home/claude/flightstream/icons/check.png"/>
          <p:cNvPicPr>
            <a:picLocks noChangeAspect="1"/>
          </p:cNvPicPr>
          <p:nvPr/>
        </p:nvPicPr>
        <p:blipFill>
          <a:blip r:embed="rId11"/>
          <a:stretch>
            <a:fillRect/>
          </a:stretch>
        </p:blipFill>
        <p:spPr>
          <a:xfrm>
            <a:off x="4361688" y="3835908"/>
            <a:ext cx="201168" cy="201168"/>
          </a:xfrm>
          <a:prstGeom prst="rect">
            <a:avLst/>
          </a:prstGeom>
        </p:spPr>
      </p:pic>
      <p:sp>
        <p:nvSpPr>
          <p:cNvPr id="52" name="Text 37"/>
          <p:cNvSpPr/>
          <p:nvPr/>
        </p:nvSpPr>
        <p:spPr>
          <a:xfrm>
            <a:off x="4645152" y="3685032"/>
            <a:ext cx="2971800" cy="502920"/>
          </a:xfrm>
          <a:prstGeom prst="rect">
            <a:avLst/>
          </a:prstGeom>
          <a:noFill/>
          <a:ln/>
        </p:spPr>
        <p:txBody>
          <a:bodyPr wrap="square" rtlCol="0" anchor="ctr"/>
          <a:lstStyle/>
          <a:p>
            <a:pPr marL="0" indent="0">
              <a:buNone/>
            </a:pPr>
            <a:r>
              <a:rPr lang="en-US" sz="1150" dirty="0">
                <a:solidFill>
                  <a:srgbClr val="17324D"/>
                </a:solidFill>
                <a:latin typeface="Calibri" pitchFamily="34" charset="0"/>
                <a:ea typeface="Calibri" pitchFamily="34" charset="-122"/>
                <a:cs typeface="Calibri" pitchFamily="34" charset="-120"/>
              </a:rPr>
              <a:t>PostgreSQL storage</a:t>
            </a:r>
            <a:endParaRPr lang="en-US" sz="1150" dirty="0"/>
          </a:p>
        </p:txBody>
      </p:sp>
      <p:sp>
        <p:nvSpPr>
          <p:cNvPr id="53" name="Shape 38"/>
          <p:cNvSpPr/>
          <p:nvPr/>
        </p:nvSpPr>
        <p:spPr>
          <a:xfrm>
            <a:off x="7918704" y="3685032"/>
            <a:ext cx="3520440" cy="502920"/>
          </a:xfrm>
          <a:prstGeom prst="roundRect">
            <a:avLst>
              <a:gd name="adj" fmla="val 14545"/>
            </a:avLst>
          </a:prstGeom>
          <a:solidFill>
            <a:srgbClr val="FFFFFF"/>
          </a:solidFill>
          <a:ln w="12700">
            <a:solidFill>
              <a:srgbClr val="E7EDF3"/>
            </a:solidFill>
            <a:prstDash val="solid"/>
          </a:ln>
        </p:spPr>
      </p:sp>
      <p:pic>
        <p:nvPicPr>
          <p:cNvPr id="54" name="Image 13" descr="/home/claude/flightstream/icons/check.png"/>
          <p:cNvPicPr>
            <a:picLocks noChangeAspect="1"/>
          </p:cNvPicPr>
          <p:nvPr/>
        </p:nvPicPr>
        <p:blipFill>
          <a:blip r:embed="rId11"/>
          <a:stretch>
            <a:fillRect/>
          </a:stretch>
        </p:blipFill>
        <p:spPr>
          <a:xfrm>
            <a:off x="8046720" y="3835908"/>
            <a:ext cx="201168" cy="201168"/>
          </a:xfrm>
          <a:prstGeom prst="rect">
            <a:avLst/>
          </a:prstGeom>
        </p:spPr>
      </p:pic>
      <p:sp>
        <p:nvSpPr>
          <p:cNvPr id="55" name="Text 39"/>
          <p:cNvSpPr/>
          <p:nvPr/>
        </p:nvSpPr>
        <p:spPr>
          <a:xfrm>
            <a:off x="8330184" y="3685032"/>
            <a:ext cx="2971800" cy="502920"/>
          </a:xfrm>
          <a:prstGeom prst="rect">
            <a:avLst/>
          </a:prstGeom>
          <a:noFill/>
          <a:ln/>
        </p:spPr>
        <p:txBody>
          <a:bodyPr wrap="square" rtlCol="0" anchor="ctr"/>
          <a:lstStyle/>
          <a:p>
            <a:pPr marL="0" indent="0">
              <a:buNone/>
            </a:pPr>
            <a:r>
              <a:rPr lang="en-US" sz="1150" dirty="0">
                <a:solidFill>
                  <a:srgbClr val="17324D"/>
                </a:solidFill>
                <a:latin typeface="Calibri" pitchFamily="34" charset="0"/>
                <a:ea typeface="Calibri" pitchFamily="34" charset="-122"/>
                <a:cs typeface="Calibri" pitchFamily="34" charset="-120"/>
              </a:rPr>
              <a:t>Power BI analytics dashboard</a:t>
            </a:r>
            <a:endParaRPr lang="en-US" sz="1150" dirty="0"/>
          </a:p>
        </p:txBody>
      </p:sp>
      <p:sp>
        <p:nvSpPr>
          <p:cNvPr id="56" name="Shape 40"/>
          <p:cNvSpPr/>
          <p:nvPr/>
        </p:nvSpPr>
        <p:spPr>
          <a:xfrm>
            <a:off x="548640" y="4539996"/>
            <a:ext cx="11091672" cy="1783080"/>
          </a:xfrm>
          <a:prstGeom prst="roundRect">
            <a:avLst>
              <a:gd name="adj" fmla="val 7179"/>
            </a:avLst>
          </a:prstGeom>
          <a:solidFill>
            <a:srgbClr val="17324D"/>
          </a:solidFill>
          <a:ln/>
          <a:effectLst>
            <a:outerShdw blurRad="127000" dist="38100" dir="5400000" algn="bl" rotWithShape="0">
              <a:srgbClr val="17324D">
                <a:alpha val="30000"/>
              </a:srgbClr>
            </a:outerShdw>
          </a:effectLst>
        </p:spPr>
      </p:sp>
      <p:sp>
        <p:nvSpPr>
          <p:cNvPr id="57" name="Shape 41"/>
          <p:cNvSpPr/>
          <p:nvPr/>
        </p:nvSpPr>
        <p:spPr>
          <a:xfrm>
            <a:off x="832104" y="5106469"/>
            <a:ext cx="621792" cy="621792"/>
          </a:xfrm>
          <a:prstGeom prst="ellipse">
            <a:avLst/>
          </a:prstGeom>
          <a:solidFill>
            <a:srgbClr val="1E9E8C"/>
          </a:solidFill>
          <a:ln/>
        </p:spPr>
      </p:sp>
      <p:pic>
        <p:nvPicPr>
          <p:cNvPr id="58" name="Image 14" descr="/home/claude/flightstream/icons/plane.png"/>
          <p:cNvPicPr>
            <a:picLocks noChangeAspect="1"/>
          </p:cNvPicPr>
          <p:nvPr/>
        </p:nvPicPr>
        <p:blipFill>
          <a:blip r:embed="rId12"/>
          <a:stretch>
            <a:fillRect/>
          </a:stretch>
        </p:blipFill>
        <p:spPr>
          <a:xfrm rot="-2400000">
            <a:off x="1002179" y="5257343"/>
            <a:ext cx="310896" cy="310896"/>
          </a:xfrm>
          <a:prstGeom prst="rect">
            <a:avLst/>
          </a:prstGeom>
        </p:spPr>
      </p:pic>
      <p:sp>
        <p:nvSpPr>
          <p:cNvPr id="59" name="Text 42"/>
          <p:cNvSpPr/>
          <p:nvPr/>
        </p:nvSpPr>
        <p:spPr>
          <a:xfrm>
            <a:off x="1747624" y="4800600"/>
            <a:ext cx="9445752" cy="365760"/>
          </a:xfrm>
          <a:prstGeom prst="rect">
            <a:avLst/>
          </a:prstGeom>
          <a:noFill/>
          <a:ln/>
        </p:spPr>
        <p:txBody>
          <a:bodyPr wrap="square" rtlCol="0" anchor="ctr"/>
          <a:lstStyle/>
          <a:p>
            <a:pPr marL="0" indent="0">
              <a:buNone/>
            </a:pPr>
            <a:r>
              <a:rPr lang="en-US" sz="1400" b="1" kern="0" spc="100" dirty="0">
                <a:solidFill>
                  <a:srgbClr val="5FC6D9"/>
                </a:solidFill>
                <a:latin typeface="Calibri" pitchFamily="34" charset="0"/>
                <a:ea typeface="Calibri" pitchFamily="34" charset="-122"/>
                <a:cs typeface="Calibri" pitchFamily="34" charset="-120"/>
              </a:rPr>
              <a:t>✈️ FLIGHTSTREAM FLASHBACK</a:t>
            </a:r>
            <a:endParaRPr lang="en-US" sz="1400" dirty="0"/>
          </a:p>
        </p:txBody>
      </p:sp>
      <p:sp>
        <p:nvSpPr>
          <p:cNvPr id="60" name="Text 43"/>
          <p:cNvSpPr/>
          <p:nvPr/>
        </p:nvSpPr>
        <p:spPr>
          <a:xfrm>
            <a:off x="1737360" y="5156749"/>
            <a:ext cx="9354312" cy="1005840"/>
          </a:xfrm>
          <a:prstGeom prst="rect">
            <a:avLst/>
          </a:prstGeom>
          <a:noFill/>
          <a:ln/>
        </p:spPr>
        <p:txBody>
          <a:bodyPr wrap="square" rtlCol="0" anchor="t"/>
          <a:lstStyle/>
          <a:p>
            <a:pPr marL="0" indent="0">
              <a:lnSpc>
                <a:spcPct val="125000"/>
              </a:lnSpc>
              <a:buNone/>
            </a:pPr>
            <a:r>
              <a:rPr lang="en-US" sz="1650" b="1" i="1" dirty="0">
                <a:solidFill>
                  <a:srgbClr val="FFFFFF"/>
                </a:solidFill>
                <a:latin typeface="Calibri" pitchFamily="34" charset="0"/>
                <a:ea typeface="Calibri" pitchFamily="34" charset="-122"/>
                <a:cs typeface="Calibri" pitchFamily="34" charset="-120"/>
              </a:rPr>
              <a:t>OpenSky gives me the data. Python prepares it. Kafka streams it. Spark processes it. K-Means groups it. PostgreSQL stores it. Power BI shows it.</a:t>
            </a:r>
            <a:endParaRPr lang="en-US" sz="1650" dirty="0"/>
          </a:p>
        </p:txBody>
      </p:sp>
      <p:sp>
        <p:nvSpPr>
          <p:cNvPr id="61" name="Text 44"/>
          <p:cNvSpPr/>
          <p:nvPr/>
        </p:nvSpPr>
        <p:spPr>
          <a:xfrm>
            <a:off x="11274552" y="6473952"/>
            <a:ext cx="731520" cy="274320"/>
          </a:xfrm>
          <a:prstGeom prst="rect">
            <a:avLst/>
          </a:prstGeom>
          <a:noFill/>
          <a:ln/>
        </p:spPr>
        <p:txBody>
          <a:bodyPr wrap="square" rtlCol="0" anchor="ctr"/>
          <a:lstStyle/>
          <a:p>
            <a:pPr marL="0" indent="0" algn="r">
              <a:buNone/>
            </a:pPr>
            <a:r>
              <a:rPr lang="en-US" sz="900" dirty="0">
                <a:solidFill>
                  <a:srgbClr val="8A97A8"/>
                </a:solidFill>
                <a:latin typeface="Calibri" pitchFamily="34" charset="0"/>
                <a:ea typeface="Calibri" pitchFamily="34" charset="-122"/>
                <a:cs typeface="Calibri" pitchFamily="34" charset="-120"/>
              </a:rPr>
              <a:t>10 / 10</a:t>
            </a:r>
            <a:endParaRPr lang="en-US" sz="900" dirty="0"/>
          </a:p>
        </p:txBody>
      </p:sp>
      <p:sp>
        <p:nvSpPr>
          <p:cNvPr id="62" name="Text 45"/>
          <p:cNvSpPr/>
          <p:nvPr/>
        </p:nvSpPr>
        <p:spPr>
          <a:xfrm>
            <a:off x="457200" y="6473952"/>
            <a:ext cx="2743200" cy="274320"/>
          </a:xfrm>
          <a:prstGeom prst="rect">
            <a:avLst/>
          </a:prstGeom>
          <a:noFill/>
          <a:ln/>
        </p:spPr>
        <p:txBody>
          <a:bodyPr wrap="square" rtlCol="0" anchor="ctr"/>
          <a:lstStyle/>
          <a:p>
            <a:pPr marL="0" indent="0">
              <a:buNone/>
            </a:pPr>
            <a:r>
              <a:rPr lang="en-US" sz="900" kern="0" spc="200" dirty="0">
                <a:solidFill>
                  <a:srgbClr val="8A97A8"/>
                </a:solidFill>
                <a:latin typeface="Calibri" pitchFamily="34" charset="0"/>
                <a:ea typeface="Calibri" pitchFamily="34" charset="-122"/>
                <a:cs typeface="Calibri" pitchFamily="34" charset="-120"/>
              </a:rPr>
              <a:t>FLIGHTSTREAM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1340</Words>
  <Application>Microsoft Office PowerPoint</Application>
  <PresentationFormat>Custom</PresentationFormat>
  <Paragraphs>209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leenalsharjabi05@hotmail.com</cp:lastModifiedBy>
  <cp:revision>5</cp:revision>
  <dcterms:created xsi:type="dcterms:W3CDTF">2026-09-14T04:14:55Z</dcterms:created>
  <dcterms:modified xsi:type="dcterms:W3CDTF">2026-09-14T05:55:04Z</dcterms:modified>
</cp:coreProperties>
</file>